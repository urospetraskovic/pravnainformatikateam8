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2"/>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6" r:id="rId14"/>
    <p:sldId id="288" r:id="rId15"/>
    <p:sldId id="283" r:id="rId16"/>
    <p:sldId id="284" r:id="rId17"/>
    <p:sldId id="289" r:id="rId18"/>
    <p:sldId id="269" r:id="rId19"/>
    <p:sldId id="270" r:id="rId20"/>
    <p:sldId id="271" r:id="rId21"/>
    <p:sldId id="272" r:id="rId22"/>
    <p:sldId id="273" r:id="rId23"/>
    <p:sldId id="274" r:id="rId24"/>
    <p:sldId id="275" r:id="rId25"/>
    <p:sldId id="276" r:id="rId26"/>
    <p:sldId id="277" r:id="rId27"/>
    <p:sldId id="278" r:id="rId28"/>
    <p:sldId id="281" r:id="rId29"/>
    <p:sldId id="279" r:id="rId30"/>
    <p:sldId id="280" r:id="rId31"/>
    <p:sldId id="321" r:id="rId32"/>
    <p:sldId id="323" r:id="rId33"/>
    <p:sldId id="292" r:id="rId34"/>
    <p:sldId id="294" r:id="rId35"/>
    <p:sldId id="282" r:id="rId36"/>
    <p:sldId id="285" r:id="rId37"/>
    <p:sldId id="286" r:id="rId38"/>
    <p:sldId id="287" r:id="rId39"/>
    <p:sldId id="290" r:id="rId40"/>
    <p:sldId id="291" r:id="rId41"/>
    <p:sldId id="296" r:id="rId42"/>
    <p:sldId id="297" r:id="rId43"/>
    <p:sldId id="309" r:id="rId44"/>
    <p:sldId id="327" r:id="rId45"/>
    <p:sldId id="310" r:id="rId46"/>
    <p:sldId id="311" r:id="rId47"/>
    <p:sldId id="324" r:id="rId48"/>
    <p:sldId id="325" r:id="rId49"/>
    <p:sldId id="326" r:id="rId50"/>
    <p:sldId id="316" r:id="rId51"/>
    <p:sldId id="312" r:id="rId52"/>
    <p:sldId id="313" r:id="rId53"/>
    <p:sldId id="315" r:id="rId54"/>
    <p:sldId id="317" r:id="rId55"/>
    <p:sldId id="318" r:id="rId56"/>
    <p:sldId id="302" r:id="rId57"/>
    <p:sldId id="303" r:id="rId58"/>
    <p:sldId id="304" r:id="rId59"/>
    <p:sldId id="306" r:id="rId60"/>
    <p:sldId id="320" r:id="rId6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7" d="100"/>
          <a:sy n="107" d="100"/>
        </p:scale>
        <p:origin x="75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C07179-6466-48FF-BFE6-F96C8026954B}" type="datetimeFigureOut">
              <a:rPr lang="en-US" smtClean="0"/>
              <a:t>4/22/2026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45149-8B50-40F0-876D-D32AF791D166}" type="slidenum">
              <a:rPr lang="en-US" smtClean="0"/>
              <a:t>‹#›</a:t>
            </a:fld>
            <a:endParaRPr lang="en-US"/>
          </a:p>
        </p:txBody>
      </p:sp>
    </p:spTree>
    <p:extLst>
      <p:ext uri="{BB962C8B-B14F-4D97-AF65-F5344CB8AC3E}">
        <p14:creationId xmlns:p14="http://schemas.microsoft.com/office/powerpoint/2010/main" val="1613139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C45149-8B50-40F0-876D-D32AF791D166}" type="slidenum">
              <a:rPr lang="en-US" smtClean="0"/>
              <a:t>7</a:t>
            </a:fld>
            <a:endParaRPr lang="en-US"/>
          </a:p>
        </p:txBody>
      </p:sp>
    </p:spTree>
    <p:extLst>
      <p:ext uri="{BB962C8B-B14F-4D97-AF65-F5344CB8AC3E}">
        <p14:creationId xmlns:p14="http://schemas.microsoft.com/office/powerpoint/2010/main" val="2167972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257E61E-B6C9-4F8D-A749-38ADC6F6D6FB}"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1667057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57E61E-B6C9-4F8D-A749-38ADC6F6D6FB}"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415667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57E61E-B6C9-4F8D-A749-38ADC6F6D6FB}"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2264927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257E61E-B6C9-4F8D-A749-38ADC6F6D6FB}"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37476382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257E61E-B6C9-4F8D-A749-38ADC6F6D6FB}" type="datetimeFigureOut">
              <a:rPr lang="en-US" smtClean="0"/>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752393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257E61E-B6C9-4F8D-A749-38ADC6F6D6FB}" type="datetimeFigureOut">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3967272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57E61E-B6C9-4F8D-A749-38ADC6F6D6FB}" type="datetimeFigureOut">
              <a:rPr lang="en-US" smtClean="0"/>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1811116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57E61E-B6C9-4F8D-A749-38ADC6F6D6FB}"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2689098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57E61E-B6C9-4F8D-A749-38ADC6F6D6FB}"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1725555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57E61E-B6C9-4F8D-A749-38ADC6F6D6FB}"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3112614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57E61E-B6C9-4F8D-A749-38ADC6F6D6FB}"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40924110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57E61E-B6C9-4F8D-A749-38ADC6F6D6FB}"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A0479D-50DA-4728-9F81-4E4127FB685F}"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23568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57E61E-B6C9-4F8D-A749-38ADC6F6D6FB}"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37343436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257E61E-B6C9-4F8D-A749-38ADC6F6D6FB}" type="datetimeFigureOut">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3292457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257E61E-B6C9-4F8D-A749-38ADC6F6D6FB}" type="datetimeFigureOut">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28494825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57E61E-B6C9-4F8D-A749-38ADC6F6D6FB}"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20130098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57E61E-B6C9-4F8D-A749-38ADC6F6D6FB}"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A0479D-50DA-4728-9F81-4E4127FB685F}" type="slidenum">
              <a:rPr lang="en-US" smtClean="0"/>
              <a:t>‹#›</a:t>
            </a:fld>
            <a:endParaRPr lang="en-US"/>
          </a:p>
        </p:txBody>
      </p:sp>
    </p:spTree>
    <p:extLst>
      <p:ext uri="{BB962C8B-B14F-4D97-AF65-F5344CB8AC3E}">
        <p14:creationId xmlns:p14="http://schemas.microsoft.com/office/powerpoint/2010/main" val="502705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9257E61E-B6C9-4F8D-A749-38ADC6F6D6FB}" type="datetimeFigureOut">
              <a:rPr lang="en-US" smtClean="0"/>
              <a:t>4/22/2026</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AA0479D-50DA-4728-9F81-4E4127FB685F}" type="slidenum">
              <a:rPr lang="en-US" smtClean="0"/>
              <a:t>‹#›</a:t>
            </a:fld>
            <a:endParaRPr lang="en-US"/>
          </a:p>
        </p:txBody>
      </p:sp>
    </p:spTree>
    <p:extLst>
      <p:ext uri="{BB962C8B-B14F-4D97-AF65-F5344CB8AC3E}">
        <p14:creationId xmlns:p14="http://schemas.microsoft.com/office/powerpoint/2010/main" val="252587895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3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3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6.png"/></Relationships>
</file>

<file path=ppt/slides/_rels/slide4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FFDF2-04DF-E404-2AD7-EDCAD8F32912}"/>
              </a:ext>
            </a:extLst>
          </p:cNvPr>
          <p:cNvSpPr>
            <a:spLocks noGrp="1"/>
          </p:cNvSpPr>
          <p:nvPr>
            <p:ph type="ctrTitle"/>
          </p:nvPr>
        </p:nvSpPr>
        <p:spPr/>
        <p:txBody>
          <a:bodyPr/>
          <a:lstStyle/>
          <a:p>
            <a:r>
              <a:rPr lang="en-US" dirty="0"/>
              <a:t>Tim 8</a:t>
            </a:r>
          </a:p>
        </p:txBody>
      </p:sp>
      <p:sp>
        <p:nvSpPr>
          <p:cNvPr id="3" name="Subtitle 2">
            <a:extLst>
              <a:ext uri="{FF2B5EF4-FFF2-40B4-BE49-F238E27FC236}">
                <a16:creationId xmlns:a16="http://schemas.microsoft.com/office/drawing/2014/main" id="{5A68CB41-174C-FE5F-DE70-FD27A515A7DD}"/>
              </a:ext>
            </a:extLst>
          </p:cNvPr>
          <p:cNvSpPr>
            <a:spLocks noGrp="1"/>
          </p:cNvSpPr>
          <p:nvPr>
            <p:ph type="subTitle" idx="1"/>
          </p:nvPr>
        </p:nvSpPr>
        <p:spPr/>
        <p:txBody>
          <a:bodyPr/>
          <a:lstStyle/>
          <a:p>
            <a:r>
              <a:rPr lang="sr-Latn-RS" dirty="0"/>
              <a:t>Uroš Petrašković, Luka Šarić, Stefan Lazarević</a:t>
            </a:r>
            <a:endParaRPr lang="en-US" dirty="0"/>
          </a:p>
        </p:txBody>
      </p:sp>
    </p:spTree>
    <p:extLst>
      <p:ext uri="{BB962C8B-B14F-4D97-AF65-F5344CB8AC3E}">
        <p14:creationId xmlns:p14="http://schemas.microsoft.com/office/powerpoint/2010/main" val="918201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43FE8-A7F8-9E90-7B84-DE7B91082DAD}"/>
              </a:ext>
            </a:extLst>
          </p:cNvPr>
          <p:cNvSpPr>
            <a:spLocks noGrp="1"/>
          </p:cNvSpPr>
          <p:nvPr>
            <p:ph type="title"/>
          </p:nvPr>
        </p:nvSpPr>
        <p:spPr>
          <a:xfrm>
            <a:off x="913795" y="191311"/>
            <a:ext cx="10353762" cy="970450"/>
          </a:xfrm>
        </p:spPr>
        <p:txBody>
          <a:bodyPr>
            <a:normAutofit fontScale="90000"/>
          </a:bodyPr>
          <a:lstStyle/>
          <a:p>
            <a:r>
              <a:rPr lang="en-US" dirty="0" err="1"/>
              <a:t>Falsifikovanje</a:t>
            </a:r>
            <a:r>
              <a:rPr lang="en-US" dirty="0"/>
              <a:t> </a:t>
            </a:r>
            <a:r>
              <a:rPr lang="en-US" dirty="0" err="1"/>
              <a:t>novca</a:t>
            </a:r>
            <a:r>
              <a:rPr lang="sr-Latn-RS" dirty="0"/>
              <a:t> </a:t>
            </a:r>
            <a:br>
              <a:rPr lang="sr-Latn-RS" dirty="0"/>
            </a:br>
            <a:r>
              <a:rPr lang="en-US" dirty="0" err="1"/>
              <a:t>Član</a:t>
            </a:r>
            <a:r>
              <a:rPr lang="en-US" dirty="0"/>
              <a:t> 258</a:t>
            </a:r>
          </a:p>
        </p:txBody>
      </p:sp>
      <p:sp>
        <p:nvSpPr>
          <p:cNvPr id="3" name="Content Placeholder 2">
            <a:extLst>
              <a:ext uri="{FF2B5EF4-FFF2-40B4-BE49-F238E27FC236}">
                <a16:creationId xmlns:a16="http://schemas.microsoft.com/office/drawing/2014/main" id="{535687F0-24FE-2C26-99F2-C835752DBD18}"/>
              </a:ext>
            </a:extLst>
          </p:cNvPr>
          <p:cNvSpPr>
            <a:spLocks noGrp="1"/>
          </p:cNvSpPr>
          <p:nvPr>
            <p:ph idx="1"/>
          </p:nvPr>
        </p:nvSpPr>
        <p:spPr>
          <a:xfrm>
            <a:off x="913795" y="1332689"/>
            <a:ext cx="10353762" cy="5233481"/>
          </a:xfrm>
        </p:spPr>
        <p:txBody>
          <a:bodyPr/>
          <a:lstStyle/>
          <a:p>
            <a:pPr algn="l"/>
            <a:r>
              <a:rPr lang="en-US" b="0" i="0" dirty="0">
                <a:solidFill>
                  <a:schemeClr val="tx1"/>
                </a:solidFill>
                <a:effectLst/>
                <a:latin typeface="Arial" panose="020B0604020202020204" pitchFamily="34" charset="0"/>
              </a:rPr>
              <a:t>(1) Ko </a:t>
            </a:r>
            <a:r>
              <a:rPr lang="en-US" b="0" i="0" dirty="0" err="1">
                <a:solidFill>
                  <a:schemeClr val="tx1"/>
                </a:solidFill>
                <a:effectLst/>
                <a:latin typeface="Arial" panose="020B0604020202020204" pitchFamily="34" charset="0"/>
              </a:rPr>
              <a:t>napravi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lažan</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novac</a:t>
            </a:r>
            <a:r>
              <a:rPr lang="en-US" b="0" i="0" dirty="0">
                <a:solidFill>
                  <a:schemeClr val="tx1"/>
                </a:solidFill>
                <a:effectLst/>
                <a:latin typeface="Arial" panose="020B0604020202020204" pitchFamily="34" charset="0"/>
              </a:rPr>
              <a:t> u </a:t>
            </a:r>
            <a:r>
              <a:rPr lang="en-US" b="0" i="0" dirty="0" err="1">
                <a:solidFill>
                  <a:schemeClr val="tx1"/>
                </a:solidFill>
                <a:effectLst/>
                <a:latin typeface="Arial" panose="020B0604020202020204" pitchFamily="34" charset="0"/>
              </a:rPr>
              <a:t>namjeri</a:t>
            </a:r>
            <a:r>
              <a:rPr lang="en-US" b="0" i="0" dirty="0">
                <a:solidFill>
                  <a:schemeClr val="tx1"/>
                </a:solidFill>
                <a:effectLst/>
                <a:latin typeface="Arial" panose="020B0604020202020204" pitchFamily="34" charset="0"/>
              </a:rPr>
              <a:t> da ga </a:t>
            </a:r>
            <a:r>
              <a:rPr lang="en-US" b="0" i="0" dirty="0" err="1">
                <a:solidFill>
                  <a:schemeClr val="tx1"/>
                </a:solidFill>
                <a:effectLst/>
                <a:latin typeface="Arial" panose="020B0604020202020204" pitchFamily="34" charset="0"/>
              </a:rPr>
              <a:t>stavi</a:t>
            </a:r>
            <a:r>
              <a:rPr lang="en-US" b="0" i="0" dirty="0">
                <a:solidFill>
                  <a:schemeClr val="tx1"/>
                </a:solidFill>
                <a:effectLst/>
                <a:latin typeface="Arial" panose="020B0604020202020204" pitchFamily="34" charset="0"/>
              </a:rPr>
              <a:t> u </a:t>
            </a:r>
            <a:r>
              <a:rPr lang="en-US" b="0" i="0" dirty="0" err="1">
                <a:solidFill>
                  <a:schemeClr val="tx1"/>
                </a:solidFill>
                <a:effectLst/>
                <a:latin typeface="Arial" panose="020B0604020202020204" pitchFamily="34" charset="0"/>
              </a:rPr>
              <a:t>opticaj</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kao</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pravi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ili</a:t>
            </a:r>
            <a:r>
              <a:rPr lang="en-US" b="0" i="0" dirty="0">
                <a:solidFill>
                  <a:schemeClr val="tx1"/>
                </a:solidFill>
                <a:effectLst/>
                <a:latin typeface="Arial" panose="020B0604020202020204" pitchFamily="34" charset="0"/>
              </a:rPr>
              <a:t> ko u </a:t>
            </a:r>
            <a:r>
              <a:rPr lang="en-US" b="0" i="0" dirty="0" err="1">
                <a:solidFill>
                  <a:schemeClr val="tx1"/>
                </a:solidFill>
                <a:effectLst/>
                <a:latin typeface="Arial" panose="020B0604020202020204" pitchFamily="34" charset="0"/>
              </a:rPr>
              <a:t>istoj</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namjeri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preinači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pravi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novac</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kazniće</a:t>
            </a:r>
            <a:r>
              <a:rPr lang="en-US" b="0" i="0" dirty="0">
                <a:solidFill>
                  <a:schemeClr val="tx1"/>
                </a:solidFill>
                <a:effectLst/>
                <a:latin typeface="Arial" panose="020B0604020202020204" pitchFamily="34" charset="0"/>
              </a:rPr>
              <a:t> se </a:t>
            </a:r>
            <a:r>
              <a:rPr lang="en-US" b="0" i="0" dirty="0" err="1">
                <a:solidFill>
                  <a:schemeClr val="tx1"/>
                </a:solidFill>
                <a:effectLst/>
                <a:latin typeface="Arial" panose="020B0604020202020204" pitchFamily="34" charset="0"/>
              </a:rPr>
              <a:t>zatvorom</a:t>
            </a:r>
            <a:r>
              <a:rPr lang="en-US" b="0" i="0" dirty="0">
                <a:solidFill>
                  <a:schemeClr val="tx1"/>
                </a:solidFill>
                <a:effectLst/>
                <a:latin typeface="Arial" panose="020B0604020202020204" pitchFamily="34" charset="0"/>
              </a:rPr>
              <a:t> od </a:t>
            </a:r>
            <a:r>
              <a:rPr lang="en-US" b="0" i="0" dirty="0" err="1">
                <a:solidFill>
                  <a:schemeClr val="tx1"/>
                </a:solidFill>
                <a:effectLst/>
                <a:latin typeface="Arial" panose="020B0604020202020204" pitchFamily="34" charset="0"/>
              </a:rPr>
              <a:t>dvije</a:t>
            </a:r>
            <a:r>
              <a:rPr lang="en-US" b="0" i="0" dirty="0">
                <a:solidFill>
                  <a:schemeClr val="tx1"/>
                </a:solidFill>
                <a:effectLst/>
                <a:latin typeface="Arial" panose="020B0604020202020204" pitchFamily="34" charset="0"/>
              </a:rPr>
              <a:t> do </a:t>
            </a:r>
            <a:r>
              <a:rPr lang="en-US" b="0" i="0" dirty="0" err="1">
                <a:solidFill>
                  <a:schemeClr val="tx1"/>
                </a:solidFill>
                <a:effectLst/>
                <a:latin typeface="Arial" panose="020B0604020202020204" pitchFamily="34" charset="0"/>
              </a:rPr>
              <a:t>dvanaest</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godina</a:t>
            </a:r>
            <a:r>
              <a:rPr lang="en-US" b="0" i="0" dirty="0">
                <a:solidFill>
                  <a:schemeClr val="tx1"/>
                </a:solidFill>
                <a:effectLst/>
                <a:latin typeface="Arial" panose="020B0604020202020204" pitchFamily="34" charset="0"/>
              </a:rPr>
              <a:t>.</a:t>
            </a:r>
          </a:p>
          <a:p>
            <a:pPr algn="l"/>
            <a:r>
              <a:rPr lang="en-US" b="0" i="0" dirty="0">
                <a:solidFill>
                  <a:schemeClr val="tx1"/>
                </a:solidFill>
                <a:effectLst/>
                <a:highlight>
                  <a:srgbClr val="808000"/>
                </a:highlight>
                <a:latin typeface="Arial" panose="020B0604020202020204" pitchFamily="34" charset="0"/>
              </a:rPr>
              <a:t>(2) Ko </a:t>
            </a:r>
            <a:r>
              <a:rPr lang="en-US" b="0" i="0" dirty="0" err="1">
                <a:solidFill>
                  <a:schemeClr val="tx1"/>
                </a:solidFill>
                <a:effectLst/>
                <a:highlight>
                  <a:srgbClr val="808000"/>
                </a:highlight>
                <a:latin typeface="Arial" panose="020B0604020202020204" pitchFamily="34" charset="0"/>
              </a:rPr>
              <a:t>pribavlja</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drži</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ili</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prenosi</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lažan</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novac</a:t>
            </a:r>
            <a:r>
              <a:rPr lang="en-US" b="0" i="0" dirty="0">
                <a:solidFill>
                  <a:schemeClr val="tx1"/>
                </a:solidFill>
                <a:effectLst/>
                <a:highlight>
                  <a:srgbClr val="808000"/>
                </a:highlight>
                <a:latin typeface="Arial" panose="020B0604020202020204" pitchFamily="34" charset="0"/>
              </a:rPr>
              <a:t> u </a:t>
            </a:r>
            <a:r>
              <a:rPr lang="en-US" b="0" i="0" dirty="0" err="1">
                <a:solidFill>
                  <a:schemeClr val="tx1"/>
                </a:solidFill>
                <a:effectLst/>
                <a:highlight>
                  <a:srgbClr val="808000"/>
                </a:highlight>
                <a:latin typeface="Arial" panose="020B0604020202020204" pitchFamily="34" charset="0"/>
              </a:rPr>
              <a:t>namjeri</a:t>
            </a:r>
            <a:r>
              <a:rPr lang="en-US" b="0" i="0" dirty="0">
                <a:solidFill>
                  <a:schemeClr val="tx1"/>
                </a:solidFill>
                <a:effectLst/>
                <a:highlight>
                  <a:srgbClr val="808000"/>
                </a:highlight>
                <a:latin typeface="Arial" panose="020B0604020202020204" pitchFamily="34" charset="0"/>
              </a:rPr>
              <a:t> da ga </a:t>
            </a:r>
            <a:r>
              <a:rPr lang="en-US" b="0" i="0" dirty="0" err="1">
                <a:solidFill>
                  <a:schemeClr val="tx1"/>
                </a:solidFill>
                <a:effectLst/>
                <a:highlight>
                  <a:srgbClr val="808000"/>
                </a:highlight>
                <a:latin typeface="Arial" panose="020B0604020202020204" pitchFamily="34" charset="0"/>
              </a:rPr>
              <a:t>stavi</a:t>
            </a:r>
            <a:r>
              <a:rPr lang="en-US" b="0" i="0" dirty="0">
                <a:solidFill>
                  <a:schemeClr val="tx1"/>
                </a:solidFill>
                <a:effectLst/>
                <a:highlight>
                  <a:srgbClr val="808000"/>
                </a:highlight>
                <a:latin typeface="Arial" panose="020B0604020202020204" pitchFamily="34" charset="0"/>
              </a:rPr>
              <a:t> u </a:t>
            </a:r>
            <a:r>
              <a:rPr lang="en-US" b="0" i="0" dirty="0" err="1">
                <a:solidFill>
                  <a:schemeClr val="tx1"/>
                </a:solidFill>
                <a:effectLst/>
                <a:highlight>
                  <a:srgbClr val="808000"/>
                </a:highlight>
                <a:latin typeface="Arial" panose="020B0604020202020204" pitchFamily="34" charset="0"/>
              </a:rPr>
              <a:t>opticaj</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kao</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pravi</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ili</a:t>
            </a:r>
            <a:r>
              <a:rPr lang="en-US" b="0" i="0" dirty="0">
                <a:solidFill>
                  <a:schemeClr val="tx1"/>
                </a:solidFill>
                <a:effectLst/>
                <a:highlight>
                  <a:srgbClr val="808000"/>
                </a:highlight>
                <a:latin typeface="Arial" panose="020B0604020202020204" pitchFamily="34" charset="0"/>
              </a:rPr>
              <a:t> ko </a:t>
            </a:r>
            <a:r>
              <a:rPr lang="en-US" b="0" i="0" dirty="0" err="1">
                <a:solidFill>
                  <a:schemeClr val="tx1"/>
                </a:solidFill>
                <a:effectLst/>
                <a:highlight>
                  <a:srgbClr val="808000"/>
                </a:highlight>
                <a:latin typeface="Arial" panose="020B0604020202020204" pitchFamily="34" charset="0"/>
              </a:rPr>
              <a:t>lažan</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novac</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stavlja</a:t>
            </a:r>
            <a:r>
              <a:rPr lang="en-US" b="0" i="0" dirty="0">
                <a:solidFill>
                  <a:schemeClr val="tx1"/>
                </a:solidFill>
                <a:effectLst/>
                <a:highlight>
                  <a:srgbClr val="808000"/>
                </a:highlight>
                <a:latin typeface="Arial" panose="020B0604020202020204" pitchFamily="34" charset="0"/>
              </a:rPr>
              <a:t> u </a:t>
            </a:r>
            <a:r>
              <a:rPr lang="en-US" b="0" i="0" dirty="0" err="1">
                <a:solidFill>
                  <a:schemeClr val="tx1"/>
                </a:solidFill>
                <a:effectLst/>
                <a:highlight>
                  <a:srgbClr val="808000"/>
                </a:highlight>
                <a:latin typeface="Arial" panose="020B0604020202020204" pitchFamily="34" charset="0"/>
              </a:rPr>
              <a:t>opticaj</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kazniće</a:t>
            </a:r>
            <a:r>
              <a:rPr lang="en-US" b="0" i="0" dirty="0">
                <a:solidFill>
                  <a:schemeClr val="tx1"/>
                </a:solidFill>
                <a:effectLst/>
                <a:highlight>
                  <a:srgbClr val="808000"/>
                </a:highlight>
                <a:latin typeface="Arial" panose="020B0604020202020204" pitchFamily="34" charset="0"/>
              </a:rPr>
              <a:t> se </a:t>
            </a:r>
            <a:r>
              <a:rPr lang="en-US" b="0" i="0" dirty="0" err="1">
                <a:solidFill>
                  <a:schemeClr val="tx1"/>
                </a:solidFill>
                <a:effectLst/>
                <a:highlight>
                  <a:srgbClr val="808000"/>
                </a:highlight>
                <a:latin typeface="Arial" panose="020B0604020202020204" pitchFamily="34" charset="0"/>
              </a:rPr>
              <a:t>zatvorom</a:t>
            </a:r>
            <a:r>
              <a:rPr lang="en-US" b="0" i="0" dirty="0">
                <a:solidFill>
                  <a:schemeClr val="tx1"/>
                </a:solidFill>
                <a:effectLst/>
                <a:highlight>
                  <a:srgbClr val="808000"/>
                </a:highlight>
                <a:latin typeface="Arial" panose="020B0604020202020204" pitchFamily="34" charset="0"/>
              </a:rPr>
              <a:t> od </a:t>
            </a:r>
            <a:r>
              <a:rPr lang="en-US" b="0" i="0" dirty="0" err="1">
                <a:solidFill>
                  <a:schemeClr val="tx1"/>
                </a:solidFill>
                <a:effectLst/>
                <a:highlight>
                  <a:srgbClr val="808000"/>
                </a:highlight>
                <a:latin typeface="Arial" panose="020B0604020202020204" pitchFamily="34" charset="0"/>
              </a:rPr>
              <a:t>dvije</a:t>
            </a:r>
            <a:r>
              <a:rPr lang="en-US" b="0" i="0" dirty="0">
                <a:solidFill>
                  <a:schemeClr val="tx1"/>
                </a:solidFill>
                <a:effectLst/>
                <a:highlight>
                  <a:srgbClr val="808000"/>
                </a:highlight>
                <a:latin typeface="Arial" panose="020B0604020202020204" pitchFamily="34" charset="0"/>
              </a:rPr>
              <a:t> do </a:t>
            </a:r>
            <a:r>
              <a:rPr lang="en-US" b="0" i="0" dirty="0" err="1">
                <a:solidFill>
                  <a:schemeClr val="tx1"/>
                </a:solidFill>
                <a:effectLst/>
                <a:highlight>
                  <a:srgbClr val="808000"/>
                </a:highlight>
                <a:latin typeface="Arial" panose="020B0604020202020204" pitchFamily="34" charset="0"/>
              </a:rPr>
              <a:t>deset</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godina</a:t>
            </a:r>
            <a:r>
              <a:rPr lang="en-US" b="0" i="0" dirty="0">
                <a:solidFill>
                  <a:schemeClr val="tx1"/>
                </a:solidFill>
                <a:effectLst/>
                <a:highlight>
                  <a:srgbClr val="808000"/>
                </a:highlight>
                <a:latin typeface="Arial" panose="020B0604020202020204" pitchFamily="34" charset="0"/>
              </a:rPr>
              <a:t>.</a:t>
            </a:r>
          </a:p>
          <a:p>
            <a:pPr algn="l"/>
            <a:r>
              <a:rPr lang="en-US" b="0" i="0" dirty="0">
                <a:solidFill>
                  <a:schemeClr val="tx1"/>
                </a:solidFill>
                <a:effectLst/>
                <a:latin typeface="Arial" panose="020B0604020202020204" pitchFamily="34" charset="0"/>
              </a:rPr>
              <a:t>(3) </a:t>
            </a:r>
            <a:r>
              <a:rPr lang="en-US" b="0" i="0" dirty="0" err="1">
                <a:solidFill>
                  <a:schemeClr val="tx1"/>
                </a:solidFill>
                <a:effectLst/>
                <a:latin typeface="Arial" panose="020B0604020202020204" pitchFamily="34" charset="0"/>
              </a:rPr>
              <a:t>Ako</a:t>
            </a:r>
            <a:r>
              <a:rPr lang="en-US" b="0" i="0" dirty="0">
                <a:solidFill>
                  <a:schemeClr val="tx1"/>
                </a:solidFill>
                <a:effectLst/>
                <a:latin typeface="Arial" panose="020B0604020202020204" pitchFamily="34" charset="0"/>
              </a:rPr>
              <a:t> je </a:t>
            </a:r>
            <a:r>
              <a:rPr lang="en-US" b="0" i="0" dirty="0" err="1">
                <a:solidFill>
                  <a:schemeClr val="tx1"/>
                </a:solidFill>
                <a:effectLst/>
                <a:latin typeface="Arial" panose="020B0604020202020204" pitchFamily="34" charset="0"/>
              </a:rPr>
              <a:t>djelom</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iz</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st.</a:t>
            </a:r>
            <a:r>
              <a:rPr lang="en-US" b="0" i="0" dirty="0">
                <a:solidFill>
                  <a:schemeClr val="tx1"/>
                </a:solidFill>
                <a:effectLst/>
                <a:latin typeface="Arial" panose="020B0604020202020204" pitchFamily="34" charset="0"/>
              </a:rPr>
              <a:t> 1 </a:t>
            </a:r>
            <a:r>
              <a:rPr lang="en-US" b="0" i="0" dirty="0" err="1">
                <a:solidFill>
                  <a:schemeClr val="tx1"/>
                </a:solidFill>
                <a:effectLst/>
                <a:latin typeface="Arial" panose="020B0604020202020204" pitchFamily="34" charset="0"/>
              </a:rPr>
              <a:t>i</a:t>
            </a:r>
            <a:r>
              <a:rPr lang="en-US" b="0" i="0" dirty="0">
                <a:solidFill>
                  <a:schemeClr val="tx1"/>
                </a:solidFill>
                <a:effectLst/>
                <a:latin typeface="Arial" panose="020B0604020202020204" pitchFamily="34" charset="0"/>
              </a:rPr>
              <a:t> 2 </a:t>
            </a:r>
            <a:r>
              <a:rPr lang="en-US" b="0" i="0" dirty="0" err="1">
                <a:solidFill>
                  <a:schemeClr val="tx1"/>
                </a:solidFill>
                <a:effectLst/>
                <a:latin typeface="Arial" panose="020B0604020202020204" pitchFamily="34" charset="0"/>
              </a:rPr>
              <a:t>ovog</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člana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napravljen</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preinačen</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stavljen</a:t>
            </a:r>
            <a:r>
              <a:rPr lang="en-US" b="0" i="0" dirty="0">
                <a:solidFill>
                  <a:schemeClr val="tx1"/>
                </a:solidFill>
                <a:effectLst/>
                <a:latin typeface="Arial" panose="020B0604020202020204" pitchFamily="34" charset="0"/>
              </a:rPr>
              <a:t> u </a:t>
            </a:r>
            <a:r>
              <a:rPr lang="en-US" b="0" i="0" dirty="0" err="1">
                <a:solidFill>
                  <a:schemeClr val="tx1"/>
                </a:solidFill>
                <a:effectLst/>
                <a:latin typeface="Arial" panose="020B0604020202020204" pitchFamily="34" charset="0"/>
              </a:rPr>
              <a:t>promet</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ili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pribavljen</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lažan</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novac</a:t>
            </a:r>
            <a:r>
              <a:rPr lang="en-US" b="0" i="0" dirty="0">
                <a:solidFill>
                  <a:schemeClr val="tx1"/>
                </a:solidFill>
                <a:effectLst/>
                <a:latin typeface="Arial" panose="020B0604020202020204" pitchFamily="34" charset="0"/>
              </a:rPr>
              <a:t> u </a:t>
            </a:r>
            <a:r>
              <a:rPr lang="en-US" b="0" i="0" dirty="0" err="1">
                <a:solidFill>
                  <a:schemeClr val="tx1"/>
                </a:solidFill>
                <a:effectLst/>
                <a:latin typeface="Arial" panose="020B0604020202020204" pitchFamily="34" charset="0"/>
              </a:rPr>
              <a:t>iznosu</a:t>
            </a:r>
            <a:r>
              <a:rPr lang="en-US" b="0" i="0" dirty="0">
                <a:solidFill>
                  <a:schemeClr val="tx1"/>
                </a:solidFill>
                <a:effectLst/>
                <a:latin typeface="Arial" panose="020B0604020202020204" pitchFamily="34" charset="0"/>
              </a:rPr>
              <a:t> koji </a:t>
            </a:r>
            <a:r>
              <a:rPr lang="en-US" b="0" i="0" dirty="0" err="1">
                <a:solidFill>
                  <a:schemeClr val="tx1"/>
                </a:solidFill>
                <a:effectLst/>
                <a:latin typeface="Arial" panose="020B0604020202020204" pitchFamily="34" charset="0"/>
              </a:rPr>
              <a:t>prelazi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petnaest</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hiljada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eura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odnosno</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odgovarajući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iznos</a:t>
            </a:r>
            <a:r>
              <a:rPr lang="en-US" b="0" i="0" dirty="0">
                <a:solidFill>
                  <a:schemeClr val="tx1"/>
                </a:solidFill>
                <a:effectLst/>
                <a:latin typeface="Arial" panose="020B0604020202020204" pitchFamily="34" charset="0"/>
              </a:rPr>
              <a:t> u </a:t>
            </a:r>
            <a:r>
              <a:rPr lang="en-US" b="0" i="0" dirty="0" err="1">
                <a:solidFill>
                  <a:schemeClr val="tx1"/>
                </a:solidFill>
                <a:effectLst/>
                <a:latin typeface="Arial" panose="020B0604020202020204" pitchFamily="34" charset="0"/>
              </a:rPr>
              <a:t>stranom</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novcu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učinilac</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će</a:t>
            </a:r>
            <a:r>
              <a:rPr lang="en-US" b="0" i="0" dirty="0">
                <a:solidFill>
                  <a:schemeClr val="tx1"/>
                </a:solidFill>
                <a:effectLst/>
                <a:latin typeface="Arial" panose="020B0604020202020204" pitchFamily="34" charset="0"/>
              </a:rPr>
              <a:t> se </a:t>
            </a:r>
            <a:r>
              <a:rPr lang="en-US" b="0" i="0" dirty="0" err="1">
                <a:solidFill>
                  <a:schemeClr val="tx1"/>
                </a:solidFill>
                <a:effectLst/>
                <a:latin typeface="Arial" panose="020B0604020202020204" pitchFamily="34" charset="0"/>
              </a:rPr>
              <a:t>kazniti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zatvorom</a:t>
            </a:r>
            <a:r>
              <a:rPr lang="en-US" b="0" i="0" dirty="0">
                <a:solidFill>
                  <a:schemeClr val="tx1"/>
                </a:solidFill>
                <a:effectLst/>
                <a:latin typeface="Arial" panose="020B0604020202020204" pitchFamily="34" charset="0"/>
              </a:rPr>
              <a:t> od pet do </a:t>
            </a:r>
            <a:r>
              <a:rPr lang="en-US" b="0" i="0" dirty="0" err="1">
                <a:solidFill>
                  <a:schemeClr val="tx1"/>
                </a:solidFill>
                <a:effectLst/>
                <a:latin typeface="Arial" panose="020B0604020202020204" pitchFamily="34" charset="0"/>
              </a:rPr>
              <a:t>petnaest</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godina</a:t>
            </a:r>
            <a:r>
              <a:rPr lang="en-US" b="0" i="0" dirty="0">
                <a:solidFill>
                  <a:schemeClr val="tx1"/>
                </a:solidFill>
                <a:effectLst/>
                <a:latin typeface="Arial" panose="020B0604020202020204" pitchFamily="34" charset="0"/>
              </a:rPr>
              <a:t>.</a:t>
            </a:r>
          </a:p>
          <a:p>
            <a:pPr algn="l"/>
            <a:r>
              <a:rPr lang="en-US" b="0" i="0" dirty="0">
                <a:solidFill>
                  <a:schemeClr val="tx1"/>
                </a:solidFill>
                <a:effectLst/>
                <a:highlight>
                  <a:srgbClr val="808000"/>
                </a:highlight>
                <a:latin typeface="Arial" panose="020B0604020202020204" pitchFamily="34" charset="0"/>
              </a:rPr>
              <a:t>(4) Ko </a:t>
            </a:r>
            <a:r>
              <a:rPr lang="en-US" b="0" i="0" dirty="0" err="1">
                <a:solidFill>
                  <a:schemeClr val="tx1"/>
                </a:solidFill>
                <a:effectLst/>
                <a:highlight>
                  <a:srgbClr val="808000"/>
                </a:highlight>
                <a:latin typeface="Arial" panose="020B0604020202020204" pitchFamily="34" charset="0"/>
              </a:rPr>
              <a:t>lažan</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novac</a:t>
            </a:r>
            <a:r>
              <a:rPr lang="en-US" b="0" i="0" dirty="0">
                <a:solidFill>
                  <a:schemeClr val="tx1"/>
                </a:solidFill>
                <a:effectLst/>
                <a:highlight>
                  <a:srgbClr val="808000"/>
                </a:highlight>
                <a:latin typeface="Arial" panose="020B0604020202020204" pitchFamily="34" charset="0"/>
              </a:rPr>
              <a:t> koji je </a:t>
            </a:r>
            <a:r>
              <a:rPr lang="en-US" b="0" i="0" dirty="0" err="1">
                <a:solidFill>
                  <a:schemeClr val="tx1"/>
                </a:solidFill>
                <a:effectLst/>
                <a:highlight>
                  <a:srgbClr val="808000"/>
                </a:highlight>
                <a:latin typeface="Arial" panose="020B0604020202020204" pitchFamily="34" charset="0"/>
              </a:rPr>
              <a:t>primio</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kao</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pravi</a:t>
            </a:r>
            <a:r>
              <a:rPr lang="en-US" b="0" i="0" dirty="0">
                <a:solidFill>
                  <a:schemeClr val="tx1"/>
                </a:solidFill>
                <a:effectLst/>
                <a:highlight>
                  <a:srgbClr val="808000"/>
                </a:highlight>
                <a:latin typeface="Arial" panose="020B0604020202020204" pitchFamily="34" charset="0"/>
              </a:rPr>
              <a:t>, pa </a:t>
            </a:r>
            <a:r>
              <a:rPr lang="en-US" b="0" i="0" dirty="0" err="1">
                <a:solidFill>
                  <a:schemeClr val="tx1"/>
                </a:solidFill>
                <a:effectLst/>
                <a:highlight>
                  <a:srgbClr val="808000"/>
                </a:highlight>
                <a:latin typeface="Arial" panose="020B0604020202020204" pitchFamily="34" charset="0"/>
              </a:rPr>
              <a:t>saznavši</a:t>
            </a:r>
            <a:r>
              <a:rPr lang="en-US" b="0" i="0" dirty="0">
                <a:solidFill>
                  <a:schemeClr val="tx1"/>
                </a:solidFill>
                <a:effectLst/>
                <a:highlight>
                  <a:srgbClr val="808000"/>
                </a:highlight>
                <a:latin typeface="Arial" panose="020B0604020202020204" pitchFamily="34" charset="0"/>
              </a:rPr>
              <a:t> da je </a:t>
            </a:r>
            <a:r>
              <a:rPr lang="en-US" b="0" i="0" dirty="0" err="1">
                <a:solidFill>
                  <a:schemeClr val="tx1"/>
                </a:solidFill>
                <a:effectLst/>
                <a:highlight>
                  <a:srgbClr val="808000"/>
                </a:highlight>
                <a:latin typeface="Arial" panose="020B0604020202020204" pitchFamily="34" charset="0"/>
              </a:rPr>
              <a:t>lažan</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stavi</a:t>
            </a:r>
            <a:r>
              <a:rPr lang="en-US" b="0" i="0" dirty="0">
                <a:solidFill>
                  <a:schemeClr val="tx1"/>
                </a:solidFill>
                <a:effectLst/>
                <a:highlight>
                  <a:srgbClr val="808000"/>
                </a:highlight>
                <a:latin typeface="Arial" panose="020B0604020202020204" pitchFamily="34" charset="0"/>
              </a:rPr>
              <a:t> u </a:t>
            </a:r>
            <a:r>
              <a:rPr lang="en-US" b="0" i="0" dirty="0" err="1">
                <a:solidFill>
                  <a:schemeClr val="tx1"/>
                </a:solidFill>
                <a:effectLst/>
                <a:highlight>
                  <a:srgbClr val="808000"/>
                </a:highlight>
                <a:latin typeface="Arial" panose="020B0604020202020204" pitchFamily="34" charset="0"/>
              </a:rPr>
              <a:t>opticaj</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ili</a:t>
            </a:r>
            <a:r>
              <a:rPr lang="en-US" b="0" i="0" dirty="0">
                <a:solidFill>
                  <a:schemeClr val="tx1"/>
                </a:solidFill>
                <a:effectLst/>
                <a:highlight>
                  <a:srgbClr val="808000"/>
                </a:highlight>
                <a:latin typeface="Arial" panose="020B0604020202020204" pitchFamily="34" charset="0"/>
              </a:rPr>
              <a:t> ko </a:t>
            </a:r>
            <a:r>
              <a:rPr lang="en-US" b="0" i="0" dirty="0" err="1">
                <a:solidFill>
                  <a:schemeClr val="tx1"/>
                </a:solidFill>
                <a:effectLst/>
                <a:highlight>
                  <a:srgbClr val="808000"/>
                </a:highlight>
                <a:latin typeface="Arial" panose="020B0604020202020204" pitchFamily="34" charset="0"/>
              </a:rPr>
              <a:t>zna</a:t>
            </a:r>
            <a:r>
              <a:rPr lang="en-US" b="0" i="0" dirty="0">
                <a:solidFill>
                  <a:schemeClr val="tx1"/>
                </a:solidFill>
                <a:effectLst/>
                <a:highlight>
                  <a:srgbClr val="808000"/>
                </a:highlight>
                <a:latin typeface="Arial" panose="020B0604020202020204" pitchFamily="34" charset="0"/>
              </a:rPr>
              <a:t> da je </a:t>
            </a:r>
            <a:r>
              <a:rPr lang="en-US" b="0" i="0" dirty="0" err="1">
                <a:solidFill>
                  <a:schemeClr val="tx1"/>
                </a:solidFill>
                <a:effectLst/>
                <a:highlight>
                  <a:srgbClr val="808000"/>
                </a:highlight>
                <a:latin typeface="Arial" panose="020B0604020202020204" pitchFamily="34" charset="0"/>
              </a:rPr>
              <a:t>načinjen</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lažan</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novac</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ili</a:t>
            </a:r>
            <a:r>
              <a:rPr lang="en-US" b="0" i="0" dirty="0">
                <a:solidFill>
                  <a:schemeClr val="tx1"/>
                </a:solidFill>
                <a:effectLst/>
                <a:highlight>
                  <a:srgbClr val="808000"/>
                </a:highlight>
                <a:latin typeface="Arial" panose="020B0604020202020204" pitchFamily="34" charset="0"/>
              </a:rPr>
              <a:t> da je </a:t>
            </a:r>
            <a:r>
              <a:rPr lang="en-US" b="0" i="0" dirty="0" err="1">
                <a:solidFill>
                  <a:schemeClr val="tx1"/>
                </a:solidFill>
                <a:effectLst/>
                <a:highlight>
                  <a:srgbClr val="808000"/>
                </a:highlight>
                <a:latin typeface="Arial" panose="020B0604020202020204" pitchFamily="34" charset="0"/>
              </a:rPr>
              <a:t>lažan</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novac</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stavljen</a:t>
            </a:r>
            <a:r>
              <a:rPr lang="en-US" b="0" i="0" dirty="0">
                <a:solidFill>
                  <a:schemeClr val="tx1"/>
                </a:solidFill>
                <a:effectLst/>
                <a:highlight>
                  <a:srgbClr val="808000"/>
                </a:highlight>
                <a:latin typeface="Arial" panose="020B0604020202020204" pitchFamily="34" charset="0"/>
              </a:rPr>
              <a:t> u </a:t>
            </a:r>
            <a:r>
              <a:rPr lang="en-US" b="0" i="0" dirty="0" err="1">
                <a:solidFill>
                  <a:schemeClr val="tx1"/>
                </a:solidFill>
                <a:effectLst/>
                <a:highlight>
                  <a:srgbClr val="808000"/>
                </a:highlight>
                <a:latin typeface="Arial" panose="020B0604020202020204" pitchFamily="34" charset="0"/>
              </a:rPr>
              <a:t>opticaj</a:t>
            </a:r>
            <a:r>
              <a:rPr lang="en-US" b="0" i="0" dirty="0">
                <a:solidFill>
                  <a:schemeClr val="tx1"/>
                </a:solidFill>
                <a:effectLst/>
                <a:highlight>
                  <a:srgbClr val="808000"/>
                </a:highlight>
                <a:latin typeface="Arial" panose="020B0604020202020204" pitchFamily="34" charset="0"/>
              </a:rPr>
              <a:t>, pa to ne </a:t>
            </a:r>
            <a:r>
              <a:rPr lang="en-US" b="0" i="0" dirty="0" err="1">
                <a:solidFill>
                  <a:schemeClr val="tx1"/>
                </a:solidFill>
                <a:effectLst/>
                <a:highlight>
                  <a:srgbClr val="808000"/>
                </a:highlight>
                <a:latin typeface="Arial" panose="020B0604020202020204" pitchFamily="34" charset="0"/>
              </a:rPr>
              <a:t>prijavi</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kazniće</a:t>
            </a:r>
            <a:r>
              <a:rPr lang="en-US" b="0" i="0" dirty="0">
                <a:solidFill>
                  <a:schemeClr val="tx1"/>
                </a:solidFill>
                <a:effectLst/>
                <a:highlight>
                  <a:srgbClr val="808000"/>
                </a:highlight>
                <a:latin typeface="Arial" panose="020B0604020202020204" pitchFamily="34" charset="0"/>
              </a:rPr>
              <a:t> se </a:t>
            </a:r>
            <a:r>
              <a:rPr lang="en-US" b="0" i="0" dirty="0" err="1">
                <a:solidFill>
                  <a:schemeClr val="tx1"/>
                </a:solidFill>
                <a:effectLst/>
                <a:highlight>
                  <a:srgbClr val="808000"/>
                </a:highlight>
                <a:latin typeface="Arial" panose="020B0604020202020204" pitchFamily="34" charset="0"/>
              </a:rPr>
              <a:t>novčanom</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kaznom</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ili</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zatvorom</a:t>
            </a:r>
            <a:r>
              <a:rPr lang="en-US" b="0" i="0" dirty="0">
                <a:solidFill>
                  <a:schemeClr val="tx1"/>
                </a:solidFill>
                <a:effectLst/>
                <a:highlight>
                  <a:srgbClr val="808000"/>
                </a:highlight>
                <a:latin typeface="Arial" panose="020B0604020202020204" pitchFamily="34" charset="0"/>
              </a:rPr>
              <a:t> do </a:t>
            </a:r>
            <a:r>
              <a:rPr lang="en-US" b="0" i="0" dirty="0" err="1">
                <a:solidFill>
                  <a:schemeClr val="tx1"/>
                </a:solidFill>
                <a:effectLst/>
                <a:highlight>
                  <a:srgbClr val="808000"/>
                </a:highlight>
                <a:latin typeface="Arial" panose="020B0604020202020204" pitchFamily="34" charset="0"/>
              </a:rPr>
              <a:t>jedne</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godine</a:t>
            </a:r>
            <a:r>
              <a:rPr lang="en-US" b="0" i="0" dirty="0">
                <a:solidFill>
                  <a:schemeClr val="tx1"/>
                </a:solidFill>
                <a:effectLst/>
                <a:highlight>
                  <a:srgbClr val="808000"/>
                </a:highlight>
                <a:latin typeface="Arial" panose="020B0604020202020204" pitchFamily="34" charset="0"/>
              </a:rPr>
              <a:t>.</a:t>
            </a:r>
          </a:p>
          <a:p>
            <a:pPr algn="l"/>
            <a:r>
              <a:rPr lang="en-US" b="0" i="0" dirty="0">
                <a:solidFill>
                  <a:schemeClr val="tx1"/>
                </a:solidFill>
                <a:effectLst/>
                <a:latin typeface="Arial" panose="020B0604020202020204" pitchFamily="34" charset="0"/>
              </a:rPr>
              <a:t>(5) </a:t>
            </a:r>
            <a:r>
              <a:rPr lang="en-US" b="0" i="0" dirty="0" err="1">
                <a:solidFill>
                  <a:schemeClr val="tx1"/>
                </a:solidFill>
                <a:effectLst/>
                <a:latin typeface="Arial" panose="020B0604020202020204" pitchFamily="34" charset="0"/>
              </a:rPr>
              <a:t>Lažan</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novac</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oduzeće</a:t>
            </a:r>
            <a:r>
              <a:rPr lang="en-US" b="0" i="0" dirty="0">
                <a:solidFill>
                  <a:schemeClr val="tx1"/>
                </a:solidFill>
                <a:effectLst/>
                <a:latin typeface="Arial" panose="020B0604020202020204" pitchFamily="34" charset="0"/>
              </a:rPr>
              <a:t> se.</a:t>
            </a:r>
          </a:p>
          <a:p>
            <a:pPr algn="l"/>
            <a:r>
              <a:rPr lang="en-US" b="0" i="0" dirty="0">
                <a:solidFill>
                  <a:schemeClr val="tx1"/>
                </a:solidFill>
                <a:effectLst/>
                <a:latin typeface="Arial" panose="020B0604020202020204" pitchFamily="34" charset="0"/>
              </a:rPr>
              <a:t>(6) </a:t>
            </a:r>
            <a:r>
              <a:rPr lang="en-US" b="0" i="0" dirty="0" err="1">
                <a:solidFill>
                  <a:schemeClr val="tx1"/>
                </a:solidFill>
                <a:effectLst/>
                <a:latin typeface="Arial" panose="020B0604020202020204" pitchFamily="34" charset="0"/>
              </a:rPr>
              <a:t>Lažnim</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novcem</a:t>
            </a:r>
            <a:r>
              <a:rPr lang="en-US" b="0" i="0" dirty="0">
                <a:solidFill>
                  <a:schemeClr val="tx1"/>
                </a:solidFill>
                <a:effectLst/>
                <a:latin typeface="Arial" panose="020B0604020202020204" pitchFamily="34" charset="0"/>
              </a:rPr>
              <a:t>, u </a:t>
            </a:r>
            <a:r>
              <a:rPr lang="en-US" b="0" i="0" dirty="0" err="1">
                <a:solidFill>
                  <a:schemeClr val="tx1"/>
                </a:solidFill>
                <a:effectLst/>
                <a:latin typeface="Arial" panose="020B0604020202020204" pitchFamily="34" charset="0"/>
              </a:rPr>
              <a:t>smislu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ovog</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krivičnog</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djela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smatra</a:t>
            </a:r>
            <a:r>
              <a:rPr lang="en-US" b="0" i="0" dirty="0">
                <a:solidFill>
                  <a:schemeClr val="tx1"/>
                </a:solidFill>
                <a:effectLst/>
                <a:latin typeface="Arial" panose="020B0604020202020204" pitchFamily="34" charset="0"/>
              </a:rPr>
              <a:t> se </a:t>
            </a:r>
            <a:r>
              <a:rPr lang="en-US" b="0" i="0" dirty="0" err="1">
                <a:solidFill>
                  <a:schemeClr val="tx1"/>
                </a:solidFill>
                <a:effectLst/>
                <a:latin typeface="Arial" panose="020B0604020202020204" pitchFamily="34" charset="0"/>
              </a:rPr>
              <a:t>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novac</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izrađen</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način</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a:t>
            </a:r>
            <a:r>
              <a:rPr lang="en-US" b="0" i="0" dirty="0">
                <a:solidFill>
                  <a:schemeClr val="tx1"/>
                </a:solidFill>
                <a:effectLst/>
                <a:latin typeface="Arial" panose="020B0604020202020204" pitchFamily="34" charset="0"/>
              </a:rPr>
              <a:t> od </a:t>
            </a:r>
            <a:r>
              <a:rPr lang="en-US" b="0" i="0" dirty="0" err="1">
                <a:solidFill>
                  <a:schemeClr val="tx1"/>
                </a:solidFill>
                <a:effectLst/>
                <a:latin typeface="Arial" panose="020B0604020202020204" pitchFamily="34" charset="0"/>
              </a:rPr>
              <a:t>materijala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kao</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pravi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novac</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suprotno</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propisima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kojima</a:t>
            </a:r>
            <a:r>
              <a:rPr lang="en-US" b="0" i="0" dirty="0">
                <a:solidFill>
                  <a:schemeClr val="tx1"/>
                </a:solidFill>
                <a:effectLst/>
                <a:latin typeface="Arial" panose="020B0604020202020204" pitchFamily="34" charset="0"/>
              </a:rPr>
              <a:t> se </a:t>
            </a:r>
            <a:r>
              <a:rPr lang="en-US" b="0" i="0" dirty="0" err="1">
                <a:solidFill>
                  <a:schemeClr val="tx1"/>
                </a:solidFill>
                <a:effectLst/>
                <a:latin typeface="Arial" panose="020B0604020202020204" pitchFamily="34" charset="0"/>
              </a:rPr>
              <a:t>uređuje</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izrada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novca</a:t>
            </a:r>
            <a:r>
              <a:rPr lang="en-US" b="0" i="0" dirty="0">
                <a:solidFill>
                  <a:schemeClr val="tx1"/>
                </a:solidFill>
                <a:effectLst/>
                <a:latin typeface="Arial" panose="020B0604020202020204" pitchFamily="34" charset="0"/>
              </a:rPr>
              <a:t>.</a:t>
            </a:r>
          </a:p>
          <a:p>
            <a:endParaRPr lang="en-US" dirty="0"/>
          </a:p>
        </p:txBody>
      </p:sp>
    </p:spTree>
    <p:extLst>
      <p:ext uri="{BB962C8B-B14F-4D97-AF65-F5344CB8AC3E}">
        <p14:creationId xmlns:p14="http://schemas.microsoft.com/office/powerpoint/2010/main" val="2498562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C0DEA-A6EB-3170-138B-F44C7047C048}"/>
              </a:ext>
            </a:extLst>
          </p:cNvPr>
          <p:cNvSpPr>
            <a:spLocks noGrp="1"/>
          </p:cNvSpPr>
          <p:nvPr>
            <p:ph type="title"/>
          </p:nvPr>
        </p:nvSpPr>
        <p:spPr>
          <a:xfrm>
            <a:off x="913795" y="260562"/>
            <a:ext cx="10353762" cy="970450"/>
          </a:xfrm>
        </p:spPr>
        <p:txBody>
          <a:bodyPr>
            <a:normAutofit fontScale="90000"/>
          </a:bodyPr>
          <a:lstStyle/>
          <a:p>
            <a:br>
              <a:rPr lang="en-US" dirty="0"/>
            </a:br>
            <a:r>
              <a:rPr lang="en-US" dirty="0" err="1"/>
              <a:t>Falsifikovanje</a:t>
            </a:r>
            <a:r>
              <a:rPr lang="en-US" dirty="0"/>
              <a:t> </a:t>
            </a:r>
            <a:r>
              <a:rPr lang="en-US" dirty="0" err="1"/>
              <a:t>i</a:t>
            </a:r>
            <a:r>
              <a:rPr lang="en-US" dirty="0"/>
              <a:t> </a:t>
            </a:r>
            <a:r>
              <a:rPr lang="en-US" dirty="0" err="1"/>
              <a:t>zloupotreba</a:t>
            </a:r>
            <a:r>
              <a:rPr lang="en-US" dirty="0"/>
              <a:t> </a:t>
            </a:r>
            <a:r>
              <a:rPr lang="en-US" dirty="0" err="1"/>
              <a:t>kreditnih</a:t>
            </a:r>
            <a:r>
              <a:rPr lang="en-US" dirty="0"/>
              <a:t> </a:t>
            </a:r>
            <a:r>
              <a:rPr lang="en-US" dirty="0" err="1"/>
              <a:t>kartica</a:t>
            </a:r>
            <a:r>
              <a:rPr lang="en-US" dirty="0"/>
              <a:t> </a:t>
            </a:r>
            <a:r>
              <a:rPr lang="en-US" dirty="0" err="1"/>
              <a:t>i</a:t>
            </a:r>
            <a:r>
              <a:rPr lang="en-US" dirty="0"/>
              <a:t> </a:t>
            </a:r>
            <a:r>
              <a:rPr lang="en-US" dirty="0" err="1"/>
              <a:t>kartica</a:t>
            </a:r>
            <a:r>
              <a:rPr lang="en-US" dirty="0"/>
              <a:t> za </a:t>
            </a:r>
            <a:r>
              <a:rPr lang="en-US" dirty="0" err="1"/>
              <a:t>bezgotovinsko</a:t>
            </a:r>
            <a:r>
              <a:rPr lang="en-US" dirty="0"/>
              <a:t> </a:t>
            </a:r>
            <a:r>
              <a:rPr lang="en-US" dirty="0" err="1"/>
              <a:t>plaćanje</a:t>
            </a:r>
            <a:br>
              <a:rPr lang="sr-Latn-RS" dirty="0"/>
            </a:br>
            <a:r>
              <a:rPr lang="sr-Latn-RS" dirty="0"/>
              <a:t>Član 260</a:t>
            </a:r>
            <a:endParaRPr lang="en-US" dirty="0"/>
          </a:p>
        </p:txBody>
      </p:sp>
      <p:sp>
        <p:nvSpPr>
          <p:cNvPr id="3" name="Content Placeholder 2">
            <a:extLst>
              <a:ext uri="{FF2B5EF4-FFF2-40B4-BE49-F238E27FC236}">
                <a16:creationId xmlns:a16="http://schemas.microsoft.com/office/drawing/2014/main" id="{62E923C1-297A-84A8-82FB-21DFF36CA783}"/>
              </a:ext>
            </a:extLst>
          </p:cNvPr>
          <p:cNvSpPr>
            <a:spLocks noGrp="1"/>
          </p:cNvSpPr>
          <p:nvPr>
            <p:ph idx="1"/>
          </p:nvPr>
        </p:nvSpPr>
        <p:spPr>
          <a:xfrm>
            <a:off x="913795" y="2053462"/>
            <a:ext cx="10353762" cy="4058751"/>
          </a:xfrm>
        </p:spPr>
        <p:txBody>
          <a:bodyPr/>
          <a:lstStyle/>
          <a:p>
            <a:pPr algn="l"/>
            <a:r>
              <a:rPr lang="en-US" b="0" i="0" dirty="0">
                <a:solidFill>
                  <a:schemeClr val="tx1"/>
                </a:solidFill>
                <a:effectLst/>
                <a:latin typeface="Arial" panose="020B0604020202020204" pitchFamily="34" charset="0"/>
              </a:rPr>
              <a:t>(1) Ko </a:t>
            </a:r>
            <a:r>
              <a:rPr lang="en-US" b="0" i="0" dirty="0" err="1">
                <a:solidFill>
                  <a:schemeClr val="tx1"/>
                </a:solidFill>
                <a:effectLst/>
                <a:latin typeface="Arial" panose="020B0604020202020204" pitchFamily="34" charset="0"/>
              </a:rPr>
              <a:t>napravi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lažnu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platnu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karticu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ili</a:t>
            </a:r>
            <a:r>
              <a:rPr lang="en-US" b="0" i="0" dirty="0">
                <a:solidFill>
                  <a:schemeClr val="tx1"/>
                </a:solidFill>
                <a:effectLst/>
                <a:latin typeface="Arial" panose="020B0604020202020204" pitchFamily="34" charset="0"/>
              </a:rPr>
              <a:t> ko </a:t>
            </a:r>
            <a:r>
              <a:rPr lang="en-US" b="0" i="0" dirty="0" err="1">
                <a:solidFill>
                  <a:schemeClr val="tx1"/>
                </a:solidFill>
                <a:effectLst/>
                <a:latin typeface="Arial" panose="020B0604020202020204" pitchFamily="34" charset="0"/>
              </a:rPr>
              <a:t>preinači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pravu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platnu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karticu</a:t>
            </a:r>
            <a:r>
              <a:rPr lang="en-US" b="0" i="0" dirty="0">
                <a:solidFill>
                  <a:schemeClr val="tx1"/>
                </a:solidFill>
                <a:effectLst/>
                <a:latin typeface="Arial" panose="020B0604020202020204" pitchFamily="34" charset="0"/>
              </a:rPr>
              <a:t> u </a:t>
            </a:r>
            <a:r>
              <a:rPr lang="en-US" b="0" i="0" dirty="0" err="1">
                <a:solidFill>
                  <a:schemeClr val="tx1"/>
                </a:solidFill>
                <a:effectLst/>
                <a:latin typeface="Arial" panose="020B0604020202020204" pitchFamily="34" charset="0"/>
              </a:rPr>
              <a:t>namjeri</a:t>
            </a:r>
            <a:r>
              <a:rPr lang="en-US" b="0" i="0" dirty="0">
                <a:solidFill>
                  <a:schemeClr val="tx1"/>
                </a:solidFill>
                <a:effectLst/>
                <a:latin typeface="Arial" panose="020B0604020202020204" pitchFamily="34" charset="0"/>
              </a:rPr>
              <a:t> da je </a:t>
            </a:r>
            <a:r>
              <a:rPr lang="en-US" b="0" i="0" dirty="0" err="1">
                <a:solidFill>
                  <a:schemeClr val="tx1"/>
                </a:solidFill>
                <a:effectLst/>
                <a:latin typeface="Arial" panose="020B0604020202020204" pitchFamily="34" charset="0"/>
              </a:rPr>
              <a:t>upotrijebi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kao</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pravu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ili</a:t>
            </a:r>
            <a:r>
              <a:rPr lang="en-US" b="0" i="0" dirty="0">
                <a:solidFill>
                  <a:schemeClr val="tx1"/>
                </a:solidFill>
                <a:effectLst/>
                <a:latin typeface="Arial" panose="020B0604020202020204" pitchFamily="34" charset="0"/>
              </a:rPr>
              <a:t> ko </a:t>
            </a:r>
            <a:r>
              <a:rPr lang="en-US" b="0" i="0" dirty="0" err="1">
                <a:solidFill>
                  <a:schemeClr val="tx1"/>
                </a:solidFill>
                <a:effectLst/>
                <a:latin typeface="Arial" panose="020B0604020202020204" pitchFamily="34" charset="0"/>
              </a:rPr>
              <a:t>takvu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lažnu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platnu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karticu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ili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tuđu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pravu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platnu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karticu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koja</a:t>
            </a:r>
            <a:r>
              <a:rPr lang="en-US" b="0" i="0" dirty="0">
                <a:solidFill>
                  <a:schemeClr val="tx1"/>
                </a:solidFill>
                <a:effectLst/>
                <a:latin typeface="Arial" panose="020B0604020202020204" pitchFamily="34" charset="0"/>
              </a:rPr>
              <a:t> je </a:t>
            </a:r>
            <a:r>
              <a:rPr lang="en-US" b="0" i="0" dirty="0" err="1">
                <a:solidFill>
                  <a:schemeClr val="tx1"/>
                </a:solidFill>
                <a:effectLst/>
                <a:latin typeface="Arial" panose="020B0604020202020204" pitchFamily="34" charset="0"/>
              </a:rPr>
              <a:t>neovlašćeno</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pribavljena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nabavi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drži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ili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prenese</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radi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upotrebe</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ili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takvu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karticu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upotrijebi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kazniće</a:t>
            </a:r>
            <a:r>
              <a:rPr lang="en-US" b="0" i="0" dirty="0">
                <a:solidFill>
                  <a:schemeClr val="tx1"/>
                </a:solidFill>
                <a:effectLst/>
                <a:latin typeface="Arial" panose="020B0604020202020204" pitchFamily="34" charset="0"/>
              </a:rPr>
              <a:t> se </a:t>
            </a:r>
            <a:r>
              <a:rPr lang="en-US" b="0" i="0" dirty="0" err="1">
                <a:solidFill>
                  <a:schemeClr val="tx1"/>
                </a:solidFill>
                <a:effectLst/>
                <a:latin typeface="Arial" panose="020B0604020202020204" pitchFamily="34" charset="0"/>
              </a:rPr>
              <a:t>zatvorom</a:t>
            </a:r>
            <a:r>
              <a:rPr lang="en-US" b="0" i="0" dirty="0">
                <a:solidFill>
                  <a:schemeClr val="tx1"/>
                </a:solidFill>
                <a:effectLst/>
                <a:latin typeface="Arial" panose="020B0604020202020204" pitchFamily="34" charset="0"/>
              </a:rPr>
              <a:t> do tri </a:t>
            </a:r>
            <a:r>
              <a:rPr lang="en-US" b="0" i="0" dirty="0" err="1">
                <a:solidFill>
                  <a:schemeClr val="tx1"/>
                </a:solidFill>
                <a:effectLst/>
                <a:latin typeface="Arial" panose="020B0604020202020204" pitchFamily="34" charset="0"/>
              </a:rPr>
              <a:t>godine</a:t>
            </a:r>
            <a:r>
              <a:rPr lang="en-US" b="0" i="0" dirty="0">
                <a:solidFill>
                  <a:schemeClr val="tx1"/>
                </a:solidFill>
                <a:effectLst/>
                <a:latin typeface="Arial" panose="020B0604020202020204" pitchFamily="34" charset="0"/>
              </a:rPr>
              <a:t>.</a:t>
            </a:r>
          </a:p>
          <a:p>
            <a:pPr algn="l"/>
            <a:r>
              <a:rPr lang="en-US" b="0" i="0" dirty="0">
                <a:solidFill>
                  <a:schemeClr val="tx1"/>
                </a:solidFill>
                <a:effectLst/>
                <a:highlight>
                  <a:srgbClr val="808000"/>
                </a:highlight>
                <a:latin typeface="Arial" panose="020B0604020202020204" pitchFamily="34" charset="0"/>
              </a:rPr>
              <a:t>(2) </a:t>
            </a:r>
            <a:r>
              <a:rPr lang="en-US" b="0" i="0" dirty="0" err="1">
                <a:solidFill>
                  <a:schemeClr val="tx1"/>
                </a:solidFill>
                <a:effectLst/>
                <a:highlight>
                  <a:srgbClr val="808000"/>
                </a:highlight>
                <a:latin typeface="Arial" panose="020B0604020202020204" pitchFamily="34" charset="0"/>
              </a:rPr>
              <a:t>Ako</a:t>
            </a:r>
            <a:r>
              <a:rPr lang="en-US" b="0" i="0" dirty="0">
                <a:solidFill>
                  <a:schemeClr val="tx1"/>
                </a:solidFill>
                <a:effectLst/>
                <a:highlight>
                  <a:srgbClr val="808000"/>
                </a:highlight>
                <a:latin typeface="Arial" panose="020B0604020202020204" pitchFamily="34" charset="0"/>
              </a:rPr>
              <a:t> je </a:t>
            </a:r>
            <a:r>
              <a:rPr lang="en-US" b="0" i="0" dirty="0" err="1">
                <a:solidFill>
                  <a:schemeClr val="tx1"/>
                </a:solidFill>
                <a:effectLst/>
                <a:highlight>
                  <a:srgbClr val="808000"/>
                </a:highlight>
                <a:latin typeface="Arial" panose="020B0604020202020204" pitchFamily="34" charset="0"/>
              </a:rPr>
              <a:t>učinilac</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djela</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iz</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stava</a:t>
            </a:r>
            <a:r>
              <a:rPr lang="en-US" b="0" i="0" dirty="0">
                <a:solidFill>
                  <a:schemeClr val="tx1"/>
                </a:solidFill>
                <a:effectLst/>
                <a:highlight>
                  <a:srgbClr val="808000"/>
                </a:highlight>
                <a:latin typeface="Arial" panose="020B0604020202020204" pitchFamily="34" charset="0"/>
              </a:rPr>
              <a:t> 1 </a:t>
            </a:r>
            <a:r>
              <a:rPr lang="en-US" b="0" i="0" dirty="0" err="1">
                <a:solidFill>
                  <a:schemeClr val="tx1"/>
                </a:solidFill>
                <a:effectLst/>
                <a:highlight>
                  <a:srgbClr val="808000"/>
                </a:highlight>
                <a:latin typeface="Arial" panose="020B0604020202020204" pitchFamily="34" charset="0"/>
              </a:rPr>
              <a:t>ovog</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člana</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upotrebom</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kartice</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pribavio</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protivpravnu</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imovinsku</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korist</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kazniće</a:t>
            </a:r>
            <a:r>
              <a:rPr lang="en-US" b="0" i="0" dirty="0">
                <a:solidFill>
                  <a:schemeClr val="tx1"/>
                </a:solidFill>
                <a:effectLst/>
                <a:highlight>
                  <a:srgbClr val="808000"/>
                </a:highlight>
                <a:latin typeface="Arial" panose="020B0604020202020204" pitchFamily="34" charset="0"/>
              </a:rPr>
              <a:t> se </a:t>
            </a:r>
            <a:r>
              <a:rPr lang="en-US" b="0" i="0" dirty="0" err="1">
                <a:solidFill>
                  <a:schemeClr val="tx1"/>
                </a:solidFill>
                <a:effectLst/>
                <a:highlight>
                  <a:srgbClr val="808000"/>
                </a:highlight>
                <a:latin typeface="Arial" panose="020B0604020202020204" pitchFamily="34" charset="0"/>
              </a:rPr>
              <a:t>zatvorom</a:t>
            </a:r>
            <a:r>
              <a:rPr lang="en-US" b="0" i="0" dirty="0">
                <a:solidFill>
                  <a:schemeClr val="tx1"/>
                </a:solidFill>
                <a:effectLst/>
                <a:highlight>
                  <a:srgbClr val="808000"/>
                </a:highlight>
                <a:latin typeface="Arial" panose="020B0604020202020204" pitchFamily="34" charset="0"/>
              </a:rPr>
              <a:t> od </a:t>
            </a:r>
            <a:r>
              <a:rPr lang="en-US" b="0" i="0" dirty="0" err="1">
                <a:solidFill>
                  <a:schemeClr val="tx1"/>
                </a:solidFill>
                <a:effectLst/>
                <a:highlight>
                  <a:srgbClr val="808000"/>
                </a:highlight>
                <a:latin typeface="Arial" panose="020B0604020202020204" pitchFamily="34" charset="0"/>
              </a:rPr>
              <a:t>šest</a:t>
            </a:r>
            <a:r>
              <a:rPr lang="en-US" b="0" i="0" dirty="0">
                <a:solidFill>
                  <a:schemeClr val="tx1"/>
                </a:solidFill>
                <a:effectLst/>
                <a:highlight>
                  <a:srgbClr val="808000"/>
                </a:highlight>
                <a:latin typeface="Arial" panose="020B0604020202020204" pitchFamily="34" charset="0"/>
              </a:rPr>
              <a:t> </a:t>
            </a:r>
            <a:r>
              <a:rPr lang="en-US" b="0" i="0" dirty="0" err="1">
                <a:solidFill>
                  <a:schemeClr val="tx1"/>
                </a:solidFill>
                <a:effectLst/>
                <a:highlight>
                  <a:srgbClr val="808000"/>
                </a:highlight>
                <a:latin typeface="Arial" panose="020B0604020202020204" pitchFamily="34" charset="0"/>
              </a:rPr>
              <a:t>mjeseci</a:t>
            </a:r>
            <a:r>
              <a:rPr lang="en-US" b="0" i="0" dirty="0">
                <a:solidFill>
                  <a:schemeClr val="tx1"/>
                </a:solidFill>
                <a:effectLst/>
                <a:highlight>
                  <a:srgbClr val="808000"/>
                </a:highlight>
                <a:latin typeface="Arial" panose="020B0604020202020204" pitchFamily="34" charset="0"/>
              </a:rPr>
              <a:t> do pet </a:t>
            </a:r>
            <a:r>
              <a:rPr lang="en-US" b="0" i="0" dirty="0" err="1">
                <a:solidFill>
                  <a:schemeClr val="tx1"/>
                </a:solidFill>
                <a:effectLst/>
                <a:highlight>
                  <a:srgbClr val="808000"/>
                </a:highlight>
                <a:latin typeface="Arial" panose="020B0604020202020204" pitchFamily="34" charset="0"/>
              </a:rPr>
              <a:t>godina</a:t>
            </a:r>
            <a:r>
              <a:rPr lang="en-US" b="0" i="0" dirty="0">
                <a:solidFill>
                  <a:schemeClr val="tx1"/>
                </a:solidFill>
                <a:effectLst/>
                <a:highlight>
                  <a:srgbClr val="808000"/>
                </a:highlight>
                <a:latin typeface="Arial" panose="020B0604020202020204" pitchFamily="34" charset="0"/>
              </a:rPr>
              <a:t>.</a:t>
            </a:r>
          </a:p>
          <a:p>
            <a:pPr algn="l"/>
            <a:r>
              <a:rPr lang="en-US" b="0" i="0" dirty="0">
                <a:solidFill>
                  <a:schemeClr val="tx1"/>
                </a:solidFill>
                <a:effectLst/>
                <a:latin typeface="Arial" panose="020B0604020202020204" pitchFamily="34" charset="0"/>
              </a:rPr>
              <a:t>(3) </a:t>
            </a:r>
            <a:r>
              <a:rPr lang="en-US" b="0" i="0" dirty="0" err="1">
                <a:solidFill>
                  <a:schemeClr val="tx1"/>
                </a:solidFill>
                <a:effectLst/>
                <a:latin typeface="Arial" panose="020B0604020202020204" pitchFamily="34" charset="0"/>
              </a:rPr>
              <a:t>Ako</a:t>
            </a:r>
            <a:r>
              <a:rPr lang="en-US" b="0" i="0" dirty="0">
                <a:solidFill>
                  <a:schemeClr val="tx1"/>
                </a:solidFill>
                <a:effectLst/>
                <a:latin typeface="Arial" panose="020B0604020202020204" pitchFamily="34" charset="0"/>
              </a:rPr>
              <a:t> je </a:t>
            </a:r>
            <a:r>
              <a:rPr lang="en-US" b="0" i="0" dirty="0" err="1">
                <a:solidFill>
                  <a:schemeClr val="tx1"/>
                </a:solidFill>
                <a:effectLst/>
                <a:latin typeface="Arial" panose="020B0604020202020204" pitchFamily="34" charset="0"/>
              </a:rPr>
              <a:t>učinilac</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djela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iz</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stava</a:t>
            </a:r>
            <a:r>
              <a:rPr lang="en-US" b="0" i="0" dirty="0">
                <a:solidFill>
                  <a:schemeClr val="tx1"/>
                </a:solidFill>
                <a:effectLst/>
                <a:latin typeface="Arial" panose="020B0604020202020204" pitchFamily="34" charset="0"/>
              </a:rPr>
              <a:t> 1 </a:t>
            </a:r>
            <a:r>
              <a:rPr lang="en-US" b="0" i="0" dirty="0" err="1">
                <a:solidFill>
                  <a:schemeClr val="tx1"/>
                </a:solidFill>
                <a:effectLst/>
                <a:latin typeface="Arial" panose="020B0604020202020204" pitchFamily="34" charset="0"/>
              </a:rPr>
              <a:t>ovog</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člana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pribavio</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protivpravnu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imovinsku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korist</a:t>
            </a:r>
            <a:r>
              <a:rPr lang="en-US" b="0" i="0" dirty="0">
                <a:solidFill>
                  <a:schemeClr val="tx1"/>
                </a:solidFill>
                <a:effectLst/>
                <a:latin typeface="Arial" panose="020B0604020202020204" pitchFamily="34" charset="0"/>
              </a:rPr>
              <a:t> u </a:t>
            </a:r>
            <a:r>
              <a:rPr lang="en-US" b="0" i="0" dirty="0" err="1">
                <a:solidFill>
                  <a:schemeClr val="tx1"/>
                </a:solidFill>
                <a:effectLst/>
                <a:latin typeface="Arial" panose="020B0604020202020204" pitchFamily="34" charset="0"/>
              </a:rPr>
              <a:t>iznosu</a:t>
            </a:r>
            <a:r>
              <a:rPr lang="en-US" b="0" i="0" dirty="0">
                <a:solidFill>
                  <a:schemeClr val="tx1"/>
                </a:solidFill>
                <a:effectLst/>
                <a:latin typeface="Arial" panose="020B0604020202020204" pitchFamily="34" charset="0"/>
              </a:rPr>
              <a:t> koji </a:t>
            </a:r>
            <a:r>
              <a:rPr lang="en-US" b="0" i="0" dirty="0" err="1">
                <a:solidFill>
                  <a:schemeClr val="tx1"/>
                </a:solidFill>
                <a:effectLst/>
                <a:latin typeface="Arial" panose="020B0604020202020204" pitchFamily="34" charset="0"/>
              </a:rPr>
              <a:t>prelazi</a:t>
            </a:r>
            <a:r>
              <a:rPr lang="en-US" b="0" i="0" dirty="0">
                <a:solidFill>
                  <a:schemeClr val="tx1"/>
                </a:solidFill>
                <a:effectLst/>
                <a:latin typeface="Arial" panose="020B0604020202020204" pitchFamily="34" charset="0"/>
              </a:rPr>
              <a:t> tri </a:t>
            </a:r>
            <a:r>
              <a:rPr lang="en-US" b="0" i="0" dirty="0" err="1">
                <a:solidFill>
                  <a:schemeClr val="tx1"/>
                </a:solidFill>
                <a:effectLst/>
                <a:latin typeface="Arial" panose="020B0604020202020204" pitchFamily="34" charset="0"/>
              </a:rPr>
              <a:t>hiljade</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eura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kazniće</a:t>
            </a:r>
            <a:r>
              <a:rPr lang="en-US" b="0" i="0" dirty="0">
                <a:solidFill>
                  <a:schemeClr val="tx1"/>
                </a:solidFill>
                <a:effectLst/>
                <a:latin typeface="Arial" panose="020B0604020202020204" pitchFamily="34" charset="0"/>
              </a:rPr>
              <a:t> se </a:t>
            </a:r>
            <a:r>
              <a:rPr lang="en-US" b="0" i="0" dirty="0" err="1">
                <a:solidFill>
                  <a:schemeClr val="tx1"/>
                </a:solidFill>
                <a:effectLst/>
                <a:latin typeface="Arial" panose="020B0604020202020204" pitchFamily="34" charset="0"/>
              </a:rPr>
              <a:t>zatvorom</a:t>
            </a:r>
            <a:r>
              <a:rPr lang="en-US" b="0" i="0" dirty="0">
                <a:solidFill>
                  <a:schemeClr val="tx1"/>
                </a:solidFill>
                <a:effectLst/>
                <a:latin typeface="Arial" panose="020B0604020202020204" pitchFamily="34" charset="0"/>
              </a:rPr>
              <a:t> od </a:t>
            </a:r>
            <a:r>
              <a:rPr lang="en-US" b="0" i="0" dirty="0" err="1">
                <a:solidFill>
                  <a:schemeClr val="tx1"/>
                </a:solidFill>
                <a:effectLst/>
                <a:latin typeface="Arial" panose="020B0604020202020204" pitchFamily="34" charset="0"/>
              </a:rPr>
              <a:t>jedne</a:t>
            </a:r>
            <a:r>
              <a:rPr lang="en-US" b="0" i="0" dirty="0">
                <a:solidFill>
                  <a:schemeClr val="tx1"/>
                </a:solidFill>
                <a:effectLst/>
                <a:latin typeface="Arial" panose="020B0604020202020204" pitchFamily="34" charset="0"/>
              </a:rPr>
              <a:t> do </a:t>
            </a:r>
            <a:r>
              <a:rPr lang="en-US" b="0" i="0" dirty="0" err="1">
                <a:solidFill>
                  <a:schemeClr val="tx1"/>
                </a:solidFill>
                <a:effectLst/>
                <a:latin typeface="Arial" panose="020B0604020202020204" pitchFamily="34" charset="0"/>
              </a:rPr>
              <a:t>osam</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godina</a:t>
            </a:r>
            <a:r>
              <a:rPr lang="en-US" b="0" i="0" dirty="0">
                <a:solidFill>
                  <a:schemeClr val="tx1"/>
                </a:solidFill>
                <a:effectLst/>
                <a:latin typeface="Arial" panose="020B0604020202020204" pitchFamily="34" charset="0"/>
              </a:rPr>
              <a:t>.</a:t>
            </a:r>
          </a:p>
          <a:p>
            <a:pPr algn="l"/>
            <a:r>
              <a:rPr lang="en-US" b="0" i="0" dirty="0">
                <a:solidFill>
                  <a:schemeClr val="tx1"/>
                </a:solidFill>
                <a:effectLst/>
                <a:latin typeface="Arial" panose="020B0604020202020204" pitchFamily="34" charset="0"/>
              </a:rPr>
              <a:t>(4) </a:t>
            </a:r>
            <a:r>
              <a:rPr lang="en-US" b="0" i="0" dirty="0" err="1">
                <a:solidFill>
                  <a:schemeClr val="tx1"/>
                </a:solidFill>
                <a:effectLst/>
                <a:latin typeface="Arial" panose="020B0604020202020204" pitchFamily="34" charset="0"/>
              </a:rPr>
              <a:t>Ako</a:t>
            </a:r>
            <a:r>
              <a:rPr lang="en-US" b="0" i="0" dirty="0">
                <a:solidFill>
                  <a:schemeClr val="tx1"/>
                </a:solidFill>
                <a:effectLst/>
                <a:latin typeface="Arial" panose="020B0604020202020204" pitchFamily="34" charset="0"/>
              </a:rPr>
              <a:t> je </a:t>
            </a:r>
            <a:r>
              <a:rPr lang="en-US" b="0" i="0" dirty="0" err="1">
                <a:solidFill>
                  <a:schemeClr val="tx1"/>
                </a:solidFill>
                <a:effectLst/>
                <a:latin typeface="Arial" panose="020B0604020202020204" pitchFamily="34" charset="0"/>
              </a:rPr>
              <a:t>učinilac</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djela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iz</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stava</a:t>
            </a:r>
            <a:r>
              <a:rPr lang="en-US" b="0" i="0" dirty="0">
                <a:solidFill>
                  <a:schemeClr val="tx1"/>
                </a:solidFill>
                <a:effectLst/>
                <a:latin typeface="Arial" panose="020B0604020202020204" pitchFamily="34" charset="0"/>
              </a:rPr>
              <a:t> 1 </a:t>
            </a:r>
            <a:r>
              <a:rPr lang="en-US" b="0" i="0" dirty="0" err="1">
                <a:solidFill>
                  <a:schemeClr val="tx1"/>
                </a:solidFill>
                <a:effectLst/>
                <a:latin typeface="Arial" panose="020B0604020202020204" pitchFamily="34" charset="0"/>
              </a:rPr>
              <a:t>ovog</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člana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pribavio</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protivpravnu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imovinsku</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korist</a:t>
            </a:r>
            <a:r>
              <a:rPr lang="en-US" b="0" i="0" dirty="0">
                <a:solidFill>
                  <a:schemeClr val="tx1"/>
                </a:solidFill>
                <a:effectLst/>
                <a:latin typeface="Arial" panose="020B0604020202020204" pitchFamily="34" charset="0"/>
              </a:rPr>
              <a:t> u </a:t>
            </a:r>
            <a:r>
              <a:rPr lang="en-US" b="0" i="0" dirty="0" err="1">
                <a:solidFill>
                  <a:schemeClr val="tx1"/>
                </a:solidFill>
                <a:effectLst/>
                <a:latin typeface="Arial" panose="020B0604020202020204" pitchFamily="34" charset="0"/>
              </a:rPr>
              <a:t>iznosu</a:t>
            </a:r>
            <a:r>
              <a:rPr lang="en-US" b="0" i="0" dirty="0">
                <a:solidFill>
                  <a:schemeClr val="tx1"/>
                </a:solidFill>
                <a:effectLst/>
                <a:latin typeface="Arial" panose="020B0604020202020204" pitchFamily="34" charset="0"/>
              </a:rPr>
              <a:t> koji </a:t>
            </a:r>
            <a:r>
              <a:rPr lang="en-US" b="0" i="0" dirty="0" err="1">
                <a:solidFill>
                  <a:schemeClr val="tx1"/>
                </a:solidFill>
                <a:effectLst/>
                <a:latin typeface="Arial" panose="020B0604020202020204" pitchFamily="34" charset="0"/>
              </a:rPr>
              <a:t>prelazi</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trideset</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hiljada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eura</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kazniće</a:t>
            </a:r>
            <a:r>
              <a:rPr lang="en-US" b="0" i="0" dirty="0">
                <a:solidFill>
                  <a:schemeClr val="tx1"/>
                </a:solidFill>
                <a:effectLst/>
                <a:latin typeface="Arial" panose="020B0604020202020204" pitchFamily="34" charset="0"/>
              </a:rPr>
              <a:t> se </a:t>
            </a:r>
            <a:r>
              <a:rPr lang="en-US" b="0" i="0" dirty="0" err="1">
                <a:solidFill>
                  <a:schemeClr val="tx1"/>
                </a:solidFill>
                <a:effectLst/>
                <a:latin typeface="Arial" panose="020B0604020202020204" pitchFamily="34" charset="0"/>
              </a:rPr>
              <a:t>zatvorom</a:t>
            </a:r>
            <a:r>
              <a:rPr lang="en-US" b="0" i="0" dirty="0">
                <a:solidFill>
                  <a:schemeClr val="tx1"/>
                </a:solidFill>
                <a:effectLst/>
                <a:latin typeface="Arial" panose="020B0604020202020204" pitchFamily="34" charset="0"/>
              </a:rPr>
              <a:t> od </a:t>
            </a:r>
            <a:r>
              <a:rPr lang="en-US" b="0" i="0" dirty="0" err="1">
                <a:solidFill>
                  <a:schemeClr val="tx1"/>
                </a:solidFill>
                <a:effectLst/>
                <a:latin typeface="Arial" panose="020B0604020202020204" pitchFamily="34" charset="0"/>
              </a:rPr>
              <a:t>dvije</a:t>
            </a:r>
            <a:r>
              <a:rPr lang="en-US" b="0" i="0" dirty="0">
                <a:solidFill>
                  <a:schemeClr val="tx1"/>
                </a:solidFill>
                <a:effectLst/>
                <a:latin typeface="Arial" panose="020B0604020202020204" pitchFamily="34" charset="0"/>
              </a:rPr>
              <a:t> do </a:t>
            </a:r>
            <a:r>
              <a:rPr lang="en-US" b="0" i="0" dirty="0" err="1">
                <a:solidFill>
                  <a:schemeClr val="tx1"/>
                </a:solidFill>
                <a:effectLst/>
                <a:latin typeface="Arial" panose="020B0604020202020204" pitchFamily="34" charset="0"/>
              </a:rPr>
              <a:t>deset</a:t>
            </a:r>
            <a:r>
              <a:rPr lang="en-US" b="0" i="0" dirty="0">
                <a:solidFill>
                  <a:schemeClr val="tx1"/>
                </a:solidFill>
                <a:effectLst/>
                <a:latin typeface="Arial" panose="020B0604020202020204" pitchFamily="34" charset="0"/>
              </a:rPr>
              <a:t> </a:t>
            </a:r>
            <a:r>
              <a:rPr lang="en-US" b="0" i="0" dirty="0" err="1">
                <a:solidFill>
                  <a:schemeClr val="tx1"/>
                </a:solidFill>
                <a:effectLst/>
                <a:latin typeface="Arial" panose="020B0604020202020204" pitchFamily="34" charset="0"/>
              </a:rPr>
              <a:t>godina</a:t>
            </a:r>
            <a:r>
              <a:rPr lang="en-US" b="0" i="0" dirty="0">
                <a:solidFill>
                  <a:schemeClr val="tx1"/>
                </a:solidFill>
                <a:effectLst/>
                <a:latin typeface="Arial" panose="020B0604020202020204" pitchFamily="34" charset="0"/>
              </a:rPr>
              <a:t>.</a:t>
            </a:r>
          </a:p>
          <a:p>
            <a:endParaRPr lang="en-US" dirty="0"/>
          </a:p>
        </p:txBody>
      </p:sp>
    </p:spTree>
    <p:extLst>
      <p:ext uri="{BB962C8B-B14F-4D97-AF65-F5344CB8AC3E}">
        <p14:creationId xmlns:p14="http://schemas.microsoft.com/office/powerpoint/2010/main" val="2971744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DB07E-CACE-C03D-2177-F4807CD76F04}"/>
              </a:ext>
            </a:extLst>
          </p:cNvPr>
          <p:cNvSpPr>
            <a:spLocks noGrp="1"/>
          </p:cNvSpPr>
          <p:nvPr>
            <p:ph type="title"/>
          </p:nvPr>
        </p:nvSpPr>
        <p:spPr>
          <a:xfrm>
            <a:off x="919119" y="317770"/>
            <a:ext cx="10353762" cy="970450"/>
          </a:xfrm>
        </p:spPr>
        <p:txBody>
          <a:bodyPr/>
          <a:lstStyle/>
          <a:p>
            <a:r>
              <a:rPr lang="en-US" dirty="0" err="1"/>
              <a:t>Glava</a:t>
            </a:r>
            <a:r>
              <a:rPr lang="en-US" dirty="0"/>
              <a:t> 23 u Akoma </a:t>
            </a:r>
            <a:r>
              <a:rPr lang="en-US" dirty="0" err="1"/>
              <a:t>Ntoso</a:t>
            </a:r>
            <a:r>
              <a:rPr lang="en-US" dirty="0"/>
              <a:t> </a:t>
            </a:r>
            <a:r>
              <a:rPr lang="en-US" dirty="0" err="1"/>
              <a:t>formatu</a:t>
            </a:r>
            <a:endParaRPr lang="en-US" dirty="0"/>
          </a:p>
        </p:txBody>
      </p:sp>
      <p:pic>
        <p:nvPicPr>
          <p:cNvPr id="5" name="Picture 4">
            <a:extLst>
              <a:ext uri="{FF2B5EF4-FFF2-40B4-BE49-F238E27FC236}">
                <a16:creationId xmlns:a16="http://schemas.microsoft.com/office/drawing/2014/main" id="{8E44478A-E099-0BFB-DCEF-1ACB51D39F5F}"/>
              </a:ext>
            </a:extLst>
          </p:cNvPr>
          <p:cNvPicPr>
            <a:picLocks noChangeAspect="1"/>
          </p:cNvPicPr>
          <p:nvPr/>
        </p:nvPicPr>
        <p:blipFill>
          <a:blip r:embed="rId2"/>
          <a:stretch>
            <a:fillRect/>
          </a:stretch>
        </p:blipFill>
        <p:spPr>
          <a:xfrm>
            <a:off x="1663430" y="1471999"/>
            <a:ext cx="8358701" cy="4776401"/>
          </a:xfrm>
          <a:prstGeom prst="rect">
            <a:avLst/>
          </a:prstGeom>
        </p:spPr>
      </p:pic>
    </p:spTree>
    <p:extLst>
      <p:ext uri="{BB962C8B-B14F-4D97-AF65-F5344CB8AC3E}">
        <p14:creationId xmlns:p14="http://schemas.microsoft.com/office/powerpoint/2010/main" val="393283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16BA6-4682-2780-AC59-0EE8544BDFB7}"/>
              </a:ext>
            </a:extLst>
          </p:cNvPr>
          <p:cNvSpPr>
            <a:spLocks noGrp="1"/>
          </p:cNvSpPr>
          <p:nvPr>
            <p:ph type="title"/>
          </p:nvPr>
        </p:nvSpPr>
        <p:spPr>
          <a:xfrm>
            <a:off x="913795" y="96350"/>
            <a:ext cx="10353762" cy="970450"/>
          </a:xfrm>
        </p:spPr>
        <p:txBody>
          <a:bodyPr/>
          <a:lstStyle/>
          <a:p>
            <a:r>
              <a:rPr lang="sr-Latn-RS" dirty="0"/>
              <a:t>Uzeto je 127 </a:t>
            </a:r>
            <a:r>
              <a:rPr lang="en-US" dirty="0" err="1"/>
              <a:t>presud</a:t>
            </a:r>
            <a:r>
              <a:rPr lang="sr-Latn-RS" dirty="0"/>
              <a:t>a</a:t>
            </a:r>
            <a:r>
              <a:rPr lang="en-US" dirty="0"/>
              <a:t> </a:t>
            </a:r>
            <a:r>
              <a:rPr lang="en-US" dirty="0" err="1"/>
              <a:t>sa</a:t>
            </a:r>
            <a:r>
              <a:rPr lang="en-US" dirty="0"/>
              <a:t> </a:t>
            </a:r>
            <a:r>
              <a:rPr lang="en-US" dirty="0" err="1"/>
              <a:t>sajta</a:t>
            </a:r>
            <a:endParaRPr lang="en-US" dirty="0"/>
          </a:p>
        </p:txBody>
      </p:sp>
      <p:sp>
        <p:nvSpPr>
          <p:cNvPr id="3" name="Content Placeholder 2">
            <a:extLst>
              <a:ext uri="{FF2B5EF4-FFF2-40B4-BE49-F238E27FC236}">
                <a16:creationId xmlns:a16="http://schemas.microsoft.com/office/drawing/2014/main" id="{8C1D9FCF-01F5-E429-4935-8C2FC30B39C9}"/>
              </a:ext>
            </a:extLst>
          </p:cNvPr>
          <p:cNvSpPr>
            <a:spLocks noGrp="1"/>
          </p:cNvSpPr>
          <p:nvPr>
            <p:ph idx="1"/>
          </p:nvPr>
        </p:nvSpPr>
        <p:spPr>
          <a:xfrm>
            <a:off x="75145" y="1706757"/>
            <a:ext cx="4007796" cy="4575243"/>
          </a:xfrm>
        </p:spPr>
        <p:txBody>
          <a:bodyPr/>
          <a:lstStyle/>
          <a:p>
            <a:r>
              <a:rPr lang="en-US" dirty="0"/>
              <a:t>Ovo </a:t>
            </a:r>
            <a:r>
              <a:rPr lang="en-US" dirty="0" err="1"/>
              <a:t>osigurava</a:t>
            </a:r>
            <a:r>
              <a:rPr lang="en-US" dirty="0"/>
              <a:t> </a:t>
            </a:r>
            <a:r>
              <a:rPr lang="en-US" dirty="0" err="1"/>
              <a:t>preciznije</a:t>
            </a:r>
            <a:r>
              <a:rPr lang="en-US" dirty="0"/>
              <a:t> </a:t>
            </a:r>
            <a:r>
              <a:rPr lang="en-US" dirty="0" err="1"/>
              <a:t>dono</a:t>
            </a:r>
            <a:r>
              <a:rPr lang="sr-Latn-RS" dirty="0"/>
              <a:t>šenje odluka, ve</a:t>
            </a:r>
            <a:r>
              <a:rPr lang="en-US" dirty="0"/>
              <a:t>ć</a:t>
            </a:r>
            <a:r>
              <a:rPr lang="sr-Latn-RS" dirty="0"/>
              <a:t>i sample size, naravno previše bi bilo da se to radi ručno za 127 presuda</a:t>
            </a:r>
            <a:r>
              <a:rPr lang="en-US" dirty="0"/>
              <a:t>.</a:t>
            </a:r>
            <a:endParaRPr lang="sr-Latn-RS" dirty="0"/>
          </a:p>
          <a:p>
            <a:r>
              <a:rPr lang="sr-Latn-RS" dirty="0"/>
              <a:t>Search po Čl. 258 i Čl. 260. i prolazak kroz sve osnov</a:t>
            </a:r>
            <a:r>
              <a:rPr lang="en-US" dirty="0"/>
              <a:t>n</a:t>
            </a:r>
            <a:r>
              <a:rPr lang="sr-Latn-RS" dirty="0"/>
              <a:t>e sudove za krivčne presude.</a:t>
            </a:r>
          </a:p>
          <a:p>
            <a:r>
              <a:rPr lang="sr-Latn-RS" dirty="0"/>
              <a:t>Odabir svake presude, njihovo prebacivanje u tekstualne fajlove sa istim imenom.</a:t>
            </a:r>
          </a:p>
          <a:p>
            <a:endParaRPr lang="en-US" dirty="0"/>
          </a:p>
        </p:txBody>
      </p:sp>
      <p:pic>
        <p:nvPicPr>
          <p:cNvPr id="5" name="Picture 4">
            <a:extLst>
              <a:ext uri="{FF2B5EF4-FFF2-40B4-BE49-F238E27FC236}">
                <a16:creationId xmlns:a16="http://schemas.microsoft.com/office/drawing/2014/main" id="{01EC248B-017B-946B-9636-184EDE593BD3}"/>
              </a:ext>
            </a:extLst>
          </p:cNvPr>
          <p:cNvPicPr>
            <a:picLocks noChangeAspect="1"/>
          </p:cNvPicPr>
          <p:nvPr/>
        </p:nvPicPr>
        <p:blipFill>
          <a:blip r:embed="rId2"/>
          <a:stretch>
            <a:fillRect/>
          </a:stretch>
        </p:blipFill>
        <p:spPr>
          <a:xfrm>
            <a:off x="4238581" y="1401370"/>
            <a:ext cx="7878274" cy="4658375"/>
          </a:xfrm>
          <a:prstGeom prst="rect">
            <a:avLst/>
          </a:prstGeom>
        </p:spPr>
      </p:pic>
    </p:spTree>
    <p:extLst>
      <p:ext uri="{BB962C8B-B14F-4D97-AF65-F5344CB8AC3E}">
        <p14:creationId xmlns:p14="http://schemas.microsoft.com/office/powerpoint/2010/main" val="2237551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660C7F-BF3E-8F37-E90F-C29A337437E2}"/>
              </a:ext>
            </a:extLst>
          </p:cNvPr>
          <p:cNvSpPr>
            <a:spLocks noGrp="1"/>
          </p:cNvSpPr>
          <p:nvPr>
            <p:ph idx="1"/>
          </p:nvPr>
        </p:nvSpPr>
        <p:spPr>
          <a:xfrm>
            <a:off x="719242" y="886142"/>
            <a:ext cx="5182205" cy="4058751"/>
          </a:xfrm>
        </p:spPr>
        <p:txBody>
          <a:bodyPr/>
          <a:lstStyle/>
          <a:p>
            <a:r>
              <a:rPr lang="sr-Latn-RS" dirty="0"/>
              <a:t>Svaka presuda kopirana u posebni tekstualni fajl da bi se lakše ti tekstualni fajlovi prevodili u </a:t>
            </a:r>
            <a:r>
              <a:rPr lang="en-US" dirty="0"/>
              <a:t>A</a:t>
            </a:r>
            <a:r>
              <a:rPr lang="sr-Latn-RS" dirty="0"/>
              <a:t>kom</a:t>
            </a:r>
            <a:r>
              <a:rPr lang="en-US" dirty="0"/>
              <a:t>a </a:t>
            </a:r>
            <a:r>
              <a:rPr lang="sr-Latn-RS" dirty="0"/>
              <a:t>ntoso format.</a:t>
            </a:r>
          </a:p>
          <a:p>
            <a:r>
              <a:rPr lang="sr-Latn-RS" dirty="0"/>
              <a:t>Prethodno su sve tekstualne informacije o slučajevima bile nabacane u jedan tekstual</a:t>
            </a:r>
            <a:r>
              <a:rPr lang="en-US" dirty="0"/>
              <a:t>n</a:t>
            </a:r>
            <a:r>
              <a:rPr lang="sr-Latn-RS" dirty="0"/>
              <a:t>i fajl i tu je bilo dosta problema.</a:t>
            </a:r>
          </a:p>
          <a:p>
            <a:r>
              <a:rPr lang="sr-Latn-RS" dirty="0"/>
              <a:t>Onda je odlučeno da će svaki txt fajl postati posebni </a:t>
            </a:r>
            <a:r>
              <a:rPr lang="en-US" dirty="0"/>
              <a:t>A</a:t>
            </a:r>
            <a:r>
              <a:rPr lang="sr-Latn-RS" dirty="0"/>
              <a:t>koma</a:t>
            </a:r>
            <a:r>
              <a:rPr lang="en-US" dirty="0"/>
              <a:t> </a:t>
            </a:r>
            <a:r>
              <a:rPr lang="sr-Latn-RS" dirty="0"/>
              <a:t>ntoso</a:t>
            </a:r>
            <a:r>
              <a:rPr lang="en-US" dirty="0"/>
              <a:t>,</a:t>
            </a:r>
            <a:r>
              <a:rPr lang="sr-Latn-RS" dirty="0"/>
              <a:t> onda će lako moći da se isprave nedostaci pojedinih fajlova jer kad vidi koji nije dobar</a:t>
            </a:r>
            <a:r>
              <a:rPr lang="en-US" dirty="0"/>
              <a:t>,</a:t>
            </a:r>
            <a:r>
              <a:rPr lang="sr-Latn-RS" dirty="0"/>
              <a:t> </a:t>
            </a:r>
            <a:r>
              <a:rPr lang="en-US" dirty="0" err="1"/>
              <a:t>onda</a:t>
            </a:r>
            <a:r>
              <a:rPr lang="en-US" dirty="0"/>
              <a:t> </a:t>
            </a:r>
            <a:r>
              <a:rPr lang="sr-Latn-RS" dirty="0"/>
              <a:t>zna</a:t>
            </a:r>
            <a:r>
              <a:rPr lang="en-US" dirty="0"/>
              <a:t>m</a:t>
            </a:r>
            <a:r>
              <a:rPr lang="sr-Latn-RS" dirty="0"/>
              <a:t> tačno koji txt fajl da gleda</a:t>
            </a:r>
            <a:r>
              <a:rPr lang="en-US" dirty="0" err="1"/>
              <a:t>mo</a:t>
            </a:r>
            <a:r>
              <a:rPr lang="sr-Latn-RS" dirty="0"/>
              <a:t>.</a:t>
            </a:r>
          </a:p>
          <a:p>
            <a:endParaRPr lang="en-US" dirty="0"/>
          </a:p>
        </p:txBody>
      </p:sp>
      <p:pic>
        <p:nvPicPr>
          <p:cNvPr id="5" name="Picture 4">
            <a:extLst>
              <a:ext uri="{FF2B5EF4-FFF2-40B4-BE49-F238E27FC236}">
                <a16:creationId xmlns:a16="http://schemas.microsoft.com/office/drawing/2014/main" id="{B48444EC-FA83-CEF8-B64D-F6D76A4AE990}"/>
              </a:ext>
            </a:extLst>
          </p:cNvPr>
          <p:cNvPicPr>
            <a:picLocks noChangeAspect="1"/>
          </p:cNvPicPr>
          <p:nvPr/>
        </p:nvPicPr>
        <p:blipFill>
          <a:blip r:embed="rId2"/>
          <a:stretch>
            <a:fillRect/>
          </a:stretch>
        </p:blipFill>
        <p:spPr>
          <a:xfrm>
            <a:off x="6396145" y="511125"/>
            <a:ext cx="5763429" cy="5563376"/>
          </a:xfrm>
          <a:prstGeom prst="rect">
            <a:avLst/>
          </a:prstGeom>
        </p:spPr>
      </p:pic>
    </p:spTree>
    <p:extLst>
      <p:ext uri="{BB962C8B-B14F-4D97-AF65-F5344CB8AC3E}">
        <p14:creationId xmlns:p14="http://schemas.microsoft.com/office/powerpoint/2010/main" val="25875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5BE0C-DF80-256B-AEF7-84B3F92747F9}"/>
              </a:ext>
            </a:extLst>
          </p:cNvPr>
          <p:cNvSpPr>
            <a:spLocks noGrp="1"/>
          </p:cNvSpPr>
          <p:nvPr>
            <p:ph type="title"/>
          </p:nvPr>
        </p:nvSpPr>
        <p:spPr>
          <a:xfrm>
            <a:off x="919119" y="321012"/>
            <a:ext cx="10353762" cy="970450"/>
          </a:xfrm>
        </p:spPr>
        <p:txBody>
          <a:bodyPr/>
          <a:lstStyle/>
          <a:p>
            <a:r>
              <a:rPr lang="sr-Latn-RS" dirty="0"/>
              <a:t>Skripte za case fajlove</a:t>
            </a:r>
            <a:endParaRPr lang="en-US" dirty="0"/>
          </a:p>
        </p:txBody>
      </p:sp>
      <p:sp>
        <p:nvSpPr>
          <p:cNvPr id="3" name="Content Placeholder 2">
            <a:extLst>
              <a:ext uri="{FF2B5EF4-FFF2-40B4-BE49-F238E27FC236}">
                <a16:creationId xmlns:a16="http://schemas.microsoft.com/office/drawing/2014/main" id="{E6D49561-5F10-79B1-54EC-4AD27828FB58}"/>
              </a:ext>
            </a:extLst>
          </p:cNvPr>
          <p:cNvSpPr>
            <a:spLocks noGrp="1"/>
          </p:cNvSpPr>
          <p:nvPr>
            <p:ph idx="1"/>
          </p:nvPr>
        </p:nvSpPr>
        <p:spPr>
          <a:xfrm>
            <a:off x="1037435" y="1564995"/>
            <a:ext cx="10460658" cy="4058751"/>
          </a:xfrm>
        </p:spPr>
        <p:txBody>
          <a:bodyPr/>
          <a:lstStyle/>
          <a:p>
            <a:r>
              <a:rPr lang="sr-Latn-RS" dirty="0"/>
              <a:t>Uz asistenciju agenta od github kopilota su pravljenje python skripte koje prebacuju te</a:t>
            </a:r>
            <a:r>
              <a:rPr lang="en-US" dirty="0" err="1"/>
              <a:t>ks</a:t>
            </a:r>
            <a:r>
              <a:rPr lang="sr-Latn-RS" dirty="0"/>
              <a:t>tualne fajlove u Akom</a:t>
            </a:r>
            <a:r>
              <a:rPr lang="en-US" dirty="0"/>
              <a:t>a n</a:t>
            </a:r>
            <a:r>
              <a:rPr lang="sr-Latn-RS" dirty="0"/>
              <a:t>toso fajlove. </a:t>
            </a:r>
          </a:p>
          <a:p>
            <a:r>
              <a:rPr lang="sr-Latn-RS" dirty="0"/>
              <a:t>Naziv tekstualnih fajlova je u šablonu broj slučaja pa godina i na osnovu toga se dodeljuju imena </a:t>
            </a:r>
            <a:r>
              <a:rPr lang="en-US" dirty="0"/>
              <a:t>A</a:t>
            </a:r>
            <a:r>
              <a:rPr lang="sr-Latn-RS" dirty="0"/>
              <a:t>koma ntoso fajlovima.</a:t>
            </a:r>
          </a:p>
          <a:p>
            <a:r>
              <a:rPr lang="sr-Latn-RS" dirty="0"/>
              <a:t>Prepoznajemo reči koje se nalaze u fajlovima i onda imamo funkcije koje vraćaju odredjene vrednosti u zavisnosti od pronadjenih reči.</a:t>
            </a:r>
          </a:p>
          <a:p>
            <a:r>
              <a:rPr lang="sr-Latn-RS" dirty="0"/>
              <a:t>Te funkcije su uz pomoć velike količine „trial and error“ dovedene do toga da nema više nepostojećih</a:t>
            </a:r>
            <a:r>
              <a:rPr lang="en-US" dirty="0"/>
              <a:t> </a:t>
            </a:r>
            <a:r>
              <a:rPr lang="en-US" dirty="0" err="1"/>
              <a:t>podataka</a:t>
            </a:r>
            <a:r>
              <a:rPr lang="sr-Latn-RS" dirty="0"/>
              <a:t> koj</a:t>
            </a:r>
            <a:r>
              <a:rPr lang="en-US" dirty="0" err="1"/>
              <a:t>i</a:t>
            </a:r>
            <a:r>
              <a:rPr lang="sr-Latn-RS" dirty="0"/>
              <a:t> se ne ekstrak</a:t>
            </a:r>
            <a:r>
              <a:rPr lang="en-US" dirty="0"/>
              <a:t>t</a:t>
            </a:r>
            <a:r>
              <a:rPr lang="sr-Latn-RS" dirty="0"/>
              <a:t>uju, svi šabloni za pisanje koji su korisni od raznih </a:t>
            </a:r>
            <a:r>
              <a:rPr lang="en-US" dirty="0" err="1"/>
              <a:t>slučajeva</a:t>
            </a:r>
            <a:r>
              <a:rPr lang="sr-Latn-RS" dirty="0"/>
              <a:t> su uočeni i pretočeni u regekse</a:t>
            </a:r>
            <a:r>
              <a:rPr lang="en-US" dirty="0"/>
              <a:t>.</a:t>
            </a:r>
          </a:p>
        </p:txBody>
      </p:sp>
    </p:spTree>
    <p:extLst>
      <p:ext uri="{BB962C8B-B14F-4D97-AF65-F5344CB8AC3E}">
        <p14:creationId xmlns:p14="http://schemas.microsoft.com/office/powerpoint/2010/main" val="1762632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D9EA6-43F2-8F82-536E-BC836BB930C0}"/>
              </a:ext>
            </a:extLst>
          </p:cNvPr>
          <p:cNvSpPr>
            <a:spLocks noGrp="1"/>
          </p:cNvSpPr>
          <p:nvPr>
            <p:ph type="title"/>
          </p:nvPr>
        </p:nvSpPr>
        <p:spPr>
          <a:xfrm>
            <a:off x="913795" y="0"/>
            <a:ext cx="10353762" cy="970450"/>
          </a:xfrm>
        </p:spPr>
        <p:txBody>
          <a:bodyPr>
            <a:normAutofit/>
          </a:bodyPr>
          <a:lstStyle/>
          <a:p>
            <a:r>
              <a:rPr lang="sr-Latn-RS" dirty="0"/>
              <a:t>Skripte za case fajlove</a:t>
            </a:r>
            <a:endParaRPr lang="en-US" dirty="0"/>
          </a:p>
        </p:txBody>
      </p:sp>
      <p:pic>
        <p:nvPicPr>
          <p:cNvPr id="7" name="Content Placeholder 6">
            <a:extLst>
              <a:ext uri="{FF2B5EF4-FFF2-40B4-BE49-F238E27FC236}">
                <a16:creationId xmlns:a16="http://schemas.microsoft.com/office/drawing/2014/main" id="{209FF03F-4205-DA15-244C-B65ECFCA6B2C}"/>
              </a:ext>
            </a:extLst>
          </p:cNvPr>
          <p:cNvPicPr>
            <a:picLocks noGrp="1" noChangeAspect="1"/>
          </p:cNvPicPr>
          <p:nvPr>
            <p:ph idx="1"/>
          </p:nvPr>
        </p:nvPicPr>
        <p:blipFill>
          <a:blip r:embed="rId2"/>
          <a:stretch>
            <a:fillRect/>
          </a:stretch>
        </p:blipFill>
        <p:spPr>
          <a:xfrm>
            <a:off x="2208407" y="2810267"/>
            <a:ext cx="8926171" cy="3982006"/>
          </a:xfrm>
        </p:spPr>
      </p:pic>
      <p:sp>
        <p:nvSpPr>
          <p:cNvPr id="8" name="Content Placeholder 2">
            <a:extLst>
              <a:ext uri="{FF2B5EF4-FFF2-40B4-BE49-F238E27FC236}">
                <a16:creationId xmlns:a16="http://schemas.microsoft.com/office/drawing/2014/main" id="{045AF476-9B22-C923-D340-227B737F08F5}"/>
              </a:ext>
            </a:extLst>
          </p:cNvPr>
          <p:cNvSpPr txBox="1">
            <a:spLocks/>
          </p:cNvSpPr>
          <p:nvPr/>
        </p:nvSpPr>
        <p:spPr>
          <a:xfrm>
            <a:off x="-87760" y="416847"/>
            <a:ext cx="2477489" cy="6024306"/>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Gledamo bračni status</a:t>
            </a:r>
            <a:r>
              <a:rPr lang="en-US" dirty="0"/>
              <a:t>.</a:t>
            </a:r>
            <a:endParaRPr lang="sr-Latn-RS" dirty="0"/>
          </a:p>
          <a:p>
            <a:endParaRPr lang="sr-Latn-RS" dirty="0"/>
          </a:p>
          <a:p>
            <a:endParaRPr lang="sr-Latn-RS" dirty="0"/>
          </a:p>
          <a:p>
            <a:endParaRPr lang="sr-Latn-RS" dirty="0"/>
          </a:p>
          <a:p>
            <a:r>
              <a:rPr lang="sr-Latn-RS" dirty="0"/>
              <a:t>Konvertujemo string u float tako sto zamenjujemo tačke sa praznim mestom a zareze sa tačkom da bi dobili tačan iznos eura u floatu.</a:t>
            </a:r>
          </a:p>
          <a:p>
            <a:r>
              <a:rPr lang="sr-Latn-RS" dirty="0"/>
              <a:t>Količina novca je izuzetno bitna u kasnijem ras</a:t>
            </a:r>
            <a:r>
              <a:rPr lang="en-US" dirty="0"/>
              <a:t>u</a:t>
            </a:r>
            <a:r>
              <a:rPr lang="sr-Latn-RS" dirty="0"/>
              <a:t>djivanju</a:t>
            </a:r>
            <a:r>
              <a:rPr lang="en-US" dirty="0"/>
              <a:t>.</a:t>
            </a:r>
          </a:p>
        </p:txBody>
      </p:sp>
      <p:pic>
        <p:nvPicPr>
          <p:cNvPr id="10" name="Picture 9">
            <a:extLst>
              <a:ext uri="{FF2B5EF4-FFF2-40B4-BE49-F238E27FC236}">
                <a16:creationId xmlns:a16="http://schemas.microsoft.com/office/drawing/2014/main" id="{32552C0F-28DD-7483-B480-DA831AD0EF4C}"/>
              </a:ext>
            </a:extLst>
          </p:cNvPr>
          <p:cNvPicPr>
            <a:picLocks noChangeAspect="1"/>
          </p:cNvPicPr>
          <p:nvPr/>
        </p:nvPicPr>
        <p:blipFill>
          <a:blip r:embed="rId3"/>
          <a:stretch>
            <a:fillRect/>
          </a:stretch>
        </p:blipFill>
        <p:spPr>
          <a:xfrm>
            <a:off x="2279545" y="84310"/>
            <a:ext cx="9989567" cy="2605974"/>
          </a:xfrm>
          <a:prstGeom prst="rect">
            <a:avLst/>
          </a:prstGeom>
        </p:spPr>
      </p:pic>
    </p:spTree>
    <p:extLst>
      <p:ext uri="{BB962C8B-B14F-4D97-AF65-F5344CB8AC3E}">
        <p14:creationId xmlns:p14="http://schemas.microsoft.com/office/powerpoint/2010/main" val="192053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6E54849-338B-14EC-102F-6D47E4B049F0}"/>
              </a:ext>
            </a:extLst>
          </p:cNvPr>
          <p:cNvPicPr>
            <a:picLocks noChangeAspect="1"/>
          </p:cNvPicPr>
          <p:nvPr/>
        </p:nvPicPr>
        <p:blipFill>
          <a:blip r:embed="rId2"/>
          <a:stretch>
            <a:fillRect/>
          </a:stretch>
        </p:blipFill>
        <p:spPr>
          <a:xfrm>
            <a:off x="3344982" y="0"/>
            <a:ext cx="8926171" cy="1657581"/>
          </a:xfrm>
          <a:prstGeom prst="rect">
            <a:avLst/>
          </a:prstGeom>
        </p:spPr>
      </p:pic>
      <p:pic>
        <p:nvPicPr>
          <p:cNvPr id="7" name="Picture 6">
            <a:extLst>
              <a:ext uri="{FF2B5EF4-FFF2-40B4-BE49-F238E27FC236}">
                <a16:creationId xmlns:a16="http://schemas.microsoft.com/office/drawing/2014/main" id="{7226F091-6A6B-DBBE-E2C6-4BBFB5377142}"/>
              </a:ext>
            </a:extLst>
          </p:cNvPr>
          <p:cNvPicPr>
            <a:picLocks noChangeAspect="1"/>
          </p:cNvPicPr>
          <p:nvPr/>
        </p:nvPicPr>
        <p:blipFill>
          <a:blip r:embed="rId3"/>
          <a:stretch>
            <a:fillRect/>
          </a:stretch>
        </p:blipFill>
        <p:spPr>
          <a:xfrm>
            <a:off x="2951460" y="1623534"/>
            <a:ext cx="9240540" cy="1667108"/>
          </a:xfrm>
          <a:prstGeom prst="rect">
            <a:avLst/>
          </a:prstGeom>
        </p:spPr>
      </p:pic>
      <p:pic>
        <p:nvPicPr>
          <p:cNvPr id="9" name="Picture 8">
            <a:extLst>
              <a:ext uri="{FF2B5EF4-FFF2-40B4-BE49-F238E27FC236}">
                <a16:creationId xmlns:a16="http://schemas.microsoft.com/office/drawing/2014/main" id="{BF38614B-1103-B328-3E32-A57708BDE729}"/>
              </a:ext>
            </a:extLst>
          </p:cNvPr>
          <p:cNvPicPr>
            <a:picLocks noChangeAspect="1"/>
          </p:cNvPicPr>
          <p:nvPr/>
        </p:nvPicPr>
        <p:blipFill>
          <a:blip r:embed="rId4"/>
          <a:stretch>
            <a:fillRect/>
          </a:stretch>
        </p:blipFill>
        <p:spPr>
          <a:xfrm>
            <a:off x="5452801" y="2901237"/>
            <a:ext cx="6739199" cy="3697200"/>
          </a:xfrm>
          <a:prstGeom prst="rect">
            <a:avLst/>
          </a:prstGeom>
        </p:spPr>
      </p:pic>
      <p:sp>
        <p:nvSpPr>
          <p:cNvPr id="10" name="Content Placeholder 2">
            <a:extLst>
              <a:ext uri="{FF2B5EF4-FFF2-40B4-BE49-F238E27FC236}">
                <a16:creationId xmlns:a16="http://schemas.microsoft.com/office/drawing/2014/main" id="{439066A3-1045-D502-7E75-5E6D15FA8D04}"/>
              </a:ext>
            </a:extLst>
          </p:cNvPr>
          <p:cNvSpPr>
            <a:spLocks noGrp="1"/>
          </p:cNvSpPr>
          <p:nvPr>
            <p:ph idx="1"/>
          </p:nvPr>
        </p:nvSpPr>
        <p:spPr>
          <a:xfrm>
            <a:off x="181401" y="250034"/>
            <a:ext cx="2892539" cy="6024306"/>
          </a:xfrm>
        </p:spPr>
        <p:txBody>
          <a:bodyPr>
            <a:normAutofit lnSpcReduction="10000"/>
          </a:bodyPr>
          <a:lstStyle/>
          <a:p>
            <a:r>
              <a:rPr lang="sr-Latn-RS" dirty="0"/>
              <a:t>Tražimo da li je bio samo pokušaj, ili je krivično delo uspešno izvedeno</a:t>
            </a:r>
            <a:r>
              <a:rPr lang="en-US" dirty="0"/>
              <a:t>.</a:t>
            </a:r>
            <a:endParaRPr lang="sr-Latn-RS" dirty="0"/>
          </a:p>
          <a:p>
            <a:endParaRPr lang="sr-Latn-RS" dirty="0"/>
          </a:p>
          <a:p>
            <a:r>
              <a:rPr lang="sr-Latn-RS" dirty="0"/>
              <a:t>Da li postoji sau</a:t>
            </a:r>
            <a:r>
              <a:rPr lang="en-US" dirty="0"/>
              <a:t>č</a:t>
            </a:r>
            <a:r>
              <a:rPr lang="sr-Latn-RS" dirty="0"/>
              <a:t>esnik</a:t>
            </a:r>
            <a:r>
              <a:rPr lang="en-US" dirty="0"/>
              <a:t>.</a:t>
            </a:r>
            <a:endParaRPr lang="sr-Latn-RS" dirty="0"/>
          </a:p>
          <a:p>
            <a:endParaRPr lang="sr-Latn-RS" dirty="0"/>
          </a:p>
          <a:p>
            <a:endParaRPr lang="sr-Latn-RS" dirty="0"/>
          </a:p>
          <a:p>
            <a:endParaRPr lang="sr-Latn-RS" dirty="0"/>
          </a:p>
          <a:p>
            <a:r>
              <a:rPr lang="sr-Latn-RS" dirty="0"/>
              <a:t>Na osnovu teksta kazne tražimo u kojoj jedinici je kazna izrečena u teskstualnom obliku i onda to konvertujemo u broj</a:t>
            </a:r>
            <a:r>
              <a:rPr lang="en-US" dirty="0"/>
              <a:t>.</a:t>
            </a:r>
          </a:p>
        </p:txBody>
      </p:sp>
    </p:spTree>
    <p:extLst>
      <p:ext uri="{BB962C8B-B14F-4D97-AF65-F5344CB8AC3E}">
        <p14:creationId xmlns:p14="http://schemas.microsoft.com/office/powerpoint/2010/main" val="1040303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0C19039-1404-97B1-AEA2-95B89810D40D}"/>
              </a:ext>
            </a:extLst>
          </p:cNvPr>
          <p:cNvPicPr>
            <a:picLocks noChangeAspect="1"/>
          </p:cNvPicPr>
          <p:nvPr/>
        </p:nvPicPr>
        <p:blipFill>
          <a:blip r:embed="rId2"/>
          <a:stretch>
            <a:fillRect/>
          </a:stretch>
        </p:blipFill>
        <p:spPr>
          <a:xfrm>
            <a:off x="1855933" y="265865"/>
            <a:ext cx="10336067" cy="5982535"/>
          </a:xfrm>
          <a:prstGeom prst="rect">
            <a:avLst/>
          </a:prstGeom>
        </p:spPr>
      </p:pic>
      <p:sp>
        <p:nvSpPr>
          <p:cNvPr id="6" name="Content Placeholder 2">
            <a:extLst>
              <a:ext uri="{FF2B5EF4-FFF2-40B4-BE49-F238E27FC236}">
                <a16:creationId xmlns:a16="http://schemas.microsoft.com/office/drawing/2014/main" id="{3706AA5D-C51A-D745-AECC-0DE13CC5D27A}"/>
              </a:ext>
            </a:extLst>
          </p:cNvPr>
          <p:cNvSpPr txBox="1">
            <a:spLocks/>
          </p:cNvSpPr>
          <p:nvPr/>
        </p:nvSpPr>
        <p:spPr>
          <a:xfrm>
            <a:off x="-145915" y="488170"/>
            <a:ext cx="2477489" cy="6024306"/>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Gomila paterna za ekstraktovanje </a:t>
            </a:r>
            <a:r>
              <a:rPr lang="en-US" dirty="0" err="1"/>
              <a:t>i</a:t>
            </a:r>
            <a:r>
              <a:rPr lang="sr-Latn-RS" dirty="0"/>
              <a:t>mena i prezimena zapiničara.</a:t>
            </a:r>
          </a:p>
          <a:p>
            <a:r>
              <a:rPr lang="sr-Latn-RS" dirty="0"/>
              <a:t>Tu je bilo dosta nepoznatih vrednosti dok nisu dodati svi ovi regeksi koji ih mogu pokupiti iz baš svakog </a:t>
            </a:r>
            <a:r>
              <a:rPr lang="en-US" dirty="0"/>
              <a:t>A</a:t>
            </a:r>
            <a:r>
              <a:rPr lang="sr-Latn-RS" dirty="0"/>
              <a:t>koma ntoso fajla.</a:t>
            </a:r>
            <a:endParaRPr lang="en-US" dirty="0"/>
          </a:p>
        </p:txBody>
      </p:sp>
    </p:spTree>
    <p:extLst>
      <p:ext uri="{BB962C8B-B14F-4D97-AF65-F5344CB8AC3E}">
        <p14:creationId xmlns:p14="http://schemas.microsoft.com/office/powerpoint/2010/main" val="2055100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7250D-F2C6-18CD-0268-57FB1EFC6461}"/>
            </a:ext>
          </a:extLst>
        </p:cNvPr>
        <p:cNvGrpSpPr/>
        <p:nvPr/>
      </p:nvGrpSpPr>
      <p:grpSpPr>
        <a:xfrm>
          <a:off x="0" y="0"/>
          <a:ext cx="0" cy="0"/>
          <a:chOff x="0" y="0"/>
          <a:chExt cx="0" cy="0"/>
        </a:xfrm>
      </p:grpSpPr>
      <p:sp>
        <p:nvSpPr>
          <p:cNvPr id="6" name="Content Placeholder 2">
            <a:extLst>
              <a:ext uri="{FF2B5EF4-FFF2-40B4-BE49-F238E27FC236}">
                <a16:creationId xmlns:a16="http://schemas.microsoft.com/office/drawing/2014/main" id="{9D24A009-9FB4-50C4-0C5F-07027E774D76}"/>
              </a:ext>
            </a:extLst>
          </p:cNvPr>
          <p:cNvSpPr txBox="1">
            <a:spLocks/>
          </p:cNvSpPr>
          <p:nvPr/>
        </p:nvSpPr>
        <p:spPr>
          <a:xfrm>
            <a:off x="-145915" y="488170"/>
            <a:ext cx="2610819" cy="6024306"/>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Razni patterni za dokaze poput imena ban</a:t>
            </a:r>
            <a:r>
              <a:rPr lang="en-US" dirty="0"/>
              <a:t>ki,</a:t>
            </a:r>
            <a:r>
              <a:rPr lang="sr-Latn-RS" dirty="0"/>
              <a:t> izveštaja, fotodokumentacije i svega ostalog.</a:t>
            </a:r>
            <a:endParaRPr lang="en-US" dirty="0"/>
          </a:p>
        </p:txBody>
      </p:sp>
      <p:pic>
        <p:nvPicPr>
          <p:cNvPr id="3" name="Picture 2">
            <a:extLst>
              <a:ext uri="{FF2B5EF4-FFF2-40B4-BE49-F238E27FC236}">
                <a16:creationId xmlns:a16="http://schemas.microsoft.com/office/drawing/2014/main" id="{B85ACDC2-0F89-9D84-EB1D-F17BF3552475}"/>
              </a:ext>
            </a:extLst>
          </p:cNvPr>
          <p:cNvPicPr>
            <a:picLocks noChangeAspect="1"/>
          </p:cNvPicPr>
          <p:nvPr/>
        </p:nvPicPr>
        <p:blipFill>
          <a:blip r:embed="rId2"/>
          <a:stretch>
            <a:fillRect/>
          </a:stretch>
        </p:blipFill>
        <p:spPr>
          <a:xfrm>
            <a:off x="2331574" y="158663"/>
            <a:ext cx="10012172" cy="6211167"/>
          </a:xfrm>
          <a:prstGeom prst="rect">
            <a:avLst/>
          </a:prstGeom>
        </p:spPr>
      </p:pic>
    </p:spTree>
    <p:extLst>
      <p:ext uri="{BB962C8B-B14F-4D97-AF65-F5344CB8AC3E}">
        <p14:creationId xmlns:p14="http://schemas.microsoft.com/office/powerpoint/2010/main" val="1201512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A65BA-8662-F8DE-8D7E-41C7AFBCC1F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25F2AEF-8766-A4DF-0AE1-C0F8CBA5DE47}"/>
              </a:ext>
            </a:extLst>
          </p:cNvPr>
          <p:cNvPicPr>
            <a:picLocks noChangeAspect="1"/>
          </p:cNvPicPr>
          <p:nvPr/>
        </p:nvPicPr>
        <p:blipFill>
          <a:blip r:embed="rId2"/>
          <a:stretch>
            <a:fillRect/>
          </a:stretch>
        </p:blipFill>
        <p:spPr>
          <a:xfrm>
            <a:off x="284939" y="795131"/>
            <a:ext cx="11574490" cy="2257740"/>
          </a:xfrm>
          <a:prstGeom prst="rect">
            <a:avLst/>
          </a:prstGeom>
        </p:spPr>
      </p:pic>
      <p:pic>
        <p:nvPicPr>
          <p:cNvPr id="7" name="Picture 6">
            <a:extLst>
              <a:ext uri="{FF2B5EF4-FFF2-40B4-BE49-F238E27FC236}">
                <a16:creationId xmlns:a16="http://schemas.microsoft.com/office/drawing/2014/main" id="{5024037E-6C80-8B5D-6FFF-FEC6DCC1D86B}"/>
              </a:ext>
            </a:extLst>
          </p:cNvPr>
          <p:cNvPicPr>
            <a:picLocks noChangeAspect="1"/>
          </p:cNvPicPr>
          <p:nvPr/>
        </p:nvPicPr>
        <p:blipFill>
          <a:blip r:embed="rId3"/>
          <a:stretch>
            <a:fillRect/>
          </a:stretch>
        </p:blipFill>
        <p:spPr>
          <a:xfrm>
            <a:off x="284939" y="3503699"/>
            <a:ext cx="11526859" cy="2791215"/>
          </a:xfrm>
          <a:prstGeom prst="rect">
            <a:avLst/>
          </a:prstGeom>
        </p:spPr>
      </p:pic>
      <p:sp>
        <p:nvSpPr>
          <p:cNvPr id="8" name="Content Placeholder 2">
            <a:extLst>
              <a:ext uri="{FF2B5EF4-FFF2-40B4-BE49-F238E27FC236}">
                <a16:creationId xmlns:a16="http://schemas.microsoft.com/office/drawing/2014/main" id="{EFA308E2-27B5-D626-97B5-E52274625761}"/>
              </a:ext>
            </a:extLst>
          </p:cNvPr>
          <p:cNvSpPr>
            <a:spLocks noGrp="1"/>
          </p:cNvSpPr>
          <p:nvPr>
            <p:ph idx="1"/>
          </p:nvPr>
        </p:nvSpPr>
        <p:spPr>
          <a:xfrm>
            <a:off x="148679" y="416847"/>
            <a:ext cx="11894642" cy="5196013"/>
          </a:xfrm>
        </p:spPr>
        <p:txBody>
          <a:bodyPr>
            <a:normAutofit/>
          </a:bodyPr>
          <a:lstStyle/>
          <a:p>
            <a:r>
              <a:rPr lang="sr-Latn-RS" dirty="0"/>
              <a:t>Pronalazak kazne</a:t>
            </a:r>
            <a:r>
              <a:rPr lang="en-US" dirty="0"/>
              <a:t>.</a:t>
            </a:r>
            <a:endParaRPr lang="sr-Latn-RS" dirty="0"/>
          </a:p>
          <a:p>
            <a:endParaRPr lang="sr-Latn-RS" dirty="0"/>
          </a:p>
          <a:p>
            <a:endParaRPr lang="sr-Latn-RS" dirty="0"/>
          </a:p>
          <a:p>
            <a:endParaRPr lang="sr-Latn-RS" dirty="0"/>
          </a:p>
          <a:p>
            <a:endParaRPr lang="sr-Latn-RS" dirty="0"/>
          </a:p>
          <a:p>
            <a:endParaRPr lang="sr-Latn-RS" dirty="0"/>
          </a:p>
          <a:p>
            <a:r>
              <a:rPr lang="sr-Latn-RS" dirty="0"/>
              <a:t>Pronalazak tipa presude, oslobodjen, uslovna ili osudjen</a:t>
            </a:r>
            <a:r>
              <a:rPr lang="en-US" dirty="0"/>
              <a:t>.</a:t>
            </a:r>
          </a:p>
        </p:txBody>
      </p:sp>
    </p:spTree>
    <p:extLst>
      <p:ext uri="{BB962C8B-B14F-4D97-AF65-F5344CB8AC3E}">
        <p14:creationId xmlns:p14="http://schemas.microsoft.com/office/powerpoint/2010/main" val="20880436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D42E50-2858-A14E-7D13-EC7EE2F67F82}"/>
              </a:ext>
            </a:extLst>
          </p:cNvPr>
          <p:cNvSpPr>
            <a:spLocks noGrp="1"/>
          </p:cNvSpPr>
          <p:nvPr>
            <p:ph idx="1"/>
          </p:nvPr>
        </p:nvSpPr>
        <p:spPr>
          <a:xfrm>
            <a:off x="338997" y="1732449"/>
            <a:ext cx="10353762" cy="4058751"/>
          </a:xfrm>
        </p:spPr>
        <p:txBody>
          <a:bodyPr/>
          <a:lstStyle/>
          <a:p>
            <a:r>
              <a:rPr lang="sr-Latn-RS" dirty="0"/>
              <a:t>Razni nivoi obrazovanja</a:t>
            </a:r>
            <a:r>
              <a:rPr lang="en-US" dirty="0"/>
              <a:t>.</a:t>
            </a:r>
          </a:p>
        </p:txBody>
      </p:sp>
      <p:pic>
        <p:nvPicPr>
          <p:cNvPr id="5" name="Picture 4">
            <a:extLst>
              <a:ext uri="{FF2B5EF4-FFF2-40B4-BE49-F238E27FC236}">
                <a16:creationId xmlns:a16="http://schemas.microsoft.com/office/drawing/2014/main" id="{23C7545F-9D3D-EA4A-BD2C-FC48E4DD4615}"/>
              </a:ext>
            </a:extLst>
          </p:cNvPr>
          <p:cNvPicPr>
            <a:picLocks noChangeAspect="1"/>
          </p:cNvPicPr>
          <p:nvPr/>
        </p:nvPicPr>
        <p:blipFill>
          <a:blip r:embed="rId2"/>
          <a:stretch>
            <a:fillRect/>
          </a:stretch>
        </p:blipFill>
        <p:spPr>
          <a:xfrm>
            <a:off x="3831833" y="105248"/>
            <a:ext cx="8049748" cy="6277851"/>
          </a:xfrm>
          <a:prstGeom prst="rect">
            <a:avLst/>
          </a:prstGeom>
        </p:spPr>
      </p:pic>
    </p:spTree>
    <p:extLst>
      <p:ext uri="{BB962C8B-B14F-4D97-AF65-F5344CB8AC3E}">
        <p14:creationId xmlns:p14="http://schemas.microsoft.com/office/powerpoint/2010/main" val="3513397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583EE-3536-1EA9-3FB1-B31666869E0F}"/>
              </a:ext>
            </a:extLst>
          </p:cNvPr>
          <p:cNvSpPr>
            <a:spLocks noGrp="1"/>
          </p:cNvSpPr>
          <p:nvPr>
            <p:ph type="title"/>
          </p:nvPr>
        </p:nvSpPr>
        <p:spPr>
          <a:xfrm>
            <a:off x="913795" y="0"/>
            <a:ext cx="10353762" cy="970450"/>
          </a:xfrm>
        </p:spPr>
        <p:txBody>
          <a:bodyPr/>
          <a:lstStyle/>
          <a:p>
            <a:r>
              <a:rPr lang="sr-Latn-RS" dirty="0"/>
              <a:t>UI aplikacije</a:t>
            </a:r>
            <a:endParaRPr lang="en-US" dirty="0"/>
          </a:p>
        </p:txBody>
      </p:sp>
      <p:sp>
        <p:nvSpPr>
          <p:cNvPr id="3" name="Content Placeholder 2">
            <a:extLst>
              <a:ext uri="{FF2B5EF4-FFF2-40B4-BE49-F238E27FC236}">
                <a16:creationId xmlns:a16="http://schemas.microsoft.com/office/drawing/2014/main" id="{A97DC6F2-AB76-41E7-523C-4256E3518FE7}"/>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53B3F15C-A064-4C65-D83C-4AFF0C6592BE}"/>
              </a:ext>
            </a:extLst>
          </p:cNvPr>
          <p:cNvPicPr>
            <a:picLocks noChangeAspect="1"/>
          </p:cNvPicPr>
          <p:nvPr/>
        </p:nvPicPr>
        <p:blipFill>
          <a:blip r:embed="rId2"/>
          <a:stretch>
            <a:fillRect/>
          </a:stretch>
        </p:blipFill>
        <p:spPr>
          <a:xfrm>
            <a:off x="-5324" y="785171"/>
            <a:ext cx="12192000" cy="6025116"/>
          </a:xfrm>
          <a:prstGeom prst="rect">
            <a:avLst/>
          </a:prstGeom>
        </p:spPr>
      </p:pic>
    </p:spTree>
    <p:extLst>
      <p:ext uri="{BB962C8B-B14F-4D97-AF65-F5344CB8AC3E}">
        <p14:creationId xmlns:p14="http://schemas.microsoft.com/office/powerpoint/2010/main" val="3315777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11FCD-05FF-08F4-73DE-83189D4C312F}"/>
              </a:ext>
            </a:extLst>
          </p:cNvPr>
          <p:cNvSpPr>
            <a:spLocks noGrp="1"/>
          </p:cNvSpPr>
          <p:nvPr>
            <p:ph type="title"/>
          </p:nvPr>
        </p:nvSpPr>
        <p:spPr>
          <a:xfrm>
            <a:off x="913795" y="96350"/>
            <a:ext cx="10353762" cy="970450"/>
          </a:xfrm>
        </p:spPr>
        <p:txBody>
          <a:bodyPr/>
          <a:lstStyle/>
          <a:p>
            <a:r>
              <a:rPr lang="sr-Latn-RS" dirty="0"/>
              <a:t>Mogućnost navigacije do traženog člana </a:t>
            </a:r>
            <a:endParaRPr lang="en-US" dirty="0"/>
          </a:p>
        </p:txBody>
      </p:sp>
      <p:sp>
        <p:nvSpPr>
          <p:cNvPr id="3" name="Content Placeholder 2">
            <a:extLst>
              <a:ext uri="{FF2B5EF4-FFF2-40B4-BE49-F238E27FC236}">
                <a16:creationId xmlns:a16="http://schemas.microsoft.com/office/drawing/2014/main" id="{B79E51C4-2A74-50C8-E102-F6C48355A845}"/>
              </a:ext>
            </a:extLst>
          </p:cNvPr>
          <p:cNvSpPr>
            <a:spLocks noGrp="1"/>
          </p:cNvSpPr>
          <p:nvPr>
            <p:ph idx="1"/>
          </p:nvPr>
        </p:nvSpPr>
        <p:spPr>
          <a:xfrm>
            <a:off x="913795" y="1732449"/>
            <a:ext cx="3171822" cy="4058751"/>
          </a:xfrm>
        </p:spPr>
        <p:txBody>
          <a:bodyPr/>
          <a:lstStyle/>
          <a:p>
            <a:r>
              <a:rPr lang="sr-Latn-RS" dirty="0"/>
              <a:t>Pristiskom na 258.4 skačemo na 258 stav i član 4 u glavi 23 koji postaje highlightovan, a pritiskom na 258 se zasija cela glava</a:t>
            </a:r>
            <a:r>
              <a:rPr lang="en-US" dirty="0"/>
              <a:t>.</a:t>
            </a:r>
          </a:p>
        </p:txBody>
      </p:sp>
      <p:pic>
        <p:nvPicPr>
          <p:cNvPr id="5" name="Picture 4">
            <a:extLst>
              <a:ext uri="{FF2B5EF4-FFF2-40B4-BE49-F238E27FC236}">
                <a16:creationId xmlns:a16="http://schemas.microsoft.com/office/drawing/2014/main" id="{D7BA8BAC-D900-4A84-2665-7E569FA3837D}"/>
              </a:ext>
            </a:extLst>
          </p:cNvPr>
          <p:cNvPicPr>
            <a:picLocks noChangeAspect="1"/>
          </p:cNvPicPr>
          <p:nvPr/>
        </p:nvPicPr>
        <p:blipFill>
          <a:blip r:embed="rId2"/>
          <a:stretch>
            <a:fillRect/>
          </a:stretch>
        </p:blipFill>
        <p:spPr>
          <a:xfrm>
            <a:off x="1178207" y="4692901"/>
            <a:ext cx="2467319" cy="1028844"/>
          </a:xfrm>
          <a:prstGeom prst="rect">
            <a:avLst/>
          </a:prstGeom>
        </p:spPr>
      </p:pic>
      <p:pic>
        <p:nvPicPr>
          <p:cNvPr id="7" name="Picture 6">
            <a:extLst>
              <a:ext uri="{FF2B5EF4-FFF2-40B4-BE49-F238E27FC236}">
                <a16:creationId xmlns:a16="http://schemas.microsoft.com/office/drawing/2014/main" id="{C11B61BF-7DEB-31BD-F4B4-6317908CB908}"/>
              </a:ext>
            </a:extLst>
          </p:cNvPr>
          <p:cNvPicPr>
            <a:picLocks noChangeAspect="1"/>
          </p:cNvPicPr>
          <p:nvPr/>
        </p:nvPicPr>
        <p:blipFill>
          <a:blip r:embed="rId3"/>
          <a:stretch>
            <a:fillRect/>
          </a:stretch>
        </p:blipFill>
        <p:spPr>
          <a:xfrm>
            <a:off x="4183103" y="1255432"/>
            <a:ext cx="4686954" cy="5506218"/>
          </a:xfrm>
          <a:prstGeom prst="rect">
            <a:avLst/>
          </a:prstGeom>
        </p:spPr>
      </p:pic>
      <p:pic>
        <p:nvPicPr>
          <p:cNvPr id="9" name="Picture 8">
            <a:extLst>
              <a:ext uri="{FF2B5EF4-FFF2-40B4-BE49-F238E27FC236}">
                <a16:creationId xmlns:a16="http://schemas.microsoft.com/office/drawing/2014/main" id="{BDD26B50-28A3-4E75-B0D4-A5016EEFABBF}"/>
              </a:ext>
            </a:extLst>
          </p:cNvPr>
          <p:cNvPicPr>
            <a:picLocks noChangeAspect="1"/>
          </p:cNvPicPr>
          <p:nvPr/>
        </p:nvPicPr>
        <p:blipFill>
          <a:blip r:embed="rId4"/>
          <a:stretch>
            <a:fillRect/>
          </a:stretch>
        </p:blipFill>
        <p:spPr>
          <a:xfrm>
            <a:off x="9310148" y="1351782"/>
            <a:ext cx="2799321" cy="5019472"/>
          </a:xfrm>
          <a:prstGeom prst="rect">
            <a:avLst/>
          </a:prstGeom>
        </p:spPr>
      </p:pic>
    </p:spTree>
    <p:extLst>
      <p:ext uri="{BB962C8B-B14F-4D97-AF65-F5344CB8AC3E}">
        <p14:creationId xmlns:p14="http://schemas.microsoft.com/office/powerpoint/2010/main" val="801319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7562F44-23D7-AC9B-ADAC-A83E25DFA34B}"/>
              </a:ext>
            </a:extLst>
          </p:cNvPr>
          <p:cNvPicPr>
            <a:picLocks noGrp="1" noChangeAspect="1"/>
          </p:cNvPicPr>
          <p:nvPr>
            <p:ph idx="1"/>
          </p:nvPr>
        </p:nvPicPr>
        <p:blipFill>
          <a:blip r:embed="rId2"/>
          <a:stretch>
            <a:fillRect/>
          </a:stretch>
        </p:blipFill>
        <p:spPr>
          <a:xfrm>
            <a:off x="6830699" y="0"/>
            <a:ext cx="4251077" cy="6522577"/>
          </a:xfrm>
        </p:spPr>
      </p:pic>
      <p:sp>
        <p:nvSpPr>
          <p:cNvPr id="6" name="Content Placeholder 2">
            <a:extLst>
              <a:ext uri="{FF2B5EF4-FFF2-40B4-BE49-F238E27FC236}">
                <a16:creationId xmlns:a16="http://schemas.microsoft.com/office/drawing/2014/main" id="{1ECADBD5-1DFA-F240-7E20-D1AC2DF3356F}"/>
              </a:ext>
            </a:extLst>
          </p:cNvPr>
          <p:cNvSpPr txBox="1">
            <a:spLocks/>
          </p:cNvSpPr>
          <p:nvPr/>
        </p:nvSpPr>
        <p:spPr>
          <a:xfrm>
            <a:off x="387842" y="2729971"/>
            <a:ext cx="317182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Pristiskom na 260.2 skačemo na 260 stav i član 2 u glavi 23 koji postaje highlightovan</a:t>
            </a:r>
            <a:r>
              <a:rPr lang="en-US" dirty="0"/>
              <a:t>.</a:t>
            </a:r>
          </a:p>
        </p:txBody>
      </p:sp>
      <p:pic>
        <p:nvPicPr>
          <p:cNvPr id="8" name="Picture 7">
            <a:extLst>
              <a:ext uri="{FF2B5EF4-FFF2-40B4-BE49-F238E27FC236}">
                <a16:creationId xmlns:a16="http://schemas.microsoft.com/office/drawing/2014/main" id="{4C1A55AC-6F9C-21AA-B6CF-8908E27333CE}"/>
              </a:ext>
            </a:extLst>
          </p:cNvPr>
          <p:cNvPicPr>
            <a:picLocks noChangeAspect="1"/>
          </p:cNvPicPr>
          <p:nvPr/>
        </p:nvPicPr>
        <p:blipFill>
          <a:blip r:embed="rId3"/>
          <a:stretch>
            <a:fillRect/>
          </a:stretch>
        </p:blipFill>
        <p:spPr>
          <a:xfrm>
            <a:off x="3833920" y="2938394"/>
            <a:ext cx="2448267" cy="981212"/>
          </a:xfrm>
          <a:prstGeom prst="rect">
            <a:avLst/>
          </a:prstGeom>
        </p:spPr>
      </p:pic>
    </p:spTree>
    <p:extLst>
      <p:ext uri="{BB962C8B-B14F-4D97-AF65-F5344CB8AC3E}">
        <p14:creationId xmlns:p14="http://schemas.microsoft.com/office/powerpoint/2010/main" val="887175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B8423-8914-C41F-2931-09793CAFF6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F5C6116-91C9-49A7-42B1-9AF1F920EBC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C901015-850C-323E-5347-97CE2A3F7A9F}"/>
              </a:ext>
            </a:extLst>
          </p:cNvPr>
          <p:cNvPicPr>
            <a:picLocks noChangeAspect="1"/>
          </p:cNvPicPr>
          <p:nvPr/>
        </p:nvPicPr>
        <p:blipFill>
          <a:blip r:embed="rId2"/>
          <a:stretch>
            <a:fillRect/>
          </a:stretch>
        </p:blipFill>
        <p:spPr>
          <a:xfrm>
            <a:off x="0" y="429329"/>
            <a:ext cx="12192000" cy="5999341"/>
          </a:xfrm>
          <a:prstGeom prst="rect">
            <a:avLst/>
          </a:prstGeom>
        </p:spPr>
      </p:pic>
    </p:spTree>
    <p:extLst>
      <p:ext uri="{BB962C8B-B14F-4D97-AF65-F5344CB8AC3E}">
        <p14:creationId xmlns:p14="http://schemas.microsoft.com/office/powerpoint/2010/main" val="27869372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0BCAD-62EC-A70D-86C4-2A319723A9AF}"/>
              </a:ext>
            </a:extLst>
          </p:cNvPr>
          <p:cNvSpPr>
            <a:spLocks noGrp="1"/>
          </p:cNvSpPr>
          <p:nvPr>
            <p:ph type="title"/>
          </p:nvPr>
        </p:nvSpPr>
        <p:spPr>
          <a:xfrm>
            <a:off x="0" y="813881"/>
            <a:ext cx="3609567" cy="970450"/>
          </a:xfrm>
        </p:spPr>
        <p:txBody>
          <a:bodyPr>
            <a:normAutofit fontScale="90000"/>
          </a:bodyPr>
          <a:lstStyle/>
          <a:p>
            <a:r>
              <a:rPr lang="sr-Latn-RS" dirty="0"/>
              <a:t>Prikazivanje u Legal Rule ML formatu</a:t>
            </a:r>
            <a:endParaRPr lang="en-US" dirty="0"/>
          </a:p>
        </p:txBody>
      </p:sp>
      <p:pic>
        <p:nvPicPr>
          <p:cNvPr id="11" name="Picture 10">
            <a:extLst>
              <a:ext uri="{FF2B5EF4-FFF2-40B4-BE49-F238E27FC236}">
                <a16:creationId xmlns:a16="http://schemas.microsoft.com/office/drawing/2014/main" id="{D0909FD1-264A-B7DA-441E-5C60711845DB}"/>
              </a:ext>
            </a:extLst>
          </p:cNvPr>
          <p:cNvPicPr>
            <a:picLocks noChangeAspect="1"/>
          </p:cNvPicPr>
          <p:nvPr/>
        </p:nvPicPr>
        <p:blipFill>
          <a:blip r:embed="rId2"/>
          <a:stretch>
            <a:fillRect/>
          </a:stretch>
        </p:blipFill>
        <p:spPr>
          <a:xfrm>
            <a:off x="3584884" y="351995"/>
            <a:ext cx="8154538" cy="6154009"/>
          </a:xfrm>
          <a:prstGeom prst="rect">
            <a:avLst/>
          </a:prstGeom>
        </p:spPr>
      </p:pic>
      <p:sp>
        <p:nvSpPr>
          <p:cNvPr id="12" name="Content Placeholder 10">
            <a:extLst>
              <a:ext uri="{FF2B5EF4-FFF2-40B4-BE49-F238E27FC236}">
                <a16:creationId xmlns:a16="http://schemas.microsoft.com/office/drawing/2014/main" id="{BADD71E2-EC37-BC37-0D21-11653CCBAA05}"/>
              </a:ext>
            </a:extLst>
          </p:cNvPr>
          <p:cNvSpPr>
            <a:spLocks noGrp="1"/>
          </p:cNvSpPr>
          <p:nvPr>
            <p:ph idx="1"/>
          </p:nvPr>
        </p:nvSpPr>
        <p:spPr>
          <a:xfrm>
            <a:off x="452578" y="3064212"/>
            <a:ext cx="2854826" cy="1896894"/>
          </a:xfrm>
        </p:spPr>
        <p:txBody>
          <a:bodyPr>
            <a:normAutofit/>
          </a:bodyPr>
          <a:lstStyle/>
          <a:p>
            <a:r>
              <a:rPr lang="sr-Latn-RS" dirty="0"/>
              <a:t>Glava 23 u legal rule ml formatu, počevši od člana 258 stava 1</a:t>
            </a:r>
            <a:r>
              <a:rPr lang="en-US" dirty="0"/>
              <a:t>.</a:t>
            </a:r>
          </a:p>
        </p:txBody>
      </p:sp>
    </p:spTree>
    <p:extLst>
      <p:ext uri="{BB962C8B-B14F-4D97-AF65-F5344CB8AC3E}">
        <p14:creationId xmlns:p14="http://schemas.microsoft.com/office/powerpoint/2010/main" val="38775701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12EFD-B768-338B-15DB-81182D65B04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286CA346-BA59-03FC-FA0D-F566EA17B3C3}"/>
              </a:ext>
            </a:extLst>
          </p:cNvPr>
          <p:cNvPicPr>
            <a:picLocks noChangeAspect="1"/>
          </p:cNvPicPr>
          <p:nvPr/>
        </p:nvPicPr>
        <p:blipFill>
          <a:blip r:embed="rId2"/>
          <a:stretch>
            <a:fillRect/>
          </a:stretch>
        </p:blipFill>
        <p:spPr>
          <a:xfrm>
            <a:off x="1865459" y="790206"/>
            <a:ext cx="10326541" cy="5277587"/>
          </a:xfrm>
          <a:prstGeom prst="rect">
            <a:avLst/>
          </a:prstGeom>
        </p:spPr>
      </p:pic>
      <p:sp>
        <p:nvSpPr>
          <p:cNvPr id="11" name="Content Placeholder 10">
            <a:extLst>
              <a:ext uri="{FF2B5EF4-FFF2-40B4-BE49-F238E27FC236}">
                <a16:creationId xmlns:a16="http://schemas.microsoft.com/office/drawing/2014/main" id="{E2944251-57D6-41FF-E193-D68AF6D653DB}"/>
              </a:ext>
            </a:extLst>
          </p:cNvPr>
          <p:cNvSpPr>
            <a:spLocks noGrp="1"/>
          </p:cNvSpPr>
          <p:nvPr>
            <p:ph idx="1"/>
          </p:nvPr>
        </p:nvSpPr>
        <p:spPr>
          <a:xfrm>
            <a:off x="-128711" y="4581728"/>
            <a:ext cx="2253346" cy="1896894"/>
          </a:xfrm>
        </p:spPr>
        <p:txBody>
          <a:bodyPr/>
          <a:lstStyle/>
          <a:p>
            <a:r>
              <a:rPr lang="sr-Latn-RS" dirty="0"/>
              <a:t>Kazna od 2 do 12 godina</a:t>
            </a:r>
            <a:r>
              <a:rPr lang="en-US" dirty="0"/>
              <a:t>.</a:t>
            </a:r>
          </a:p>
        </p:txBody>
      </p:sp>
    </p:spTree>
    <p:extLst>
      <p:ext uri="{BB962C8B-B14F-4D97-AF65-F5344CB8AC3E}">
        <p14:creationId xmlns:p14="http://schemas.microsoft.com/office/powerpoint/2010/main" val="33692473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0A011-DD4B-780E-B99A-508E3F9DC036}"/>
              </a:ext>
            </a:extLst>
          </p:cNvPr>
          <p:cNvSpPr>
            <a:spLocks noGrp="1"/>
          </p:cNvSpPr>
          <p:nvPr>
            <p:ph type="title"/>
          </p:nvPr>
        </p:nvSpPr>
        <p:spPr>
          <a:xfrm>
            <a:off x="913795" y="269131"/>
            <a:ext cx="10353762" cy="970450"/>
          </a:xfrm>
        </p:spPr>
        <p:txBody>
          <a:bodyPr/>
          <a:lstStyle/>
          <a:p>
            <a:r>
              <a:rPr lang="sr-Latn-RS" dirty="0"/>
              <a:t>Rasudjivanje po pravilima</a:t>
            </a:r>
            <a:endParaRPr lang="en-US" dirty="0"/>
          </a:p>
        </p:txBody>
      </p:sp>
      <p:sp>
        <p:nvSpPr>
          <p:cNvPr id="3" name="Content Placeholder 2">
            <a:extLst>
              <a:ext uri="{FF2B5EF4-FFF2-40B4-BE49-F238E27FC236}">
                <a16:creationId xmlns:a16="http://schemas.microsoft.com/office/drawing/2014/main" id="{D912BE01-469C-F9E6-3B1E-ED4D3F381B6D}"/>
              </a:ext>
            </a:extLst>
          </p:cNvPr>
          <p:cNvSpPr>
            <a:spLocks noGrp="1"/>
          </p:cNvSpPr>
          <p:nvPr>
            <p:ph idx="1"/>
          </p:nvPr>
        </p:nvSpPr>
        <p:spPr>
          <a:xfrm>
            <a:off x="913795" y="1384338"/>
            <a:ext cx="10353762" cy="4058751"/>
          </a:xfrm>
        </p:spPr>
        <p:txBody>
          <a:bodyPr/>
          <a:lstStyle/>
          <a:p>
            <a:r>
              <a:rPr lang="sr-Latn-RS" dirty="0"/>
              <a:t>Korišćen je alat dr device.</a:t>
            </a:r>
          </a:p>
          <a:p>
            <a:r>
              <a:rPr lang="sr-Latn-RS" dirty="0"/>
              <a:t>Ukupno postoje 22 pravila rasudjivanja.</a:t>
            </a:r>
          </a:p>
          <a:p>
            <a:endParaRPr lang="en-US" dirty="0"/>
          </a:p>
        </p:txBody>
      </p:sp>
      <p:pic>
        <p:nvPicPr>
          <p:cNvPr id="9" name="Picture 8">
            <a:extLst>
              <a:ext uri="{FF2B5EF4-FFF2-40B4-BE49-F238E27FC236}">
                <a16:creationId xmlns:a16="http://schemas.microsoft.com/office/drawing/2014/main" id="{8AC52C75-96C2-E83C-A1EF-34DE49C5A4AE}"/>
              </a:ext>
            </a:extLst>
          </p:cNvPr>
          <p:cNvPicPr>
            <a:picLocks noChangeAspect="1"/>
          </p:cNvPicPr>
          <p:nvPr/>
        </p:nvPicPr>
        <p:blipFill>
          <a:blip r:embed="rId2"/>
          <a:stretch>
            <a:fillRect/>
          </a:stretch>
        </p:blipFill>
        <p:spPr>
          <a:xfrm>
            <a:off x="5960659" y="2714792"/>
            <a:ext cx="6220693" cy="3229426"/>
          </a:xfrm>
          <a:prstGeom prst="rect">
            <a:avLst/>
          </a:prstGeom>
        </p:spPr>
      </p:pic>
      <p:pic>
        <p:nvPicPr>
          <p:cNvPr id="11" name="Picture 10">
            <a:extLst>
              <a:ext uri="{FF2B5EF4-FFF2-40B4-BE49-F238E27FC236}">
                <a16:creationId xmlns:a16="http://schemas.microsoft.com/office/drawing/2014/main" id="{4E93C05C-3D34-EBEA-941A-97D1FD2BD56D}"/>
              </a:ext>
            </a:extLst>
          </p:cNvPr>
          <p:cNvPicPr>
            <a:picLocks noChangeAspect="1"/>
          </p:cNvPicPr>
          <p:nvPr/>
        </p:nvPicPr>
        <p:blipFill>
          <a:blip r:embed="rId3"/>
          <a:stretch>
            <a:fillRect/>
          </a:stretch>
        </p:blipFill>
        <p:spPr>
          <a:xfrm>
            <a:off x="0" y="2714792"/>
            <a:ext cx="5725324" cy="2743583"/>
          </a:xfrm>
          <a:prstGeom prst="rect">
            <a:avLst/>
          </a:prstGeom>
        </p:spPr>
      </p:pic>
    </p:spTree>
    <p:extLst>
      <p:ext uri="{BB962C8B-B14F-4D97-AF65-F5344CB8AC3E}">
        <p14:creationId xmlns:p14="http://schemas.microsoft.com/office/powerpoint/2010/main" val="11109142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45D1EE-C6FC-E779-107C-C728B7EE7820}"/>
              </a:ext>
            </a:extLst>
          </p:cNvPr>
          <p:cNvSpPr>
            <a:spLocks noGrp="1"/>
          </p:cNvSpPr>
          <p:nvPr>
            <p:ph idx="1"/>
          </p:nvPr>
        </p:nvSpPr>
        <p:spPr>
          <a:xfrm>
            <a:off x="592782" y="749956"/>
            <a:ext cx="10353762" cy="1108028"/>
          </a:xfrm>
        </p:spPr>
        <p:txBody>
          <a:bodyPr/>
          <a:lstStyle/>
          <a:p>
            <a:r>
              <a:rPr lang="sr-Latn-RS" dirty="0"/>
              <a:t>Priznanje kao olakšavajuća okolonst</a:t>
            </a:r>
            <a:r>
              <a:rPr lang="en-US" dirty="0"/>
              <a:t>.</a:t>
            </a:r>
          </a:p>
        </p:txBody>
      </p:sp>
      <p:pic>
        <p:nvPicPr>
          <p:cNvPr id="5" name="Picture 4">
            <a:extLst>
              <a:ext uri="{FF2B5EF4-FFF2-40B4-BE49-F238E27FC236}">
                <a16:creationId xmlns:a16="http://schemas.microsoft.com/office/drawing/2014/main" id="{911F5195-48D2-59F4-FE77-C7DD698FB7CE}"/>
              </a:ext>
            </a:extLst>
          </p:cNvPr>
          <p:cNvPicPr>
            <a:picLocks noChangeAspect="1"/>
          </p:cNvPicPr>
          <p:nvPr/>
        </p:nvPicPr>
        <p:blipFill>
          <a:blip r:embed="rId2"/>
          <a:stretch>
            <a:fillRect/>
          </a:stretch>
        </p:blipFill>
        <p:spPr>
          <a:xfrm>
            <a:off x="5335455" y="141746"/>
            <a:ext cx="6735115" cy="3038899"/>
          </a:xfrm>
          <a:prstGeom prst="rect">
            <a:avLst/>
          </a:prstGeom>
        </p:spPr>
      </p:pic>
      <p:pic>
        <p:nvPicPr>
          <p:cNvPr id="7" name="Picture 6">
            <a:extLst>
              <a:ext uri="{FF2B5EF4-FFF2-40B4-BE49-F238E27FC236}">
                <a16:creationId xmlns:a16="http://schemas.microsoft.com/office/drawing/2014/main" id="{F83033B2-FD12-A84C-04D3-DA8F1B03C7E9}"/>
              </a:ext>
            </a:extLst>
          </p:cNvPr>
          <p:cNvPicPr>
            <a:picLocks noChangeAspect="1"/>
          </p:cNvPicPr>
          <p:nvPr/>
        </p:nvPicPr>
        <p:blipFill>
          <a:blip r:embed="rId3"/>
          <a:stretch>
            <a:fillRect/>
          </a:stretch>
        </p:blipFill>
        <p:spPr>
          <a:xfrm>
            <a:off x="4830560" y="3429000"/>
            <a:ext cx="7240010" cy="2343477"/>
          </a:xfrm>
          <a:prstGeom prst="rect">
            <a:avLst/>
          </a:prstGeom>
        </p:spPr>
      </p:pic>
      <p:sp>
        <p:nvSpPr>
          <p:cNvPr id="8" name="Content Placeholder 2">
            <a:extLst>
              <a:ext uri="{FF2B5EF4-FFF2-40B4-BE49-F238E27FC236}">
                <a16:creationId xmlns:a16="http://schemas.microsoft.com/office/drawing/2014/main" id="{2300C324-8A6E-930E-8F14-45F3FAD428B5}"/>
              </a:ext>
            </a:extLst>
          </p:cNvPr>
          <p:cNvSpPr txBox="1">
            <a:spLocks/>
          </p:cNvSpPr>
          <p:nvPr/>
        </p:nvSpPr>
        <p:spPr>
          <a:xfrm>
            <a:off x="592782" y="4197647"/>
            <a:ext cx="10353762" cy="110802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Prvi put osudjivan</a:t>
            </a:r>
            <a:r>
              <a:rPr lang="en-US" dirty="0"/>
              <a:t>.</a:t>
            </a:r>
          </a:p>
        </p:txBody>
      </p:sp>
    </p:spTree>
    <p:extLst>
      <p:ext uri="{BB962C8B-B14F-4D97-AF65-F5344CB8AC3E}">
        <p14:creationId xmlns:p14="http://schemas.microsoft.com/office/powerpoint/2010/main" val="40223488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EB91C-F966-2727-151D-1E895ED07A7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1E758F-385F-F807-86ED-CECED798BDE0}"/>
              </a:ext>
            </a:extLst>
          </p:cNvPr>
          <p:cNvSpPr>
            <a:spLocks noGrp="1"/>
          </p:cNvSpPr>
          <p:nvPr>
            <p:ph idx="1"/>
          </p:nvPr>
        </p:nvSpPr>
        <p:spPr>
          <a:xfrm>
            <a:off x="592782" y="749956"/>
            <a:ext cx="10353762" cy="1108028"/>
          </a:xfrm>
        </p:spPr>
        <p:txBody>
          <a:bodyPr/>
          <a:lstStyle/>
          <a:p>
            <a:r>
              <a:rPr lang="sr-Latn-RS" dirty="0"/>
              <a:t>Kajanje kao olakšavajuća okolonst</a:t>
            </a:r>
            <a:r>
              <a:rPr lang="en-US" dirty="0"/>
              <a:t>.</a:t>
            </a:r>
          </a:p>
        </p:txBody>
      </p:sp>
      <p:sp>
        <p:nvSpPr>
          <p:cNvPr id="8" name="Content Placeholder 2">
            <a:extLst>
              <a:ext uri="{FF2B5EF4-FFF2-40B4-BE49-F238E27FC236}">
                <a16:creationId xmlns:a16="http://schemas.microsoft.com/office/drawing/2014/main" id="{A56DB17B-9668-FC72-ABF1-EC9D641C4DCA}"/>
              </a:ext>
            </a:extLst>
          </p:cNvPr>
          <p:cNvSpPr txBox="1">
            <a:spLocks/>
          </p:cNvSpPr>
          <p:nvPr/>
        </p:nvSpPr>
        <p:spPr>
          <a:xfrm>
            <a:off x="592782" y="5373857"/>
            <a:ext cx="10353762" cy="110802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Saradjuje sa istragom</a:t>
            </a:r>
            <a:r>
              <a:rPr lang="en-US" dirty="0"/>
              <a:t>.</a:t>
            </a:r>
          </a:p>
        </p:txBody>
      </p:sp>
      <p:pic>
        <p:nvPicPr>
          <p:cNvPr id="4" name="Picture 3">
            <a:extLst>
              <a:ext uri="{FF2B5EF4-FFF2-40B4-BE49-F238E27FC236}">
                <a16:creationId xmlns:a16="http://schemas.microsoft.com/office/drawing/2014/main" id="{10384E57-D420-76B8-BB96-554A10492F26}"/>
              </a:ext>
            </a:extLst>
          </p:cNvPr>
          <p:cNvPicPr>
            <a:picLocks noChangeAspect="1"/>
          </p:cNvPicPr>
          <p:nvPr/>
        </p:nvPicPr>
        <p:blipFill>
          <a:blip r:embed="rId2"/>
          <a:stretch>
            <a:fillRect/>
          </a:stretch>
        </p:blipFill>
        <p:spPr>
          <a:xfrm>
            <a:off x="4847200" y="53502"/>
            <a:ext cx="7344800" cy="2429214"/>
          </a:xfrm>
          <a:prstGeom prst="rect">
            <a:avLst/>
          </a:prstGeom>
        </p:spPr>
      </p:pic>
      <p:pic>
        <p:nvPicPr>
          <p:cNvPr id="9" name="Picture 8">
            <a:extLst>
              <a:ext uri="{FF2B5EF4-FFF2-40B4-BE49-F238E27FC236}">
                <a16:creationId xmlns:a16="http://schemas.microsoft.com/office/drawing/2014/main" id="{B6E9EC58-00DD-A9EA-E0C5-42A387A2C69A}"/>
              </a:ext>
            </a:extLst>
          </p:cNvPr>
          <p:cNvPicPr>
            <a:picLocks noChangeAspect="1"/>
          </p:cNvPicPr>
          <p:nvPr/>
        </p:nvPicPr>
        <p:blipFill>
          <a:blip r:embed="rId3"/>
          <a:stretch>
            <a:fillRect/>
          </a:stretch>
        </p:blipFill>
        <p:spPr>
          <a:xfrm>
            <a:off x="4675726" y="2554438"/>
            <a:ext cx="7516274" cy="2105319"/>
          </a:xfrm>
          <a:prstGeom prst="rect">
            <a:avLst/>
          </a:prstGeom>
        </p:spPr>
      </p:pic>
      <p:pic>
        <p:nvPicPr>
          <p:cNvPr id="11" name="Picture 10">
            <a:extLst>
              <a:ext uri="{FF2B5EF4-FFF2-40B4-BE49-F238E27FC236}">
                <a16:creationId xmlns:a16="http://schemas.microsoft.com/office/drawing/2014/main" id="{2D738E6A-E47A-0213-7290-FE738EBDC89C}"/>
              </a:ext>
            </a:extLst>
          </p:cNvPr>
          <p:cNvPicPr>
            <a:picLocks noChangeAspect="1"/>
          </p:cNvPicPr>
          <p:nvPr/>
        </p:nvPicPr>
        <p:blipFill>
          <a:blip r:embed="rId4"/>
          <a:stretch>
            <a:fillRect/>
          </a:stretch>
        </p:blipFill>
        <p:spPr>
          <a:xfrm>
            <a:off x="4586912" y="4697114"/>
            <a:ext cx="7611537" cy="2095792"/>
          </a:xfrm>
          <a:prstGeom prst="rect">
            <a:avLst/>
          </a:prstGeom>
        </p:spPr>
      </p:pic>
      <p:sp>
        <p:nvSpPr>
          <p:cNvPr id="14" name="Content Placeholder 2">
            <a:extLst>
              <a:ext uri="{FF2B5EF4-FFF2-40B4-BE49-F238E27FC236}">
                <a16:creationId xmlns:a16="http://schemas.microsoft.com/office/drawing/2014/main" id="{28C1CF7F-05EF-38A2-E76C-150854E2E686}"/>
              </a:ext>
            </a:extLst>
          </p:cNvPr>
          <p:cNvSpPr txBox="1">
            <a:spLocks/>
          </p:cNvSpPr>
          <p:nvPr/>
        </p:nvSpPr>
        <p:spPr>
          <a:xfrm>
            <a:off x="592782" y="2874986"/>
            <a:ext cx="10353762" cy="110802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Prodične okolnosti (ima decu)</a:t>
            </a:r>
            <a:r>
              <a:rPr lang="en-US" dirty="0"/>
              <a:t>.</a:t>
            </a:r>
          </a:p>
        </p:txBody>
      </p:sp>
    </p:spTree>
    <p:extLst>
      <p:ext uri="{BB962C8B-B14F-4D97-AF65-F5344CB8AC3E}">
        <p14:creationId xmlns:p14="http://schemas.microsoft.com/office/powerpoint/2010/main" val="41528577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65A42-C49F-449E-A4BD-556D92F8203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12698B-F502-AD8F-F2B7-ECFD91A94460}"/>
              </a:ext>
            </a:extLst>
          </p:cNvPr>
          <p:cNvSpPr>
            <a:spLocks noGrp="1"/>
          </p:cNvSpPr>
          <p:nvPr>
            <p:ph idx="1"/>
          </p:nvPr>
        </p:nvSpPr>
        <p:spPr>
          <a:xfrm>
            <a:off x="164764" y="458672"/>
            <a:ext cx="4221804" cy="1108028"/>
          </a:xfrm>
        </p:spPr>
        <p:txBody>
          <a:bodyPr/>
          <a:lstStyle/>
          <a:p>
            <a:r>
              <a:rPr lang="sr-Latn-RS" dirty="0"/>
              <a:t>Prethodno osudjivan kao otežavajuća okolnost</a:t>
            </a:r>
            <a:r>
              <a:rPr lang="en-US" dirty="0"/>
              <a:t>.</a:t>
            </a:r>
          </a:p>
        </p:txBody>
      </p:sp>
      <p:sp>
        <p:nvSpPr>
          <p:cNvPr id="8" name="Content Placeholder 2">
            <a:extLst>
              <a:ext uri="{FF2B5EF4-FFF2-40B4-BE49-F238E27FC236}">
                <a16:creationId xmlns:a16="http://schemas.microsoft.com/office/drawing/2014/main" id="{0A887ACF-8148-8D1E-2CCD-46B46090D38E}"/>
              </a:ext>
            </a:extLst>
          </p:cNvPr>
          <p:cNvSpPr txBox="1">
            <a:spLocks/>
          </p:cNvSpPr>
          <p:nvPr/>
        </p:nvSpPr>
        <p:spPr>
          <a:xfrm>
            <a:off x="164764" y="4477277"/>
            <a:ext cx="4396646" cy="1922787"/>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Ako optuženi ima otežavajuće okolnosti onda smanjenje kazne nije dozvoljeno, tako da ako je mininalna kazna 6 meseci i postoje otežavajuće okolnosti neće ići ispod 6 meseci</a:t>
            </a:r>
            <a:r>
              <a:rPr lang="en-US" dirty="0"/>
              <a:t>.</a:t>
            </a:r>
          </a:p>
        </p:txBody>
      </p:sp>
      <p:sp>
        <p:nvSpPr>
          <p:cNvPr id="14" name="Content Placeholder 2">
            <a:extLst>
              <a:ext uri="{FF2B5EF4-FFF2-40B4-BE49-F238E27FC236}">
                <a16:creationId xmlns:a16="http://schemas.microsoft.com/office/drawing/2014/main" id="{1FDAFCF6-0EA8-D7EF-BDA9-1C193D54578C}"/>
              </a:ext>
            </a:extLst>
          </p:cNvPr>
          <p:cNvSpPr txBox="1">
            <a:spLocks/>
          </p:cNvSpPr>
          <p:nvPr/>
        </p:nvSpPr>
        <p:spPr>
          <a:xfrm>
            <a:off x="48638" y="2696701"/>
            <a:ext cx="10353762" cy="110802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endParaRPr lang="en-US" dirty="0"/>
          </a:p>
        </p:txBody>
      </p:sp>
      <p:pic>
        <p:nvPicPr>
          <p:cNvPr id="5" name="Picture 4">
            <a:extLst>
              <a:ext uri="{FF2B5EF4-FFF2-40B4-BE49-F238E27FC236}">
                <a16:creationId xmlns:a16="http://schemas.microsoft.com/office/drawing/2014/main" id="{ED43FE8D-18F2-D597-CFFA-9B998435D588}"/>
              </a:ext>
            </a:extLst>
          </p:cNvPr>
          <p:cNvPicPr>
            <a:picLocks noChangeAspect="1"/>
          </p:cNvPicPr>
          <p:nvPr/>
        </p:nvPicPr>
        <p:blipFill>
          <a:blip r:embed="rId2"/>
          <a:stretch>
            <a:fillRect/>
          </a:stretch>
        </p:blipFill>
        <p:spPr>
          <a:xfrm>
            <a:off x="4561410" y="65094"/>
            <a:ext cx="7630590" cy="2067213"/>
          </a:xfrm>
          <a:prstGeom prst="rect">
            <a:avLst/>
          </a:prstGeom>
        </p:spPr>
      </p:pic>
      <p:pic>
        <p:nvPicPr>
          <p:cNvPr id="7" name="Picture 6">
            <a:extLst>
              <a:ext uri="{FF2B5EF4-FFF2-40B4-BE49-F238E27FC236}">
                <a16:creationId xmlns:a16="http://schemas.microsoft.com/office/drawing/2014/main" id="{D13C55F7-7308-A6B4-BDBA-3FE58133D216}"/>
              </a:ext>
            </a:extLst>
          </p:cNvPr>
          <p:cNvPicPr>
            <a:picLocks noChangeAspect="1"/>
          </p:cNvPicPr>
          <p:nvPr/>
        </p:nvPicPr>
        <p:blipFill>
          <a:blip r:embed="rId3"/>
          <a:stretch>
            <a:fillRect/>
          </a:stretch>
        </p:blipFill>
        <p:spPr>
          <a:xfrm>
            <a:off x="4436561" y="2221871"/>
            <a:ext cx="7706801" cy="2057687"/>
          </a:xfrm>
          <a:prstGeom prst="rect">
            <a:avLst/>
          </a:prstGeom>
        </p:spPr>
      </p:pic>
      <p:sp>
        <p:nvSpPr>
          <p:cNvPr id="10" name="Content Placeholder 2">
            <a:extLst>
              <a:ext uri="{FF2B5EF4-FFF2-40B4-BE49-F238E27FC236}">
                <a16:creationId xmlns:a16="http://schemas.microsoft.com/office/drawing/2014/main" id="{15082C03-39C7-5094-A256-5C730C8880C3}"/>
              </a:ext>
            </a:extLst>
          </p:cNvPr>
          <p:cNvSpPr txBox="1">
            <a:spLocks/>
          </p:cNvSpPr>
          <p:nvPr/>
        </p:nvSpPr>
        <p:spPr>
          <a:xfrm>
            <a:off x="164764" y="2679776"/>
            <a:ext cx="10353762" cy="110802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Organizovani criminal</a:t>
            </a:r>
            <a:r>
              <a:rPr lang="en-US" dirty="0"/>
              <a:t>.</a:t>
            </a:r>
          </a:p>
        </p:txBody>
      </p:sp>
      <p:pic>
        <p:nvPicPr>
          <p:cNvPr id="13" name="Picture 12">
            <a:extLst>
              <a:ext uri="{FF2B5EF4-FFF2-40B4-BE49-F238E27FC236}">
                <a16:creationId xmlns:a16="http://schemas.microsoft.com/office/drawing/2014/main" id="{15521134-BF70-063F-1231-D435F398EECF}"/>
              </a:ext>
            </a:extLst>
          </p:cNvPr>
          <p:cNvPicPr>
            <a:picLocks noChangeAspect="1"/>
          </p:cNvPicPr>
          <p:nvPr/>
        </p:nvPicPr>
        <p:blipFill>
          <a:blip r:embed="rId4"/>
          <a:stretch>
            <a:fillRect/>
          </a:stretch>
        </p:blipFill>
        <p:spPr>
          <a:xfrm>
            <a:off x="4561410" y="4472953"/>
            <a:ext cx="7287642" cy="2133898"/>
          </a:xfrm>
          <a:prstGeom prst="rect">
            <a:avLst/>
          </a:prstGeom>
        </p:spPr>
      </p:pic>
    </p:spTree>
    <p:extLst>
      <p:ext uri="{BB962C8B-B14F-4D97-AF65-F5344CB8AC3E}">
        <p14:creationId xmlns:p14="http://schemas.microsoft.com/office/powerpoint/2010/main" val="11903943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1BD8F-B32E-0609-44F2-765769B308E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392609-EFFE-987A-14A7-E7E95AB31F4E}"/>
              </a:ext>
            </a:extLst>
          </p:cNvPr>
          <p:cNvSpPr>
            <a:spLocks noGrp="1"/>
          </p:cNvSpPr>
          <p:nvPr>
            <p:ph idx="1"/>
          </p:nvPr>
        </p:nvSpPr>
        <p:spPr>
          <a:xfrm>
            <a:off x="164764" y="458671"/>
            <a:ext cx="4221804" cy="1673635"/>
          </a:xfrm>
        </p:spPr>
        <p:txBody>
          <a:bodyPr>
            <a:normAutofit/>
          </a:bodyPr>
          <a:lstStyle/>
          <a:p>
            <a:r>
              <a:rPr lang="sr-Latn-RS" dirty="0"/>
              <a:t>Ako ima olakšavajuće može smanjivanje kazne, što vidimo u praksi da je skoro uvek manje od minimalne kazne, verovatno baš zbog toga</a:t>
            </a:r>
            <a:r>
              <a:rPr lang="en-US" dirty="0"/>
              <a:t>.</a:t>
            </a:r>
          </a:p>
        </p:txBody>
      </p:sp>
      <p:sp>
        <p:nvSpPr>
          <p:cNvPr id="14" name="Content Placeholder 2">
            <a:extLst>
              <a:ext uri="{FF2B5EF4-FFF2-40B4-BE49-F238E27FC236}">
                <a16:creationId xmlns:a16="http://schemas.microsoft.com/office/drawing/2014/main" id="{A5D11ABE-5EC1-A6BA-2C46-03680748DA4E}"/>
              </a:ext>
            </a:extLst>
          </p:cNvPr>
          <p:cNvSpPr txBox="1">
            <a:spLocks/>
          </p:cNvSpPr>
          <p:nvPr/>
        </p:nvSpPr>
        <p:spPr>
          <a:xfrm>
            <a:off x="48638" y="2696701"/>
            <a:ext cx="10353762" cy="110802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endParaRPr lang="en-US" dirty="0"/>
          </a:p>
        </p:txBody>
      </p:sp>
      <p:sp>
        <p:nvSpPr>
          <p:cNvPr id="10" name="Content Placeholder 2">
            <a:extLst>
              <a:ext uri="{FF2B5EF4-FFF2-40B4-BE49-F238E27FC236}">
                <a16:creationId xmlns:a16="http://schemas.microsoft.com/office/drawing/2014/main" id="{F9E916B9-A14D-D869-22BF-CE95624D7E23}"/>
              </a:ext>
            </a:extLst>
          </p:cNvPr>
          <p:cNvSpPr txBox="1">
            <a:spLocks/>
          </p:cNvSpPr>
          <p:nvPr/>
        </p:nvSpPr>
        <p:spPr>
          <a:xfrm>
            <a:off x="102843" y="3768148"/>
            <a:ext cx="4459429" cy="110802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Maksimalne i minimalne kazne u mesecima</a:t>
            </a:r>
            <a:r>
              <a:rPr lang="en-US" dirty="0"/>
              <a:t>.</a:t>
            </a:r>
          </a:p>
        </p:txBody>
      </p:sp>
      <p:pic>
        <p:nvPicPr>
          <p:cNvPr id="4" name="Picture 3">
            <a:extLst>
              <a:ext uri="{FF2B5EF4-FFF2-40B4-BE49-F238E27FC236}">
                <a16:creationId xmlns:a16="http://schemas.microsoft.com/office/drawing/2014/main" id="{314BEA78-BB0A-EDD6-B844-EFD770F75044}"/>
              </a:ext>
            </a:extLst>
          </p:cNvPr>
          <p:cNvPicPr>
            <a:picLocks noChangeAspect="1"/>
          </p:cNvPicPr>
          <p:nvPr/>
        </p:nvPicPr>
        <p:blipFill>
          <a:blip r:embed="rId2"/>
          <a:stretch>
            <a:fillRect/>
          </a:stretch>
        </p:blipFill>
        <p:spPr>
          <a:xfrm>
            <a:off x="4815805" y="331830"/>
            <a:ext cx="7211431" cy="1800476"/>
          </a:xfrm>
          <a:prstGeom prst="rect">
            <a:avLst/>
          </a:prstGeom>
        </p:spPr>
      </p:pic>
      <p:pic>
        <p:nvPicPr>
          <p:cNvPr id="9" name="Picture 8">
            <a:extLst>
              <a:ext uri="{FF2B5EF4-FFF2-40B4-BE49-F238E27FC236}">
                <a16:creationId xmlns:a16="http://schemas.microsoft.com/office/drawing/2014/main" id="{2D42A2D4-6FFC-CDC2-12EA-BC16EC9FEFF3}"/>
              </a:ext>
            </a:extLst>
          </p:cNvPr>
          <p:cNvPicPr>
            <a:picLocks noChangeAspect="1"/>
          </p:cNvPicPr>
          <p:nvPr/>
        </p:nvPicPr>
        <p:blipFill>
          <a:blip r:embed="rId3"/>
          <a:stretch>
            <a:fillRect/>
          </a:stretch>
        </p:blipFill>
        <p:spPr>
          <a:xfrm>
            <a:off x="4753883" y="2649739"/>
            <a:ext cx="7335274" cy="2991267"/>
          </a:xfrm>
          <a:prstGeom prst="rect">
            <a:avLst/>
          </a:prstGeom>
        </p:spPr>
      </p:pic>
    </p:spTree>
    <p:extLst>
      <p:ext uri="{BB962C8B-B14F-4D97-AF65-F5344CB8AC3E}">
        <p14:creationId xmlns:p14="http://schemas.microsoft.com/office/powerpoint/2010/main" val="22352019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108B0-9D52-2A77-CF1E-69F7D3EFF071}"/>
              </a:ext>
            </a:extLst>
          </p:cNvPr>
          <p:cNvSpPr>
            <a:spLocks noGrp="1"/>
          </p:cNvSpPr>
          <p:nvPr>
            <p:ph type="title"/>
          </p:nvPr>
        </p:nvSpPr>
        <p:spPr>
          <a:xfrm>
            <a:off x="919119" y="0"/>
            <a:ext cx="10353762" cy="970450"/>
          </a:xfrm>
        </p:spPr>
        <p:txBody>
          <a:bodyPr/>
          <a:lstStyle/>
          <a:p>
            <a:r>
              <a:rPr lang="sr-Latn-RS" dirty="0"/>
              <a:t>Rezonovanje po prav</a:t>
            </a:r>
            <a:r>
              <a:rPr lang="en-US" dirty="0" err="1"/>
              <a:t>i</a:t>
            </a:r>
            <a:r>
              <a:rPr lang="sr-Latn-RS" dirty="0"/>
              <a:t>lima</a:t>
            </a:r>
            <a:endParaRPr lang="en-US" dirty="0"/>
          </a:p>
        </p:txBody>
      </p:sp>
      <p:pic>
        <p:nvPicPr>
          <p:cNvPr id="4" name="Picture 3">
            <a:extLst>
              <a:ext uri="{FF2B5EF4-FFF2-40B4-BE49-F238E27FC236}">
                <a16:creationId xmlns:a16="http://schemas.microsoft.com/office/drawing/2014/main" id="{AEF5D264-EA94-487A-A136-5EE4857C6A46}"/>
              </a:ext>
            </a:extLst>
          </p:cNvPr>
          <p:cNvPicPr>
            <a:picLocks noChangeAspect="1"/>
          </p:cNvPicPr>
          <p:nvPr/>
        </p:nvPicPr>
        <p:blipFill>
          <a:blip r:embed="rId2"/>
          <a:stretch>
            <a:fillRect/>
          </a:stretch>
        </p:blipFill>
        <p:spPr>
          <a:xfrm>
            <a:off x="0" y="1314233"/>
            <a:ext cx="12192000" cy="5108075"/>
          </a:xfrm>
          <a:prstGeom prst="rect">
            <a:avLst/>
          </a:prstGeom>
        </p:spPr>
      </p:pic>
    </p:spTree>
    <p:extLst>
      <p:ext uri="{BB962C8B-B14F-4D97-AF65-F5344CB8AC3E}">
        <p14:creationId xmlns:p14="http://schemas.microsoft.com/office/powerpoint/2010/main" val="1122719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C6E5CC-99C2-F95B-8746-796D2958F367}"/>
              </a:ext>
            </a:extLst>
          </p:cNvPr>
          <p:cNvPicPr>
            <a:picLocks noChangeAspect="1"/>
          </p:cNvPicPr>
          <p:nvPr/>
        </p:nvPicPr>
        <p:blipFill>
          <a:blip r:embed="rId2"/>
          <a:stretch>
            <a:fillRect/>
          </a:stretch>
        </p:blipFill>
        <p:spPr>
          <a:xfrm>
            <a:off x="0" y="878637"/>
            <a:ext cx="12192000" cy="5431465"/>
          </a:xfrm>
          <a:prstGeom prst="rect">
            <a:avLst/>
          </a:prstGeom>
        </p:spPr>
      </p:pic>
      <p:sp>
        <p:nvSpPr>
          <p:cNvPr id="4" name="Content Placeholder 2">
            <a:extLst>
              <a:ext uri="{FF2B5EF4-FFF2-40B4-BE49-F238E27FC236}">
                <a16:creationId xmlns:a16="http://schemas.microsoft.com/office/drawing/2014/main" id="{AEBD58D6-FFCF-D51B-3AE4-7F454C15F46F}"/>
              </a:ext>
            </a:extLst>
          </p:cNvPr>
          <p:cNvSpPr txBox="1">
            <a:spLocks/>
          </p:cNvSpPr>
          <p:nvPr/>
        </p:nvSpPr>
        <p:spPr>
          <a:xfrm>
            <a:off x="112884" y="114415"/>
            <a:ext cx="10999617"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Imamo uvid u činjenično stanje, dokaze i svedoke</a:t>
            </a:r>
            <a:r>
              <a:rPr lang="en-US" dirty="0"/>
              <a:t>.</a:t>
            </a:r>
            <a:endParaRPr lang="sr-Latn-RS" dirty="0"/>
          </a:p>
          <a:p>
            <a:endParaRPr lang="en-US" dirty="0"/>
          </a:p>
        </p:txBody>
      </p:sp>
    </p:spTree>
    <p:extLst>
      <p:ext uri="{BB962C8B-B14F-4D97-AF65-F5344CB8AC3E}">
        <p14:creationId xmlns:p14="http://schemas.microsoft.com/office/powerpoint/2010/main" val="30885652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BED63A-4D8C-DEB2-BB83-37D7DB28E845}"/>
              </a:ext>
            </a:extLst>
          </p:cNvPr>
          <p:cNvSpPr>
            <a:spLocks noGrp="1"/>
          </p:cNvSpPr>
          <p:nvPr>
            <p:ph idx="1"/>
          </p:nvPr>
        </p:nvSpPr>
        <p:spPr>
          <a:xfrm>
            <a:off x="378773" y="458125"/>
            <a:ext cx="4241865" cy="4058751"/>
          </a:xfrm>
        </p:spPr>
        <p:txBody>
          <a:bodyPr/>
          <a:lstStyle/>
          <a:p>
            <a:r>
              <a:rPr lang="sr-Latn-RS" dirty="0"/>
              <a:t>Vidimo da je na ovom konkretnom slučaju primenjeno 5 pravila, član zakona, postojanje olakšavajućih okolnosti, koje dozvoljava smanjenje kazne koje daje minimalnu i maksimlanu kaznu</a:t>
            </a:r>
            <a:r>
              <a:rPr lang="en-US" dirty="0"/>
              <a:t>.</a:t>
            </a:r>
          </a:p>
        </p:txBody>
      </p:sp>
      <p:pic>
        <p:nvPicPr>
          <p:cNvPr id="7" name="Picture 6">
            <a:extLst>
              <a:ext uri="{FF2B5EF4-FFF2-40B4-BE49-F238E27FC236}">
                <a16:creationId xmlns:a16="http://schemas.microsoft.com/office/drawing/2014/main" id="{FF0D1245-8463-FCAD-DF2F-1EB931311515}"/>
              </a:ext>
            </a:extLst>
          </p:cNvPr>
          <p:cNvPicPr>
            <a:picLocks noChangeAspect="1"/>
          </p:cNvPicPr>
          <p:nvPr/>
        </p:nvPicPr>
        <p:blipFill>
          <a:blip r:embed="rId2"/>
          <a:stretch>
            <a:fillRect/>
          </a:stretch>
        </p:blipFill>
        <p:spPr>
          <a:xfrm>
            <a:off x="5914145" y="458125"/>
            <a:ext cx="5344271" cy="2038635"/>
          </a:xfrm>
          <a:prstGeom prst="rect">
            <a:avLst/>
          </a:prstGeom>
        </p:spPr>
      </p:pic>
      <p:sp>
        <p:nvSpPr>
          <p:cNvPr id="10" name="Content Placeholder 2">
            <a:extLst>
              <a:ext uri="{FF2B5EF4-FFF2-40B4-BE49-F238E27FC236}">
                <a16:creationId xmlns:a16="http://schemas.microsoft.com/office/drawing/2014/main" id="{E677A708-93F4-5747-ABD4-FFC1C2E97451}"/>
              </a:ext>
            </a:extLst>
          </p:cNvPr>
          <p:cNvSpPr txBox="1">
            <a:spLocks/>
          </p:cNvSpPr>
          <p:nvPr/>
        </p:nvSpPr>
        <p:spPr>
          <a:xfrm>
            <a:off x="258799" y="2964619"/>
            <a:ext cx="10999617"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To smanjenje kazne je zapravo član 45 krivičnog zakonika, nije nam bilo jasno zašto je kazna skoro svugde manja od minimalne kazne</a:t>
            </a:r>
            <a:r>
              <a:rPr lang="en-US" dirty="0"/>
              <a:t>, </a:t>
            </a:r>
            <a:r>
              <a:rPr lang="sr-Latn-RS" dirty="0"/>
              <a:t>ispostavilo se da u velikom broju slučajeva gde imaju olakšavajuće okolnosti </a:t>
            </a:r>
            <a:r>
              <a:rPr lang="en-US" dirty="0"/>
              <a:t>se </a:t>
            </a:r>
            <a:r>
              <a:rPr lang="en-US" dirty="0" err="1"/>
              <a:t>baš</a:t>
            </a:r>
            <a:r>
              <a:rPr lang="en-US" dirty="0"/>
              <a:t> </a:t>
            </a:r>
            <a:r>
              <a:rPr lang="sr-Latn-RS" dirty="0"/>
              <a:t>pominje ovaj član. </a:t>
            </a:r>
            <a:endParaRPr lang="en-US" dirty="0"/>
          </a:p>
        </p:txBody>
      </p:sp>
      <p:pic>
        <p:nvPicPr>
          <p:cNvPr id="12" name="Picture 11">
            <a:extLst>
              <a:ext uri="{FF2B5EF4-FFF2-40B4-BE49-F238E27FC236}">
                <a16:creationId xmlns:a16="http://schemas.microsoft.com/office/drawing/2014/main" id="{1D3F5B90-C172-76F4-1760-FF9350391628}"/>
              </a:ext>
            </a:extLst>
          </p:cNvPr>
          <p:cNvPicPr>
            <a:picLocks noChangeAspect="1"/>
          </p:cNvPicPr>
          <p:nvPr/>
        </p:nvPicPr>
        <p:blipFill>
          <a:blip r:embed="rId3"/>
          <a:stretch>
            <a:fillRect/>
          </a:stretch>
        </p:blipFill>
        <p:spPr>
          <a:xfrm>
            <a:off x="1331980" y="4255390"/>
            <a:ext cx="9164329" cy="2257740"/>
          </a:xfrm>
          <a:prstGeom prst="rect">
            <a:avLst/>
          </a:prstGeom>
        </p:spPr>
      </p:pic>
    </p:spTree>
    <p:extLst>
      <p:ext uri="{BB962C8B-B14F-4D97-AF65-F5344CB8AC3E}">
        <p14:creationId xmlns:p14="http://schemas.microsoft.com/office/powerpoint/2010/main" val="13555520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9DCF5E-542B-F346-3A93-48B6C30D2B3F}"/>
              </a:ext>
            </a:extLst>
          </p:cNvPr>
          <p:cNvSpPr>
            <a:spLocks noGrp="1"/>
          </p:cNvSpPr>
          <p:nvPr>
            <p:ph idx="1"/>
          </p:nvPr>
        </p:nvSpPr>
        <p:spPr>
          <a:xfrm>
            <a:off x="991617" y="1109879"/>
            <a:ext cx="8026878" cy="4058751"/>
          </a:xfrm>
        </p:spPr>
        <p:txBody>
          <a:bodyPr/>
          <a:lstStyle/>
          <a:p>
            <a:r>
              <a:rPr lang="sr-Latn-RS" dirty="0"/>
              <a:t>Ovde vidimo ta</a:t>
            </a:r>
            <a:r>
              <a:rPr lang="en-US" dirty="0"/>
              <a:t>č</a:t>
            </a:r>
            <a:r>
              <a:rPr lang="sr-Latn-RS" dirty="0"/>
              <a:t>ne granice za ublažavanje kazni nakon što se primeni </a:t>
            </a:r>
            <a:r>
              <a:rPr lang="en-US" dirty="0"/>
              <a:t>č</a:t>
            </a:r>
            <a:r>
              <a:rPr lang="sr-Latn-RS" dirty="0"/>
              <a:t>lan 45 stav 3 o olakšavajućim okolnostima</a:t>
            </a:r>
            <a:r>
              <a:rPr lang="en-US" dirty="0"/>
              <a:t>.</a:t>
            </a:r>
          </a:p>
        </p:txBody>
      </p:sp>
      <p:pic>
        <p:nvPicPr>
          <p:cNvPr id="5" name="Picture 4">
            <a:extLst>
              <a:ext uri="{FF2B5EF4-FFF2-40B4-BE49-F238E27FC236}">
                <a16:creationId xmlns:a16="http://schemas.microsoft.com/office/drawing/2014/main" id="{F3EA8517-B4DC-7F2B-5018-B4110C1F95C4}"/>
              </a:ext>
            </a:extLst>
          </p:cNvPr>
          <p:cNvPicPr>
            <a:picLocks noChangeAspect="1"/>
          </p:cNvPicPr>
          <p:nvPr/>
        </p:nvPicPr>
        <p:blipFill>
          <a:blip r:embed="rId2"/>
          <a:stretch>
            <a:fillRect/>
          </a:stretch>
        </p:blipFill>
        <p:spPr>
          <a:xfrm>
            <a:off x="0" y="2090791"/>
            <a:ext cx="12192000" cy="3843737"/>
          </a:xfrm>
          <a:prstGeom prst="rect">
            <a:avLst/>
          </a:prstGeom>
        </p:spPr>
      </p:pic>
    </p:spTree>
    <p:extLst>
      <p:ext uri="{BB962C8B-B14F-4D97-AF65-F5344CB8AC3E}">
        <p14:creationId xmlns:p14="http://schemas.microsoft.com/office/powerpoint/2010/main" val="29091538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D65590-1272-85B0-8A7E-15D4BBB6E635}"/>
              </a:ext>
            </a:extLst>
          </p:cNvPr>
          <p:cNvSpPr>
            <a:spLocks noGrp="1"/>
          </p:cNvSpPr>
          <p:nvPr>
            <p:ph idx="1"/>
          </p:nvPr>
        </p:nvSpPr>
        <p:spPr>
          <a:xfrm>
            <a:off x="621966" y="516492"/>
            <a:ext cx="10353762" cy="4058751"/>
          </a:xfrm>
        </p:spPr>
        <p:txBody>
          <a:bodyPr/>
          <a:lstStyle/>
          <a:p>
            <a:r>
              <a:rPr lang="sr-Latn-RS" dirty="0"/>
              <a:t>Vidimo</a:t>
            </a:r>
            <a:r>
              <a:rPr lang="en-US" dirty="0"/>
              <a:t> da</a:t>
            </a:r>
            <a:r>
              <a:rPr lang="sr-Latn-RS" dirty="0"/>
              <a:t> kada je neko bio ranije osudjivan da će</a:t>
            </a:r>
            <a:r>
              <a:rPr lang="en-US" dirty="0"/>
              <a:t> mu</a:t>
            </a:r>
            <a:r>
              <a:rPr lang="sr-Latn-RS" dirty="0"/>
              <a:t> te otežavajuca okolnost doneti dosta teže kazne, preporučena 2 godine i 9 meseci a izrečena 2 godine, iako ima olakšavajuće okolnosti činjenica da je prethodno osudjivan igra veoma veliku ulogu</a:t>
            </a:r>
            <a:r>
              <a:rPr lang="en-US" dirty="0"/>
              <a:t>.</a:t>
            </a:r>
          </a:p>
        </p:txBody>
      </p:sp>
      <p:pic>
        <p:nvPicPr>
          <p:cNvPr id="4" name="Picture 3">
            <a:extLst>
              <a:ext uri="{FF2B5EF4-FFF2-40B4-BE49-F238E27FC236}">
                <a16:creationId xmlns:a16="http://schemas.microsoft.com/office/drawing/2014/main" id="{2CC58E92-B1F7-4B65-9F7F-25DD38B06949}"/>
              </a:ext>
            </a:extLst>
          </p:cNvPr>
          <p:cNvPicPr>
            <a:picLocks noChangeAspect="1"/>
          </p:cNvPicPr>
          <p:nvPr/>
        </p:nvPicPr>
        <p:blipFill>
          <a:blip r:embed="rId2"/>
          <a:stretch>
            <a:fillRect/>
          </a:stretch>
        </p:blipFill>
        <p:spPr>
          <a:xfrm>
            <a:off x="0" y="2062135"/>
            <a:ext cx="12192000" cy="4006718"/>
          </a:xfrm>
          <a:prstGeom prst="rect">
            <a:avLst/>
          </a:prstGeom>
        </p:spPr>
      </p:pic>
    </p:spTree>
    <p:extLst>
      <p:ext uri="{BB962C8B-B14F-4D97-AF65-F5344CB8AC3E}">
        <p14:creationId xmlns:p14="http://schemas.microsoft.com/office/powerpoint/2010/main" val="1707808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E219D36-AB74-9741-FAD6-9AF2692174F3}"/>
              </a:ext>
            </a:extLst>
          </p:cNvPr>
          <p:cNvPicPr>
            <a:picLocks noChangeAspect="1"/>
          </p:cNvPicPr>
          <p:nvPr/>
        </p:nvPicPr>
        <p:blipFill>
          <a:blip r:embed="rId2"/>
          <a:stretch>
            <a:fillRect/>
          </a:stretch>
        </p:blipFill>
        <p:spPr>
          <a:xfrm>
            <a:off x="4890531" y="151100"/>
            <a:ext cx="6516009" cy="2857899"/>
          </a:xfrm>
          <a:prstGeom prst="rect">
            <a:avLst/>
          </a:prstGeom>
        </p:spPr>
      </p:pic>
      <p:pic>
        <p:nvPicPr>
          <p:cNvPr id="7" name="Picture 6">
            <a:extLst>
              <a:ext uri="{FF2B5EF4-FFF2-40B4-BE49-F238E27FC236}">
                <a16:creationId xmlns:a16="http://schemas.microsoft.com/office/drawing/2014/main" id="{21EF54ED-256F-64AD-DB29-779A4476601F}"/>
              </a:ext>
            </a:extLst>
          </p:cNvPr>
          <p:cNvPicPr>
            <a:picLocks noChangeAspect="1"/>
          </p:cNvPicPr>
          <p:nvPr/>
        </p:nvPicPr>
        <p:blipFill>
          <a:blip r:embed="rId3"/>
          <a:stretch>
            <a:fillRect/>
          </a:stretch>
        </p:blipFill>
        <p:spPr>
          <a:xfrm>
            <a:off x="4890531" y="3281484"/>
            <a:ext cx="5553850" cy="2610214"/>
          </a:xfrm>
          <a:prstGeom prst="rect">
            <a:avLst/>
          </a:prstGeom>
        </p:spPr>
      </p:pic>
      <p:sp>
        <p:nvSpPr>
          <p:cNvPr id="8" name="Content Placeholder 2">
            <a:extLst>
              <a:ext uri="{FF2B5EF4-FFF2-40B4-BE49-F238E27FC236}">
                <a16:creationId xmlns:a16="http://schemas.microsoft.com/office/drawing/2014/main" id="{C4E6D763-3D98-D2E8-4E52-EF8A56D6B07D}"/>
              </a:ext>
            </a:extLst>
          </p:cNvPr>
          <p:cNvSpPr>
            <a:spLocks noGrp="1"/>
          </p:cNvSpPr>
          <p:nvPr>
            <p:ph idx="1"/>
          </p:nvPr>
        </p:nvSpPr>
        <p:spPr>
          <a:xfrm>
            <a:off x="485779" y="321940"/>
            <a:ext cx="3969489" cy="2265618"/>
          </a:xfrm>
        </p:spPr>
        <p:txBody>
          <a:bodyPr/>
          <a:lstStyle/>
          <a:p>
            <a:r>
              <a:rPr lang="sr-Latn-RS" dirty="0"/>
              <a:t>7 pronadjenih dokaza za konkretni slučaj</a:t>
            </a:r>
            <a:r>
              <a:rPr lang="en-US" dirty="0"/>
              <a:t>.</a:t>
            </a:r>
            <a:endParaRPr lang="sr-Latn-RS" dirty="0"/>
          </a:p>
          <a:p>
            <a:endParaRPr lang="sr-Latn-RS" dirty="0"/>
          </a:p>
          <a:p>
            <a:endParaRPr lang="sr-Latn-RS" dirty="0"/>
          </a:p>
          <a:p>
            <a:endParaRPr lang="sr-Latn-RS" dirty="0"/>
          </a:p>
          <a:p>
            <a:endParaRPr lang="sr-Latn-RS" dirty="0"/>
          </a:p>
          <a:p>
            <a:endParaRPr lang="en-US" dirty="0"/>
          </a:p>
        </p:txBody>
      </p:sp>
      <p:sp>
        <p:nvSpPr>
          <p:cNvPr id="9" name="Content Placeholder 2">
            <a:extLst>
              <a:ext uri="{FF2B5EF4-FFF2-40B4-BE49-F238E27FC236}">
                <a16:creationId xmlns:a16="http://schemas.microsoft.com/office/drawing/2014/main" id="{14611208-64BE-8E79-45A6-C42FA8E82C88}"/>
              </a:ext>
            </a:extLst>
          </p:cNvPr>
          <p:cNvSpPr txBox="1">
            <a:spLocks/>
          </p:cNvSpPr>
          <p:nvPr/>
        </p:nvSpPr>
        <p:spPr>
          <a:xfrm>
            <a:off x="15609" y="3281484"/>
            <a:ext cx="4439659" cy="226561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Iako ima olakšavajuće okolnosti</a:t>
            </a:r>
            <a:r>
              <a:rPr lang="en-US" dirty="0"/>
              <a:t>,</a:t>
            </a:r>
            <a:r>
              <a:rPr lang="sr-Latn-RS" dirty="0"/>
              <a:t> smanjenje kazne je zabranjeno zbog postojanja otežavajucih okolnosti, tako da kazna neće moći da ide ispod minimalne i verovatno će biti veća od minmalne</a:t>
            </a:r>
            <a:r>
              <a:rPr lang="en-US" dirty="0"/>
              <a:t>.</a:t>
            </a:r>
            <a:endParaRPr lang="sr-Latn-RS" dirty="0"/>
          </a:p>
          <a:p>
            <a:endParaRPr lang="sr-Latn-RS" dirty="0"/>
          </a:p>
          <a:p>
            <a:endParaRPr lang="sr-Latn-RS" dirty="0"/>
          </a:p>
          <a:p>
            <a:endParaRPr lang="sr-Latn-RS" dirty="0"/>
          </a:p>
          <a:p>
            <a:endParaRPr lang="en-US" dirty="0"/>
          </a:p>
        </p:txBody>
      </p:sp>
    </p:spTree>
    <p:extLst>
      <p:ext uri="{BB962C8B-B14F-4D97-AF65-F5344CB8AC3E}">
        <p14:creationId xmlns:p14="http://schemas.microsoft.com/office/powerpoint/2010/main" val="33529619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F276AF-3639-014F-F038-EB460CF36815}"/>
              </a:ext>
            </a:extLst>
          </p:cNvPr>
          <p:cNvSpPr>
            <a:spLocks noGrp="1"/>
          </p:cNvSpPr>
          <p:nvPr>
            <p:ph idx="1"/>
          </p:nvPr>
        </p:nvSpPr>
        <p:spPr>
          <a:xfrm>
            <a:off x="18850" y="0"/>
            <a:ext cx="10353762" cy="4058751"/>
          </a:xfrm>
        </p:spPr>
        <p:txBody>
          <a:bodyPr/>
          <a:lstStyle/>
          <a:p>
            <a:r>
              <a:rPr lang="sr-Latn-RS" dirty="0"/>
              <a:t>Još slučajeva</a:t>
            </a:r>
            <a:r>
              <a:rPr lang="en-US" dirty="0"/>
              <a:t>.</a:t>
            </a:r>
          </a:p>
        </p:txBody>
      </p:sp>
      <p:pic>
        <p:nvPicPr>
          <p:cNvPr id="7" name="Picture 6">
            <a:extLst>
              <a:ext uri="{FF2B5EF4-FFF2-40B4-BE49-F238E27FC236}">
                <a16:creationId xmlns:a16="http://schemas.microsoft.com/office/drawing/2014/main" id="{202E792B-DE82-C78B-1079-434596D40E5F}"/>
              </a:ext>
            </a:extLst>
          </p:cNvPr>
          <p:cNvPicPr>
            <a:picLocks noChangeAspect="1"/>
          </p:cNvPicPr>
          <p:nvPr/>
        </p:nvPicPr>
        <p:blipFill>
          <a:blip r:embed="rId2"/>
          <a:stretch>
            <a:fillRect/>
          </a:stretch>
        </p:blipFill>
        <p:spPr>
          <a:xfrm>
            <a:off x="-18850" y="3099304"/>
            <a:ext cx="12192000" cy="3758696"/>
          </a:xfrm>
          <a:prstGeom prst="rect">
            <a:avLst/>
          </a:prstGeom>
        </p:spPr>
      </p:pic>
      <p:pic>
        <p:nvPicPr>
          <p:cNvPr id="9" name="Picture 8">
            <a:extLst>
              <a:ext uri="{FF2B5EF4-FFF2-40B4-BE49-F238E27FC236}">
                <a16:creationId xmlns:a16="http://schemas.microsoft.com/office/drawing/2014/main" id="{8FB727E4-CA52-913C-DFD6-07DF97E0E470}"/>
              </a:ext>
            </a:extLst>
          </p:cNvPr>
          <p:cNvPicPr>
            <a:picLocks noChangeAspect="1"/>
          </p:cNvPicPr>
          <p:nvPr/>
        </p:nvPicPr>
        <p:blipFill>
          <a:blip r:embed="rId3"/>
          <a:stretch>
            <a:fillRect/>
          </a:stretch>
        </p:blipFill>
        <p:spPr>
          <a:xfrm>
            <a:off x="18850" y="577328"/>
            <a:ext cx="12192000" cy="3254032"/>
          </a:xfrm>
          <a:prstGeom prst="rect">
            <a:avLst/>
          </a:prstGeom>
        </p:spPr>
      </p:pic>
    </p:spTree>
    <p:extLst>
      <p:ext uri="{BB962C8B-B14F-4D97-AF65-F5344CB8AC3E}">
        <p14:creationId xmlns:p14="http://schemas.microsoft.com/office/powerpoint/2010/main" val="38787125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D3CC0-DC28-BFAB-DAB2-F2EBDC7A1EA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FD0C74-AFEA-1F27-6A25-0E1C18AE59B0}"/>
              </a:ext>
            </a:extLst>
          </p:cNvPr>
          <p:cNvSpPr>
            <a:spLocks noGrp="1"/>
          </p:cNvSpPr>
          <p:nvPr>
            <p:ph idx="1"/>
          </p:nvPr>
        </p:nvSpPr>
        <p:spPr>
          <a:xfrm>
            <a:off x="18849" y="-77822"/>
            <a:ext cx="12192000" cy="4058751"/>
          </a:xfrm>
        </p:spPr>
        <p:txBody>
          <a:bodyPr/>
          <a:lstStyle/>
          <a:p>
            <a:r>
              <a:rPr lang="sr-Latn-RS" dirty="0"/>
              <a:t>Još slučajeva, zbog kajanja </a:t>
            </a:r>
            <a:r>
              <a:rPr lang="en-US" dirty="0"/>
              <a:t>je </a:t>
            </a:r>
            <a:r>
              <a:rPr lang="sr-Latn-RS" dirty="0"/>
              <a:t>kazna verovatno malo manja, verovatno je sudija mekšeg srca nego naš model</a:t>
            </a:r>
            <a:r>
              <a:rPr lang="en-US" dirty="0"/>
              <a:t>, pa</a:t>
            </a:r>
            <a:r>
              <a:rPr lang="sr-Latn-RS" dirty="0"/>
              <a:t> ga je pogodilo kajanje. </a:t>
            </a:r>
            <a:r>
              <a:rPr lang="en-US" dirty="0" err="1"/>
              <a:t>Čim</a:t>
            </a:r>
            <a:r>
              <a:rPr lang="en-US" dirty="0"/>
              <a:t> </a:t>
            </a:r>
            <a:r>
              <a:rPr lang="sr-Latn-RS" dirty="0"/>
              <a:t>je neko ranije osudjivan kao otežavajuća okolnost</a:t>
            </a:r>
            <a:r>
              <a:rPr lang="en-US" dirty="0"/>
              <a:t> </a:t>
            </a:r>
            <a:r>
              <a:rPr lang="en-US" dirty="0" err="1"/>
              <a:t>daje</a:t>
            </a:r>
            <a:r>
              <a:rPr lang="en-US" dirty="0"/>
              <a:t> se </a:t>
            </a:r>
            <a:r>
              <a:rPr lang="sr-Latn-RS" dirty="0"/>
              <a:t>strožija kazna</a:t>
            </a:r>
            <a:r>
              <a:rPr lang="en-US" dirty="0"/>
              <a:t>.</a:t>
            </a:r>
          </a:p>
        </p:txBody>
      </p:sp>
      <p:pic>
        <p:nvPicPr>
          <p:cNvPr id="4" name="Picture 3">
            <a:extLst>
              <a:ext uri="{FF2B5EF4-FFF2-40B4-BE49-F238E27FC236}">
                <a16:creationId xmlns:a16="http://schemas.microsoft.com/office/drawing/2014/main" id="{7BAC8074-E508-841F-6D04-F93FC7F1E48B}"/>
              </a:ext>
            </a:extLst>
          </p:cNvPr>
          <p:cNvPicPr>
            <a:picLocks noChangeAspect="1"/>
          </p:cNvPicPr>
          <p:nvPr/>
        </p:nvPicPr>
        <p:blipFill>
          <a:blip r:embed="rId2"/>
          <a:stretch>
            <a:fillRect/>
          </a:stretch>
        </p:blipFill>
        <p:spPr>
          <a:xfrm>
            <a:off x="-18850" y="563022"/>
            <a:ext cx="12192000" cy="3495729"/>
          </a:xfrm>
          <a:prstGeom prst="rect">
            <a:avLst/>
          </a:prstGeom>
        </p:spPr>
      </p:pic>
      <p:pic>
        <p:nvPicPr>
          <p:cNvPr id="8" name="Picture 7">
            <a:extLst>
              <a:ext uri="{FF2B5EF4-FFF2-40B4-BE49-F238E27FC236}">
                <a16:creationId xmlns:a16="http://schemas.microsoft.com/office/drawing/2014/main" id="{1D09E95C-B488-2ADB-1D7D-4055BF090EB0}"/>
              </a:ext>
            </a:extLst>
          </p:cNvPr>
          <p:cNvPicPr>
            <a:picLocks noChangeAspect="1"/>
          </p:cNvPicPr>
          <p:nvPr/>
        </p:nvPicPr>
        <p:blipFill>
          <a:blip r:embed="rId3"/>
          <a:stretch>
            <a:fillRect/>
          </a:stretch>
        </p:blipFill>
        <p:spPr>
          <a:xfrm>
            <a:off x="-18850" y="3980929"/>
            <a:ext cx="12192000" cy="2885781"/>
          </a:xfrm>
          <a:prstGeom prst="rect">
            <a:avLst/>
          </a:prstGeom>
        </p:spPr>
      </p:pic>
    </p:spTree>
    <p:extLst>
      <p:ext uri="{BB962C8B-B14F-4D97-AF65-F5344CB8AC3E}">
        <p14:creationId xmlns:p14="http://schemas.microsoft.com/office/powerpoint/2010/main" val="20899394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B42A68-55AE-24C5-6D6E-1FAB50635277}"/>
              </a:ext>
            </a:extLst>
          </p:cNvPr>
          <p:cNvSpPr>
            <a:spLocks noGrp="1"/>
          </p:cNvSpPr>
          <p:nvPr>
            <p:ph idx="1"/>
          </p:nvPr>
        </p:nvSpPr>
        <p:spPr>
          <a:xfrm>
            <a:off x="193948" y="1712994"/>
            <a:ext cx="3308009" cy="4058751"/>
          </a:xfrm>
        </p:spPr>
        <p:txBody>
          <a:bodyPr/>
          <a:lstStyle/>
          <a:p>
            <a:r>
              <a:rPr lang="sr-Latn-RS" dirty="0"/>
              <a:t>Koristimo razne jcolibri pakete</a:t>
            </a:r>
            <a:r>
              <a:rPr lang="en-US" dirty="0"/>
              <a:t>.</a:t>
            </a:r>
          </a:p>
        </p:txBody>
      </p:sp>
      <p:sp>
        <p:nvSpPr>
          <p:cNvPr id="4" name="Title 1">
            <a:extLst>
              <a:ext uri="{FF2B5EF4-FFF2-40B4-BE49-F238E27FC236}">
                <a16:creationId xmlns:a16="http://schemas.microsoft.com/office/drawing/2014/main" id="{DC2A72D1-F0C5-578D-8F37-A784E7743A6D}"/>
              </a:ext>
            </a:extLst>
          </p:cNvPr>
          <p:cNvSpPr>
            <a:spLocks noGrp="1"/>
          </p:cNvSpPr>
          <p:nvPr>
            <p:ph type="title"/>
          </p:nvPr>
        </p:nvSpPr>
        <p:spPr>
          <a:xfrm>
            <a:off x="913882" y="181583"/>
            <a:ext cx="10353675" cy="969963"/>
          </a:xfrm>
        </p:spPr>
        <p:txBody>
          <a:bodyPr/>
          <a:lstStyle/>
          <a:p>
            <a:r>
              <a:rPr lang="sr-Latn-RS" dirty="0"/>
              <a:t>Rasudjivanje po sličnosti</a:t>
            </a:r>
            <a:endParaRPr lang="en-US" dirty="0"/>
          </a:p>
        </p:txBody>
      </p:sp>
      <p:pic>
        <p:nvPicPr>
          <p:cNvPr id="6" name="Picture 5">
            <a:extLst>
              <a:ext uri="{FF2B5EF4-FFF2-40B4-BE49-F238E27FC236}">
                <a16:creationId xmlns:a16="http://schemas.microsoft.com/office/drawing/2014/main" id="{BE8236EA-96E6-6983-5C2F-3500FB835C53}"/>
              </a:ext>
            </a:extLst>
          </p:cNvPr>
          <p:cNvPicPr>
            <a:picLocks noChangeAspect="1"/>
          </p:cNvPicPr>
          <p:nvPr/>
        </p:nvPicPr>
        <p:blipFill>
          <a:blip r:embed="rId2"/>
          <a:stretch>
            <a:fillRect/>
          </a:stretch>
        </p:blipFill>
        <p:spPr>
          <a:xfrm>
            <a:off x="3713960" y="1066800"/>
            <a:ext cx="8402223" cy="5496692"/>
          </a:xfrm>
          <a:prstGeom prst="rect">
            <a:avLst/>
          </a:prstGeom>
        </p:spPr>
      </p:pic>
    </p:spTree>
    <p:extLst>
      <p:ext uri="{BB962C8B-B14F-4D97-AF65-F5344CB8AC3E}">
        <p14:creationId xmlns:p14="http://schemas.microsoft.com/office/powerpoint/2010/main" val="27239775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33851-D4FC-F99F-1705-EC618928BD1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4C58F3-1D62-CE35-A9F9-BBA33A5510E7}"/>
              </a:ext>
            </a:extLst>
          </p:cNvPr>
          <p:cNvSpPr>
            <a:spLocks noGrp="1"/>
          </p:cNvSpPr>
          <p:nvPr>
            <p:ph idx="1"/>
          </p:nvPr>
        </p:nvSpPr>
        <p:spPr>
          <a:xfrm>
            <a:off x="84307" y="2537132"/>
            <a:ext cx="3339830" cy="2187714"/>
          </a:xfrm>
        </p:spPr>
        <p:txBody>
          <a:bodyPr/>
          <a:lstStyle/>
          <a:p>
            <a:r>
              <a:rPr lang="sr-Latn-RS" dirty="0"/>
              <a:t>Sličnost oslobodjenog i osudjenog je jako mala, dok je oslobodjen i uslovni sličniji</a:t>
            </a:r>
            <a:r>
              <a:rPr lang="en-US" dirty="0"/>
              <a:t>.</a:t>
            </a:r>
          </a:p>
        </p:txBody>
      </p:sp>
      <p:pic>
        <p:nvPicPr>
          <p:cNvPr id="10" name="Picture 9">
            <a:extLst>
              <a:ext uri="{FF2B5EF4-FFF2-40B4-BE49-F238E27FC236}">
                <a16:creationId xmlns:a16="http://schemas.microsoft.com/office/drawing/2014/main" id="{86CA5363-83F1-0475-6148-35EA94E379C9}"/>
              </a:ext>
            </a:extLst>
          </p:cNvPr>
          <p:cNvPicPr>
            <a:picLocks noChangeAspect="1"/>
          </p:cNvPicPr>
          <p:nvPr/>
        </p:nvPicPr>
        <p:blipFill>
          <a:blip r:embed="rId2"/>
          <a:stretch>
            <a:fillRect/>
          </a:stretch>
        </p:blipFill>
        <p:spPr>
          <a:xfrm>
            <a:off x="3580197" y="2537132"/>
            <a:ext cx="8611802" cy="1171739"/>
          </a:xfrm>
          <a:prstGeom prst="rect">
            <a:avLst/>
          </a:prstGeom>
        </p:spPr>
      </p:pic>
      <p:pic>
        <p:nvPicPr>
          <p:cNvPr id="12" name="Picture 11">
            <a:extLst>
              <a:ext uri="{FF2B5EF4-FFF2-40B4-BE49-F238E27FC236}">
                <a16:creationId xmlns:a16="http://schemas.microsoft.com/office/drawing/2014/main" id="{B5E00E13-E2E4-CFDE-92EF-8599F7A2F598}"/>
              </a:ext>
            </a:extLst>
          </p:cNvPr>
          <p:cNvPicPr>
            <a:picLocks noChangeAspect="1"/>
          </p:cNvPicPr>
          <p:nvPr/>
        </p:nvPicPr>
        <p:blipFill>
          <a:blip r:embed="rId3"/>
          <a:stretch>
            <a:fillRect/>
          </a:stretch>
        </p:blipFill>
        <p:spPr>
          <a:xfrm>
            <a:off x="2789512" y="0"/>
            <a:ext cx="9402487" cy="1657581"/>
          </a:xfrm>
          <a:prstGeom prst="rect">
            <a:avLst/>
          </a:prstGeom>
        </p:spPr>
      </p:pic>
      <p:sp>
        <p:nvSpPr>
          <p:cNvPr id="13" name="Content Placeholder 2">
            <a:extLst>
              <a:ext uri="{FF2B5EF4-FFF2-40B4-BE49-F238E27FC236}">
                <a16:creationId xmlns:a16="http://schemas.microsoft.com/office/drawing/2014/main" id="{9C0BD280-0E3C-C942-69D8-1064D842C05B}"/>
              </a:ext>
            </a:extLst>
          </p:cNvPr>
          <p:cNvSpPr txBox="1">
            <a:spLocks/>
          </p:cNvSpPr>
          <p:nvPr/>
        </p:nvSpPr>
        <p:spPr>
          <a:xfrm>
            <a:off x="-71336" y="0"/>
            <a:ext cx="2703776" cy="2276272"/>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Da i ne su sušta suprotnost, potpuno se razlikuju, znači sličnost 0, kada nešto nismo sigurni tj. Nepoznato je onda je 0.3</a:t>
            </a:r>
            <a:r>
              <a:rPr lang="en-US" dirty="0"/>
              <a:t>.</a:t>
            </a:r>
          </a:p>
        </p:txBody>
      </p:sp>
      <p:pic>
        <p:nvPicPr>
          <p:cNvPr id="15" name="Picture 14">
            <a:extLst>
              <a:ext uri="{FF2B5EF4-FFF2-40B4-BE49-F238E27FC236}">
                <a16:creationId xmlns:a16="http://schemas.microsoft.com/office/drawing/2014/main" id="{4376FB8F-73D1-6579-61BB-0C006EC93E7A}"/>
              </a:ext>
            </a:extLst>
          </p:cNvPr>
          <p:cNvPicPr>
            <a:picLocks noChangeAspect="1"/>
          </p:cNvPicPr>
          <p:nvPr/>
        </p:nvPicPr>
        <p:blipFill>
          <a:blip r:embed="rId4"/>
          <a:stretch>
            <a:fillRect/>
          </a:stretch>
        </p:blipFill>
        <p:spPr>
          <a:xfrm>
            <a:off x="3424137" y="4588422"/>
            <a:ext cx="8526065" cy="704948"/>
          </a:xfrm>
          <a:prstGeom prst="rect">
            <a:avLst/>
          </a:prstGeom>
        </p:spPr>
      </p:pic>
      <p:sp>
        <p:nvSpPr>
          <p:cNvPr id="16" name="Content Placeholder 2">
            <a:extLst>
              <a:ext uri="{FF2B5EF4-FFF2-40B4-BE49-F238E27FC236}">
                <a16:creationId xmlns:a16="http://schemas.microsoft.com/office/drawing/2014/main" id="{F3715A1B-ECEB-043F-578D-34B833969AB5}"/>
              </a:ext>
            </a:extLst>
          </p:cNvPr>
          <p:cNvSpPr txBox="1">
            <a:spLocks/>
          </p:cNvSpPr>
          <p:nvPr/>
        </p:nvSpPr>
        <p:spPr>
          <a:xfrm>
            <a:off x="0" y="4304323"/>
            <a:ext cx="3339830" cy="218771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Penzioner da bude zaposlen je retko, student da bude nezaposlen je često, a student da bude penzioner se veoma retko dešava</a:t>
            </a:r>
            <a:r>
              <a:rPr lang="en-US" dirty="0"/>
              <a:t>.</a:t>
            </a:r>
          </a:p>
        </p:txBody>
      </p:sp>
    </p:spTree>
    <p:extLst>
      <p:ext uri="{BB962C8B-B14F-4D97-AF65-F5344CB8AC3E}">
        <p14:creationId xmlns:p14="http://schemas.microsoft.com/office/powerpoint/2010/main" val="8676048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8BF47-9FB7-8157-3269-97A3287C0E01}"/>
              </a:ext>
            </a:extLst>
          </p:cNvPr>
          <p:cNvSpPr>
            <a:spLocks noGrp="1"/>
          </p:cNvSpPr>
          <p:nvPr>
            <p:ph type="title"/>
          </p:nvPr>
        </p:nvSpPr>
        <p:spPr>
          <a:xfrm>
            <a:off x="919119" y="249676"/>
            <a:ext cx="10353762" cy="970450"/>
          </a:xfrm>
        </p:spPr>
        <p:txBody>
          <a:bodyPr/>
          <a:lstStyle/>
          <a:p>
            <a:r>
              <a:rPr lang="sr-Latn-RS" dirty="0"/>
              <a:t>Rasudjivanje po sličnosti</a:t>
            </a:r>
            <a:endParaRPr lang="en-US" dirty="0"/>
          </a:p>
        </p:txBody>
      </p:sp>
      <p:pic>
        <p:nvPicPr>
          <p:cNvPr id="15" name="Picture 14">
            <a:extLst>
              <a:ext uri="{FF2B5EF4-FFF2-40B4-BE49-F238E27FC236}">
                <a16:creationId xmlns:a16="http://schemas.microsoft.com/office/drawing/2014/main" id="{316ADC50-396E-ED3D-C497-956C1513343B}"/>
              </a:ext>
            </a:extLst>
          </p:cNvPr>
          <p:cNvPicPr>
            <a:picLocks noChangeAspect="1"/>
          </p:cNvPicPr>
          <p:nvPr/>
        </p:nvPicPr>
        <p:blipFill>
          <a:blip r:embed="rId2"/>
          <a:stretch>
            <a:fillRect/>
          </a:stretch>
        </p:blipFill>
        <p:spPr>
          <a:xfrm>
            <a:off x="0" y="1282284"/>
            <a:ext cx="12192000" cy="5575716"/>
          </a:xfrm>
          <a:prstGeom prst="rect">
            <a:avLst/>
          </a:prstGeom>
        </p:spPr>
      </p:pic>
      <p:pic>
        <p:nvPicPr>
          <p:cNvPr id="17" name="Picture 16">
            <a:extLst>
              <a:ext uri="{FF2B5EF4-FFF2-40B4-BE49-F238E27FC236}">
                <a16:creationId xmlns:a16="http://schemas.microsoft.com/office/drawing/2014/main" id="{88E8A4BA-DCE2-F246-59A2-E655267B3663}"/>
              </a:ext>
            </a:extLst>
          </p:cNvPr>
          <p:cNvPicPr>
            <a:picLocks noChangeAspect="1"/>
          </p:cNvPicPr>
          <p:nvPr/>
        </p:nvPicPr>
        <p:blipFill>
          <a:blip r:embed="rId3"/>
          <a:stretch>
            <a:fillRect/>
          </a:stretch>
        </p:blipFill>
        <p:spPr>
          <a:xfrm>
            <a:off x="0" y="472546"/>
            <a:ext cx="3048425" cy="809738"/>
          </a:xfrm>
          <a:prstGeom prst="rect">
            <a:avLst/>
          </a:prstGeom>
        </p:spPr>
      </p:pic>
    </p:spTree>
    <p:extLst>
      <p:ext uri="{BB962C8B-B14F-4D97-AF65-F5344CB8AC3E}">
        <p14:creationId xmlns:p14="http://schemas.microsoft.com/office/powerpoint/2010/main" val="31154402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C8A685-9B9A-99B0-0874-BA068AD53407}"/>
              </a:ext>
            </a:extLst>
          </p:cNvPr>
          <p:cNvSpPr>
            <a:spLocks noGrp="1"/>
          </p:cNvSpPr>
          <p:nvPr>
            <p:ph idx="1"/>
          </p:nvPr>
        </p:nvSpPr>
        <p:spPr>
          <a:xfrm>
            <a:off x="0" y="283029"/>
            <a:ext cx="10353762" cy="4058751"/>
          </a:xfrm>
        </p:spPr>
        <p:txBody>
          <a:bodyPr/>
          <a:lstStyle/>
          <a:p>
            <a:r>
              <a:rPr lang="sr-Latn-RS" dirty="0"/>
              <a:t>Top 3 slučaja su preko 94%, parametri koji se gledaju nisu svi istih težina, u nastavku prikaz koeficijenata vrednosti</a:t>
            </a:r>
            <a:r>
              <a:rPr lang="en-US" dirty="0"/>
              <a:t>.</a:t>
            </a:r>
          </a:p>
        </p:txBody>
      </p:sp>
      <p:pic>
        <p:nvPicPr>
          <p:cNvPr id="7" name="Picture 6">
            <a:extLst>
              <a:ext uri="{FF2B5EF4-FFF2-40B4-BE49-F238E27FC236}">
                <a16:creationId xmlns:a16="http://schemas.microsoft.com/office/drawing/2014/main" id="{9E481A19-07D5-A71B-C9F7-20B90ED27137}"/>
              </a:ext>
            </a:extLst>
          </p:cNvPr>
          <p:cNvPicPr>
            <a:picLocks noChangeAspect="1"/>
          </p:cNvPicPr>
          <p:nvPr/>
        </p:nvPicPr>
        <p:blipFill>
          <a:blip r:embed="rId2"/>
          <a:stretch>
            <a:fillRect/>
          </a:stretch>
        </p:blipFill>
        <p:spPr>
          <a:xfrm>
            <a:off x="0" y="1171090"/>
            <a:ext cx="12192000" cy="5488585"/>
          </a:xfrm>
          <a:prstGeom prst="rect">
            <a:avLst/>
          </a:prstGeom>
        </p:spPr>
      </p:pic>
    </p:spTree>
    <p:extLst>
      <p:ext uri="{BB962C8B-B14F-4D97-AF65-F5344CB8AC3E}">
        <p14:creationId xmlns:p14="http://schemas.microsoft.com/office/powerpoint/2010/main" val="1523718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2464D4-99CD-4747-73DC-4A8E5F7910B7}"/>
              </a:ext>
            </a:extLst>
          </p:cNvPr>
          <p:cNvSpPr>
            <a:spLocks noGrp="1"/>
          </p:cNvSpPr>
          <p:nvPr>
            <p:ph idx="1"/>
          </p:nvPr>
        </p:nvSpPr>
        <p:spPr>
          <a:xfrm>
            <a:off x="107004" y="469475"/>
            <a:ext cx="10353762" cy="4058751"/>
          </a:xfrm>
        </p:spPr>
        <p:txBody>
          <a:bodyPr/>
          <a:lstStyle/>
          <a:p>
            <a:r>
              <a:rPr lang="sr-Latn-RS" dirty="0"/>
              <a:t>Naša je odluka bila da ubedljivo najveći doprinos dodamo ukupnom iznosu, ima smisla da neka sitna prevara od par desetina eura bi trebalo da se mnogo drugačije gleda nego neka velika </a:t>
            </a:r>
            <a:r>
              <a:rPr lang="en-US" dirty="0" err="1"/>
              <a:t>prevara</a:t>
            </a:r>
            <a:r>
              <a:rPr lang="sr-Latn-RS" dirty="0"/>
              <a:t> od nekoliko desetina hiljada eura, to deluje kao mnogo značajniji faktor nego zaposlenost ili bračni status ili obrazovanje, što i jeste, </a:t>
            </a:r>
            <a:r>
              <a:rPr lang="en-US" dirty="0" err="1"/>
              <a:t>zato</a:t>
            </a:r>
            <a:r>
              <a:rPr lang="en-US" dirty="0"/>
              <a:t> je </a:t>
            </a:r>
            <a:r>
              <a:rPr lang="sr-Latn-RS" dirty="0"/>
              <a:t>koeficijent 10 puta veći</a:t>
            </a:r>
            <a:r>
              <a:rPr lang="en-US" dirty="0"/>
              <a:t>.</a:t>
            </a:r>
          </a:p>
        </p:txBody>
      </p:sp>
      <p:pic>
        <p:nvPicPr>
          <p:cNvPr id="4" name="Picture 3">
            <a:extLst>
              <a:ext uri="{FF2B5EF4-FFF2-40B4-BE49-F238E27FC236}">
                <a16:creationId xmlns:a16="http://schemas.microsoft.com/office/drawing/2014/main" id="{1E8C60EA-4EBF-4003-BAF7-C0790E6D5899}"/>
              </a:ext>
            </a:extLst>
          </p:cNvPr>
          <p:cNvPicPr>
            <a:picLocks noChangeAspect="1"/>
          </p:cNvPicPr>
          <p:nvPr/>
        </p:nvPicPr>
        <p:blipFill>
          <a:blip r:embed="rId2"/>
          <a:stretch>
            <a:fillRect/>
          </a:stretch>
        </p:blipFill>
        <p:spPr>
          <a:xfrm>
            <a:off x="0" y="2260812"/>
            <a:ext cx="12192000" cy="3394210"/>
          </a:xfrm>
          <a:prstGeom prst="rect">
            <a:avLst/>
          </a:prstGeom>
        </p:spPr>
      </p:pic>
    </p:spTree>
    <p:extLst>
      <p:ext uri="{BB962C8B-B14F-4D97-AF65-F5344CB8AC3E}">
        <p14:creationId xmlns:p14="http://schemas.microsoft.com/office/powerpoint/2010/main" val="10091546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763232-97BC-0AED-3391-9BAD7DCEBEAE}"/>
              </a:ext>
            </a:extLst>
          </p:cNvPr>
          <p:cNvPicPr>
            <a:picLocks noChangeAspect="1"/>
          </p:cNvPicPr>
          <p:nvPr/>
        </p:nvPicPr>
        <p:blipFill>
          <a:blip r:embed="rId2"/>
          <a:stretch>
            <a:fillRect/>
          </a:stretch>
        </p:blipFill>
        <p:spPr>
          <a:xfrm>
            <a:off x="0" y="-542122"/>
            <a:ext cx="12192000" cy="2154547"/>
          </a:xfrm>
          <a:prstGeom prst="rect">
            <a:avLst/>
          </a:prstGeom>
        </p:spPr>
      </p:pic>
      <p:pic>
        <p:nvPicPr>
          <p:cNvPr id="7" name="Picture 6">
            <a:extLst>
              <a:ext uri="{FF2B5EF4-FFF2-40B4-BE49-F238E27FC236}">
                <a16:creationId xmlns:a16="http://schemas.microsoft.com/office/drawing/2014/main" id="{4BDA183A-68A5-F53A-DAE1-BD1841650B2F}"/>
              </a:ext>
            </a:extLst>
          </p:cNvPr>
          <p:cNvPicPr>
            <a:picLocks noChangeAspect="1"/>
          </p:cNvPicPr>
          <p:nvPr/>
        </p:nvPicPr>
        <p:blipFill>
          <a:blip r:embed="rId3"/>
          <a:stretch>
            <a:fillRect/>
          </a:stretch>
        </p:blipFill>
        <p:spPr>
          <a:xfrm>
            <a:off x="0" y="1414911"/>
            <a:ext cx="12192000" cy="2049220"/>
          </a:xfrm>
          <a:prstGeom prst="rect">
            <a:avLst/>
          </a:prstGeom>
        </p:spPr>
      </p:pic>
      <p:pic>
        <p:nvPicPr>
          <p:cNvPr id="11" name="Picture 10">
            <a:extLst>
              <a:ext uri="{FF2B5EF4-FFF2-40B4-BE49-F238E27FC236}">
                <a16:creationId xmlns:a16="http://schemas.microsoft.com/office/drawing/2014/main" id="{FB68FFE5-FDDC-C81E-408E-820ABAF0107B}"/>
              </a:ext>
            </a:extLst>
          </p:cNvPr>
          <p:cNvPicPr>
            <a:picLocks noChangeAspect="1"/>
          </p:cNvPicPr>
          <p:nvPr/>
        </p:nvPicPr>
        <p:blipFill>
          <a:blip r:embed="rId4"/>
          <a:stretch>
            <a:fillRect/>
          </a:stretch>
        </p:blipFill>
        <p:spPr>
          <a:xfrm>
            <a:off x="0" y="3464131"/>
            <a:ext cx="12192000" cy="1762699"/>
          </a:xfrm>
          <a:prstGeom prst="rect">
            <a:avLst/>
          </a:prstGeom>
        </p:spPr>
      </p:pic>
      <p:pic>
        <p:nvPicPr>
          <p:cNvPr id="13" name="Picture 12">
            <a:extLst>
              <a:ext uri="{FF2B5EF4-FFF2-40B4-BE49-F238E27FC236}">
                <a16:creationId xmlns:a16="http://schemas.microsoft.com/office/drawing/2014/main" id="{EDEBA6F3-B63E-670D-437C-A5575ABC4492}"/>
              </a:ext>
            </a:extLst>
          </p:cNvPr>
          <p:cNvPicPr>
            <a:picLocks noChangeAspect="1"/>
          </p:cNvPicPr>
          <p:nvPr/>
        </p:nvPicPr>
        <p:blipFill>
          <a:blip r:embed="rId5"/>
          <a:stretch>
            <a:fillRect/>
          </a:stretch>
        </p:blipFill>
        <p:spPr>
          <a:xfrm>
            <a:off x="0" y="5089634"/>
            <a:ext cx="12192000" cy="1702017"/>
          </a:xfrm>
          <a:prstGeom prst="rect">
            <a:avLst/>
          </a:prstGeom>
        </p:spPr>
      </p:pic>
    </p:spTree>
    <p:extLst>
      <p:ext uri="{BB962C8B-B14F-4D97-AF65-F5344CB8AC3E}">
        <p14:creationId xmlns:p14="http://schemas.microsoft.com/office/powerpoint/2010/main" val="5785312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25B29E-AC45-B52F-FB7D-D3FC4FFF79E6}"/>
              </a:ext>
            </a:extLst>
          </p:cNvPr>
          <p:cNvPicPr>
            <a:picLocks noChangeAspect="1"/>
          </p:cNvPicPr>
          <p:nvPr/>
        </p:nvPicPr>
        <p:blipFill>
          <a:blip r:embed="rId2"/>
          <a:stretch>
            <a:fillRect/>
          </a:stretch>
        </p:blipFill>
        <p:spPr>
          <a:xfrm>
            <a:off x="0" y="-313464"/>
            <a:ext cx="12192000" cy="2192496"/>
          </a:xfrm>
          <a:prstGeom prst="rect">
            <a:avLst/>
          </a:prstGeom>
        </p:spPr>
      </p:pic>
      <p:pic>
        <p:nvPicPr>
          <p:cNvPr id="7" name="Picture 6">
            <a:extLst>
              <a:ext uri="{FF2B5EF4-FFF2-40B4-BE49-F238E27FC236}">
                <a16:creationId xmlns:a16="http://schemas.microsoft.com/office/drawing/2014/main" id="{669EDC31-BC73-BC70-87CA-AAA7AEF0C0EC}"/>
              </a:ext>
            </a:extLst>
          </p:cNvPr>
          <p:cNvPicPr>
            <a:picLocks noChangeAspect="1"/>
          </p:cNvPicPr>
          <p:nvPr/>
        </p:nvPicPr>
        <p:blipFill>
          <a:blip r:embed="rId3"/>
          <a:stretch>
            <a:fillRect/>
          </a:stretch>
        </p:blipFill>
        <p:spPr>
          <a:xfrm>
            <a:off x="0" y="1658225"/>
            <a:ext cx="12192000" cy="2095500"/>
          </a:xfrm>
          <a:prstGeom prst="rect">
            <a:avLst/>
          </a:prstGeom>
        </p:spPr>
      </p:pic>
      <p:pic>
        <p:nvPicPr>
          <p:cNvPr id="9" name="Picture 8">
            <a:extLst>
              <a:ext uri="{FF2B5EF4-FFF2-40B4-BE49-F238E27FC236}">
                <a16:creationId xmlns:a16="http://schemas.microsoft.com/office/drawing/2014/main" id="{F33AC13F-5787-D311-7AD1-85EAB1F960C9}"/>
              </a:ext>
            </a:extLst>
          </p:cNvPr>
          <p:cNvPicPr>
            <a:picLocks noChangeAspect="1"/>
          </p:cNvPicPr>
          <p:nvPr/>
        </p:nvPicPr>
        <p:blipFill>
          <a:blip r:embed="rId4"/>
          <a:stretch>
            <a:fillRect/>
          </a:stretch>
        </p:blipFill>
        <p:spPr>
          <a:xfrm>
            <a:off x="0" y="3429000"/>
            <a:ext cx="12192000" cy="1664910"/>
          </a:xfrm>
          <a:prstGeom prst="rect">
            <a:avLst/>
          </a:prstGeom>
        </p:spPr>
      </p:pic>
      <p:pic>
        <p:nvPicPr>
          <p:cNvPr id="11" name="Picture 10">
            <a:extLst>
              <a:ext uri="{FF2B5EF4-FFF2-40B4-BE49-F238E27FC236}">
                <a16:creationId xmlns:a16="http://schemas.microsoft.com/office/drawing/2014/main" id="{2ECFBFF6-2DCB-FCB4-05DE-526F55F9BA2E}"/>
              </a:ext>
            </a:extLst>
          </p:cNvPr>
          <p:cNvPicPr>
            <a:picLocks noChangeAspect="1"/>
          </p:cNvPicPr>
          <p:nvPr/>
        </p:nvPicPr>
        <p:blipFill>
          <a:blip r:embed="rId5"/>
          <a:stretch>
            <a:fillRect/>
          </a:stretch>
        </p:blipFill>
        <p:spPr>
          <a:xfrm>
            <a:off x="0" y="5093910"/>
            <a:ext cx="12192000" cy="1653886"/>
          </a:xfrm>
          <a:prstGeom prst="rect">
            <a:avLst/>
          </a:prstGeom>
        </p:spPr>
      </p:pic>
    </p:spTree>
    <p:extLst>
      <p:ext uri="{BB962C8B-B14F-4D97-AF65-F5344CB8AC3E}">
        <p14:creationId xmlns:p14="http://schemas.microsoft.com/office/powerpoint/2010/main" val="38974753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58592-61D1-45D7-D4A3-CC24D9D44021}"/>
              </a:ext>
            </a:extLst>
          </p:cNvPr>
          <p:cNvSpPr>
            <a:spLocks noGrp="1"/>
          </p:cNvSpPr>
          <p:nvPr>
            <p:ph type="title"/>
          </p:nvPr>
        </p:nvSpPr>
        <p:spPr>
          <a:xfrm>
            <a:off x="913795" y="96350"/>
            <a:ext cx="10353762" cy="970450"/>
          </a:xfrm>
        </p:spPr>
        <p:txBody>
          <a:bodyPr/>
          <a:lstStyle/>
          <a:p>
            <a:r>
              <a:rPr lang="en-US" dirty="0" err="1"/>
              <a:t>Korisnikov</a:t>
            </a:r>
            <a:r>
              <a:rPr lang="en-US" dirty="0"/>
              <a:t> </a:t>
            </a:r>
            <a:r>
              <a:rPr lang="en-US" dirty="0" err="1"/>
              <a:t>slučaj</a:t>
            </a:r>
            <a:endParaRPr lang="en-US" dirty="0"/>
          </a:p>
        </p:txBody>
      </p:sp>
      <p:pic>
        <p:nvPicPr>
          <p:cNvPr id="6" name="Picture 5">
            <a:extLst>
              <a:ext uri="{FF2B5EF4-FFF2-40B4-BE49-F238E27FC236}">
                <a16:creationId xmlns:a16="http://schemas.microsoft.com/office/drawing/2014/main" id="{83030F64-2DF5-4011-981B-8505BE977674}"/>
              </a:ext>
            </a:extLst>
          </p:cNvPr>
          <p:cNvPicPr>
            <a:picLocks noChangeAspect="1"/>
          </p:cNvPicPr>
          <p:nvPr/>
        </p:nvPicPr>
        <p:blipFill>
          <a:blip r:embed="rId2"/>
          <a:stretch>
            <a:fillRect/>
          </a:stretch>
        </p:blipFill>
        <p:spPr>
          <a:xfrm>
            <a:off x="0" y="1066800"/>
            <a:ext cx="12187190" cy="4778188"/>
          </a:xfrm>
          <a:prstGeom prst="rect">
            <a:avLst/>
          </a:prstGeom>
        </p:spPr>
      </p:pic>
    </p:spTree>
    <p:extLst>
      <p:ext uri="{BB962C8B-B14F-4D97-AF65-F5344CB8AC3E}">
        <p14:creationId xmlns:p14="http://schemas.microsoft.com/office/powerpoint/2010/main" val="23132008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6C28AF-FA86-49BD-968D-01DA8C597344}"/>
              </a:ext>
            </a:extLst>
          </p:cNvPr>
          <p:cNvSpPr>
            <a:spLocks noGrp="1"/>
          </p:cNvSpPr>
          <p:nvPr>
            <p:ph idx="1"/>
          </p:nvPr>
        </p:nvSpPr>
        <p:spPr>
          <a:xfrm>
            <a:off x="0" y="30109"/>
            <a:ext cx="10353762" cy="4058751"/>
          </a:xfrm>
        </p:spPr>
        <p:txBody>
          <a:bodyPr/>
          <a:lstStyle/>
          <a:p>
            <a:r>
              <a:rPr lang="en-US" dirty="0" err="1"/>
              <a:t>Uneti</a:t>
            </a:r>
            <a:r>
              <a:rPr lang="en-US" dirty="0"/>
              <a:t> </a:t>
            </a:r>
            <a:r>
              <a:rPr lang="en-US" dirty="0" err="1"/>
              <a:t>podaci</a:t>
            </a:r>
            <a:r>
              <a:rPr lang="en-US" dirty="0"/>
              <a:t> od </a:t>
            </a:r>
            <a:r>
              <a:rPr lang="en-US" dirty="0" err="1"/>
              <a:t>strane</a:t>
            </a:r>
            <a:r>
              <a:rPr lang="en-US" dirty="0"/>
              <a:t> </a:t>
            </a:r>
            <a:r>
              <a:rPr lang="en-US" dirty="0" err="1"/>
              <a:t>korisnka</a:t>
            </a:r>
            <a:r>
              <a:rPr lang="en-US" dirty="0"/>
              <a:t>.</a:t>
            </a:r>
          </a:p>
        </p:txBody>
      </p:sp>
      <p:pic>
        <p:nvPicPr>
          <p:cNvPr id="7" name="Picture 6">
            <a:extLst>
              <a:ext uri="{FF2B5EF4-FFF2-40B4-BE49-F238E27FC236}">
                <a16:creationId xmlns:a16="http://schemas.microsoft.com/office/drawing/2014/main" id="{04B48E70-296E-7AE8-1EC4-5CB62525AEE1}"/>
              </a:ext>
            </a:extLst>
          </p:cNvPr>
          <p:cNvPicPr>
            <a:picLocks noChangeAspect="1"/>
          </p:cNvPicPr>
          <p:nvPr/>
        </p:nvPicPr>
        <p:blipFill>
          <a:blip r:embed="rId2"/>
          <a:stretch>
            <a:fillRect/>
          </a:stretch>
        </p:blipFill>
        <p:spPr>
          <a:xfrm>
            <a:off x="0" y="669475"/>
            <a:ext cx="12192000" cy="5519049"/>
          </a:xfrm>
          <a:prstGeom prst="rect">
            <a:avLst/>
          </a:prstGeom>
        </p:spPr>
      </p:pic>
    </p:spTree>
    <p:extLst>
      <p:ext uri="{BB962C8B-B14F-4D97-AF65-F5344CB8AC3E}">
        <p14:creationId xmlns:p14="http://schemas.microsoft.com/office/powerpoint/2010/main" val="5091922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A91A0C-0097-7F0B-1945-40D9EE57E03E}"/>
              </a:ext>
            </a:extLst>
          </p:cNvPr>
          <p:cNvPicPr>
            <a:picLocks noChangeAspect="1"/>
          </p:cNvPicPr>
          <p:nvPr/>
        </p:nvPicPr>
        <p:blipFill>
          <a:blip r:embed="rId2"/>
          <a:stretch>
            <a:fillRect/>
          </a:stretch>
        </p:blipFill>
        <p:spPr>
          <a:xfrm>
            <a:off x="0" y="945132"/>
            <a:ext cx="12192000" cy="5434663"/>
          </a:xfrm>
          <a:prstGeom prst="rect">
            <a:avLst/>
          </a:prstGeom>
        </p:spPr>
      </p:pic>
      <p:sp>
        <p:nvSpPr>
          <p:cNvPr id="4" name="Content Placeholder 2">
            <a:extLst>
              <a:ext uri="{FF2B5EF4-FFF2-40B4-BE49-F238E27FC236}">
                <a16:creationId xmlns:a16="http://schemas.microsoft.com/office/drawing/2014/main" id="{33BAF354-998D-FEF8-A78C-570622B7EB73}"/>
              </a:ext>
            </a:extLst>
          </p:cNvPr>
          <p:cNvSpPr>
            <a:spLocks noGrp="1"/>
          </p:cNvSpPr>
          <p:nvPr>
            <p:ph idx="1"/>
          </p:nvPr>
        </p:nvSpPr>
        <p:spPr>
          <a:xfrm>
            <a:off x="0" y="0"/>
            <a:ext cx="12192000" cy="4058751"/>
          </a:xfrm>
        </p:spPr>
        <p:txBody>
          <a:bodyPr/>
          <a:lstStyle/>
          <a:p>
            <a:r>
              <a:rPr lang="sr-Latn-RS" dirty="0"/>
              <a:t>Nova tekstualna polja za unos, za svedoke, dokaze i opis slučaja</a:t>
            </a:r>
            <a:endParaRPr lang="en-US" dirty="0"/>
          </a:p>
        </p:txBody>
      </p:sp>
    </p:spTree>
    <p:extLst>
      <p:ext uri="{BB962C8B-B14F-4D97-AF65-F5344CB8AC3E}">
        <p14:creationId xmlns:p14="http://schemas.microsoft.com/office/powerpoint/2010/main" val="39035039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A522A2-B7BC-D2AA-ADB8-9E46E7050D8B}"/>
              </a:ext>
            </a:extLst>
          </p:cNvPr>
          <p:cNvSpPr>
            <a:spLocks noGrp="1"/>
          </p:cNvSpPr>
          <p:nvPr>
            <p:ph idx="1"/>
          </p:nvPr>
        </p:nvSpPr>
        <p:spPr>
          <a:xfrm>
            <a:off x="0" y="0"/>
            <a:ext cx="12192000" cy="4058751"/>
          </a:xfrm>
        </p:spPr>
        <p:txBody>
          <a:bodyPr/>
          <a:lstStyle/>
          <a:p>
            <a:r>
              <a:rPr lang="sr-Latn-RS" dirty="0"/>
              <a:t>Da bi se ubrzao proces rada dodato je dugme za automatsko generisanje opisa na osnovu meta podataka</a:t>
            </a:r>
            <a:r>
              <a:rPr lang="en-US" dirty="0"/>
              <a:t>,</a:t>
            </a:r>
            <a:r>
              <a:rPr lang="sr-Latn-RS" dirty="0"/>
              <a:t> tako da sudija nebi morao sve ručno da unosi.</a:t>
            </a:r>
            <a:endParaRPr lang="en-US" dirty="0"/>
          </a:p>
        </p:txBody>
      </p:sp>
      <p:pic>
        <p:nvPicPr>
          <p:cNvPr id="5" name="Picture 4">
            <a:extLst>
              <a:ext uri="{FF2B5EF4-FFF2-40B4-BE49-F238E27FC236}">
                <a16:creationId xmlns:a16="http://schemas.microsoft.com/office/drawing/2014/main" id="{97B7563D-75E2-94D0-8750-8432377B838F}"/>
              </a:ext>
            </a:extLst>
          </p:cNvPr>
          <p:cNvPicPr>
            <a:picLocks noChangeAspect="1"/>
          </p:cNvPicPr>
          <p:nvPr/>
        </p:nvPicPr>
        <p:blipFill>
          <a:blip r:embed="rId2"/>
          <a:stretch>
            <a:fillRect/>
          </a:stretch>
        </p:blipFill>
        <p:spPr>
          <a:xfrm>
            <a:off x="0" y="752816"/>
            <a:ext cx="12192000" cy="5352368"/>
          </a:xfrm>
          <a:prstGeom prst="rect">
            <a:avLst/>
          </a:prstGeom>
        </p:spPr>
      </p:pic>
    </p:spTree>
    <p:extLst>
      <p:ext uri="{BB962C8B-B14F-4D97-AF65-F5344CB8AC3E}">
        <p14:creationId xmlns:p14="http://schemas.microsoft.com/office/powerpoint/2010/main" val="12731157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92305A-8E22-452E-A9BC-F07AB4C4D799}"/>
              </a:ext>
            </a:extLst>
          </p:cNvPr>
          <p:cNvSpPr>
            <a:spLocks noGrp="1"/>
          </p:cNvSpPr>
          <p:nvPr>
            <p:ph idx="1"/>
          </p:nvPr>
        </p:nvSpPr>
        <p:spPr>
          <a:xfrm>
            <a:off x="89647" y="764260"/>
            <a:ext cx="2599765" cy="4058751"/>
          </a:xfrm>
        </p:spPr>
        <p:txBody>
          <a:bodyPr/>
          <a:lstStyle/>
          <a:p>
            <a:r>
              <a:rPr lang="en-US" dirty="0" err="1"/>
              <a:t>Šablonsko</a:t>
            </a:r>
            <a:r>
              <a:rPr lang="en-US" dirty="0"/>
              <a:t> rule-based </a:t>
            </a:r>
            <a:r>
              <a:rPr lang="en-US" dirty="0" err="1"/>
              <a:t>generisanje</a:t>
            </a:r>
            <a:r>
              <a:rPr lang="en-US" dirty="0"/>
              <a:t> </a:t>
            </a:r>
            <a:r>
              <a:rPr lang="en-US" dirty="0" err="1"/>
              <a:t>teksta</a:t>
            </a:r>
            <a:r>
              <a:rPr lang="en-US" dirty="0"/>
              <a:t> </a:t>
            </a:r>
            <a:r>
              <a:rPr lang="en-US" dirty="0" err="1"/>
              <a:t>iz</a:t>
            </a:r>
            <a:r>
              <a:rPr lang="en-US" dirty="0"/>
              <a:t> </a:t>
            </a:r>
            <a:r>
              <a:rPr lang="en-US" dirty="0" err="1"/>
              <a:t>forme</a:t>
            </a:r>
            <a:r>
              <a:rPr lang="en-US" dirty="0"/>
              <a:t>.</a:t>
            </a:r>
          </a:p>
          <a:p>
            <a:r>
              <a:rPr lang="en-US" dirty="0"/>
              <a:t>Na </a:t>
            </a:r>
            <a:r>
              <a:rPr lang="en-US" dirty="0" err="1"/>
              <a:t>kraju</a:t>
            </a:r>
            <a:r>
              <a:rPr lang="en-US" dirty="0"/>
              <a:t> </a:t>
            </a:r>
            <a:r>
              <a:rPr lang="en-US" dirty="0" err="1"/>
              <a:t>te</a:t>
            </a:r>
            <a:r>
              <a:rPr lang="en-US" dirty="0"/>
              <a:t> </a:t>
            </a:r>
            <a:r>
              <a:rPr lang="en-US" dirty="0" err="1"/>
              <a:t>delove</a:t>
            </a:r>
            <a:r>
              <a:rPr lang="en-US" dirty="0"/>
              <a:t> </a:t>
            </a:r>
            <a:r>
              <a:rPr lang="en-US" dirty="0" err="1"/>
              <a:t>spojimo</a:t>
            </a:r>
            <a:r>
              <a:rPr lang="en-US" dirty="0"/>
              <a:t> u </a:t>
            </a:r>
            <a:r>
              <a:rPr lang="en-US" dirty="0" err="1"/>
              <a:t>jedan</a:t>
            </a:r>
            <a:r>
              <a:rPr lang="en-US" dirty="0"/>
              <a:t> </a:t>
            </a:r>
            <a:r>
              <a:rPr lang="en-US" dirty="0" err="1"/>
              <a:t>tekst</a:t>
            </a:r>
            <a:r>
              <a:rPr lang="en-US" dirty="0"/>
              <a:t> </a:t>
            </a:r>
            <a:r>
              <a:rPr lang="en-US" dirty="0" err="1"/>
              <a:t>i</a:t>
            </a:r>
            <a:r>
              <a:rPr lang="en-US" dirty="0"/>
              <a:t> </a:t>
            </a:r>
            <a:r>
              <a:rPr lang="en-US" dirty="0" err="1"/>
              <a:t>vratimo</a:t>
            </a:r>
            <a:r>
              <a:rPr lang="en-US" dirty="0"/>
              <a:t> ga </a:t>
            </a:r>
            <a:r>
              <a:rPr lang="en-US" dirty="0" err="1"/>
              <a:t>kao</a:t>
            </a:r>
            <a:r>
              <a:rPr lang="en-US" dirty="0"/>
              <a:t> </a:t>
            </a:r>
            <a:r>
              <a:rPr lang="en-US" dirty="0" err="1"/>
              <a:t>opis</a:t>
            </a:r>
            <a:r>
              <a:rPr lang="en-US" dirty="0"/>
              <a:t> </a:t>
            </a:r>
            <a:r>
              <a:rPr lang="en-US" dirty="0" err="1"/>
              <a:t>slučaja</a:t>
            </a:r>
            <a:r>
              <a:rPr lang="en-US" dirty="0"/>
              <a:t>.</a:t>
            </a:r>
          </a:p>
        </p:txBody>
      </p:sp>
      <p:pic>
        <p:nvPicPr>
          <p:cNvPr id="5" name="Picture 4">
            <a:extLst>
              <a:ext uri="{FF2B5EF4-FFF2-40B4-BE49-F238E27FC236}">
                <a16:creationId xmlns:a16="http://schemas.microsoft.com/office/drawing/2014/main" id="{8F326849-9DFA-45F8-B343-D579A0F92F0E}"/>
              </a:ext>
            </a:extLst>
          </p:cNvPr>
          <p:cNvPicPr>
            <a:picLocks noChangeAspect="1"/>
          </p:cNvPicPr>
          <p:nvPr/>
        </p:nvPicPr>
        <p:blipFill>
          <a:blip r:embed="rId2"/>
          <a:stretch>
            <a:fillRect/>
          </a:stretch>
        </p:blipFill>
        <p:spPr>
          <a:xfrm>
            <a:off x="2965285" y="485364"/>
            <a:ext cx="9040487" cy="5887272"/>
          </a:xfrm>
          <a:prstGeom prst="rect">
            <a:avLst/>
          </a:prstGeom>
        </p:spPr>
      </p:pic>
    </p:spTree>
    <p:extLst>
      <p:ext uri="{BB962C8B-B14F-4D97-AF65-F5344CB8AC3E}">
        <p14:creationId xmlns:p14="http://schemas.microsoft.com/office/powerpoint/2010/main" val="17165404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BB4413-BCA0-71CF-1A7F-4ABB99D2C2CD}"/>
              </a:ext>
            </a:extLst>
          </p:cNvPr>
          <p:cNvSpPr>
            <a:spLocks noGrp="1"/>
          </p:cNvSpPr>
          <p:nvPr>
            <p:ph idx="1"/>
          </p:nvPr>
        </p:nvSpPr>
        <p:spPr>
          <a:xfrm>
            <a:off x="0" y="0"/>
            <a:ext cx="10614212" cy="4058751"/>
          </a:xfrm>
        </p:spPr>
        <p:txBody>
          <a:bodyPr/>
          <a:lstStyle/>
          <a:p>
            <a:r>
              <a:rPr lang="sr-Latn-RS" dirty="0"/>
              <a:t>Dugme generiši opis je ovo ubacilo u tekstualno polje, naravno ako se korisniku nešto ne svidja on može da izmeni to, ali u ovom slučaju ništa nije menjano i idemo na sledeći korak</a:t>
            </a:r>
            <a:r>
              <a:rPr lang="en-US" dirty="0"/>
              <a:t>.</a:t>
            </a:r>
          </a:p>
        </p:txBody>
      </p:sp>
      <p:pic>
        <p:nvPicPr>
          <p:cNvPr id="5" name="Picture 4">
            <a:extLst>
              <a:ext uri="{FF2B5EF4-FFF2-40B4-BE49-F238E27FC236}">
                <a16:creationId xmlns:a16="http://schemas.microsoft.com/office/drawing/2014/main" id="{5D1FF225-96EC-E97E-3169-719C3FDC8B0B}"/>
              </a:ext>
            </a:extLst>
          </p:cNvPr>
          <p:cNvPicPr>
            <a:picLocks noChangeAspect="1"/>
          </p:cNvPicPr>
          <p:nvPr/>
        </p:nvPicPr>
        <p:blipFill>
          <a:blip r:embed="rId2"/>
          <a:stretch>
            <a:fillRect/>
          </a:stretch>
        </p:blipFill>
        <p:spPr>
          <a:xfrm>
            <a:off x="0" y="969724"/>
            <a:ext cx="12192000" cy="5385479"/>
          </a:xfrm>
          <a:prstGeom prst="rect">
            <a:avLst/>
          </a:prstGeom>
        </p:spPr>
      </p:pic>
    </p:spTree>
    <p:extLst>
      <p:ext uri="{BB962C8B-B14F-4D97-AF65-F5344CB8AC3E}">
        <p14:creationId xmlns:p14="http://schemas.microsoft.com/office/powerpoint/2010/main" val="38038386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134601-8253-B3BE-C7F7-418CCD557CF2}"/>
              </a:ext>
            </a:extLst>
          </p:cNvPr>
          <p:cNvSpPr>
            <a:spLocks noGrp="1"/>
          </p:cNvSpPr>
          <p:nvPr>
            <p:ph idx="1"/>
          </p:nvPr>
        </p:nvSpPr>
        <p:spPr>
          <a:xfrm>
            <a:off x="5323" y="175564"/>
            <a:ext cx="11852693" cy="4058751"/>
          </a:xfrm>
        </p:spPr>
        <p:txBody>
          <a:bodyPr/>
          <a:lstStyle/>
          <a:p>
            <a:r>
              <a:rPr lang="sr-Latn-RS" dirty="0"/>
              <a:t>Koristi se Markov chain model koji je obučen na 129 postojecih sudskih presuda, on generiše tekst u narednim koracima, on će koristiti informcije iz rasudjivanja po pravilima i po sličnosti koje će se takodje automatski pokrenuti kada kliknemo generiši presudu.</a:t>
            </a:r>
          </a:p>
          <a:p>
            <a:r>
              <a:rPr lang="sr-Latn-RS" dirty="0"/>
              <a:t>XML će se tek sačuvati kada sudija donese konačnu odluku, čeka se na sudiju. </a:t>
            </a:r>
            <a:endParaRPr lang="en-US" dirty="0"/>
          </a:p>
        </p:txBody>
      </p:sp>
      <p:pic>
        <p:nvPicPr>
          <p:cNvPr id="5" name="Picture 4">
            <a:extLst>
              <a:ext uri="{FF2B5EF4-FFF2-40B4-BE49-F238E27FC236}">
                <a16:creationId xmlns:a16="http://schemas.microsoft.com/office/drawing/2014/main" id="{64AB9A74-E83B-86A5-CBE9-9B1114EAE240}"/>
              </a:ext>
            </a:extLst>
          </p:cNvPr>
          <p:cNvPicPr>
            <a:picLocks noChangeAspect="1"/>
          </p:cNvPicPr>
          <p:nvPr/>
        </p:nvPicPr>
        <p:blipFill>
          <a:blip r:embed="rId2"/>
          <a:stretch>
            <a:fillRect/>
          </a:stretch>
        </p:blipFill>
        <p:spPr>
          <a:xfrm>
            <a:off x="-5324" y="1625916"/>
            <a:ext cx="12192000" cy="4633138"/>
          </a:xfrm>
          <a:prstGeom prst="rect">
            <a:avLst/>
          </a:prstGeom>
        </p:spPr>
      </p:pic>
    </p:spTree>
    <p:extLst>
      <p:ext uri="{BB962C8B-B14F-4D97-AF65-F5344CB8AC3E}">
        <p14:creationId xmlns:p14="http://schemas.microsoft.com/office/powerpoint/2010/main" val="28797388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D9310-A08A-4E57-8B42-50F5B14DB6C5}"/>
              </a:ext>
            </a:extLst>
          </p:cNvPr>
          <p:cNvSpPr>
            <a:spLocks noGrp="1"/>
          </p:cNvSpPr>
          <p:nvPr>
            <p:ph type="title"/>
          </p:nvPr>
        </p:nvSpPr>
        <p:spPr>
          <a:xfrm>
            <a:off x="913795" y="96350"/>
            <a:ext cx="10353762" cy="970450"/>
          </a:xfrm>
        </p:spPr>
        <p:txBody>
          <a:bodyPr/>
          <a:lstStyle/>
          <a:p>
            <a:r>
              <a:rPr lang="en-US" dirty="0"/>
              <a:t>Markov Chain model</a:t>
            </a:r>
          </a:p>
        </p:txBody>
      </p:sp>
      <p:sp>
        <p:nvSpPr>
          <p:cNvPr id="3" name="Content Placeholder 2">
            <a:extLst>
              <a:ext uri="{FF2B5EF4-FFF2-40B4-BE49-F238E27FC236}">
                <a16:creationId xmlns:a16="http://schemas.microsoft.com/office/drawing/2014/main" id="{C9853838-23E3-4E3E-B111-C50BB6B9947D}"/>
              </a:ext>
            </a:extLst>
          </p:cNvPr>
          <p:cNvSpPr>
            <a:spLocks noGrp="1"/>
          </p:cNvSpPr>
          <p:nvPr>
            <p:ph idx="1"/>
          </p:nvPr>
        </p:nvSpPr>
        <p:spPr>
          <a:xfrm>
            <a:off x="473985" y="1822096"/>
            <a:ext cx="11233382" cy="4148398"/>
          </a:xfrm>
        </p:spPr>
        <p:txBody>
          <a:bodyPr/>
          <a:lstStyle/>
          <a:p>
            <a:r>
              <a:rPr lang="en-US" dirty="0"/>
              <a:t>Model </a:t>
            </a:r>
            <a:r>
              <a:rPr lang="en-US" dirty="0" err="1"/>
              <a:t>pamti</a:t>
            </a:r>
            <a:r>
              <a:rPr lang="en-US" dirty="0"/>
              <a:t> </a:t>
            </a:r>
            <a:r>
              <a:rPr lang="en-US" dirty="0" err="1"/>
              <a:t>koje</a:t>
            </a:r>
            <a:r>
              <a:rPr lang="en-US" dirty="0"/>
              <a:t> </a:t>
            </a:r>
            <a:r>
              <a:rPr lang="en-US" dirty="0" err="1"/>
              <a:t>reči</a:t>
            </a:r>
            <a:r>
              <a:rPr lang="en-US" dirty="0"/>
              <a:t> </a:t>
            </a:r>
            <a:r>
              <a:rPr lang="en-US" dirty="0" err="1"/>
              <a:t>najčešće</a:t>
            </a:r>
            <a:r>
              <a:rPr lang="en-US" dirty="0"/>
              <a:t> </a:t>
            </a:r>
            <a:r>
              <a:rPr lang="en-US" dirty="0" err="1"/>
              <a:t>dolaze</a:t>
            </a:r>
            <a:r>
              <a:rPr lang="en-US" dirty="0"/>
              <a:t> </a:t>
            </a:r>
            <a:r>
              <a:rPr lang="en-US" dirty="0" err="1"/>
              <a:t>posle</a:t>
            </a:r>
            <a:r>
              <a:rPr lang="en-US" dirty="0"/>
              <a:t> para </a:t>
            </a:r>
            <a:r>
              <a:rPr lang="en-US" dirty="0" err="1"/>
              <a:t>prethodnih</a:t>
            </a:r>
            <a:r>
              <a:rPr lang="en-US" dirty="0"/>
              <a:t> </a:t>
            </a:r>
            <a:r>
              <a:rPr lang="en-US" dirty="0" err="1"/>
              <a:t>reči</a:t>
            </a:r>
            <a:r>
              <a:rPr lang="en-US" dirty="0"/>
              <a:t>, pa </a:t>
            </a:r>
            <a:r>
              <a:rPr lang="en-US" dirty="0" err="1"/>
              <a:t>novu</a:t>
            </a:r>
            <a:r>
              <a:rPr lang="en-US" dirty="0"/>
              <a:t> </a:t>
            </a:r>
            <a:r>
              <a:rPr lang="en-US" dirty="0" err="1"/>
              <a:t>rečenicu</a:t>
            </a:r>
            <a:r>
              <a:rPr lang="en-US" dirty="0"/>
              <a:t> </a:t>
            </a:r>
            <a:r>
              <a:rPr lang="en-US" dirty="0" err="1"/>
              <a:t>sklapa</a:t>
            </a:r>
            <a:r>
              <a:rPr lang="en-US" dirty="0"/>
              <a:t> </a:t>
            </a:r>
            <a:r>
              <a:rPr lang="en-US" dirty="0" err="1"/>
              <a:t>tako</a:t>
            </a:r>
            <a:r>
              <a:rPr lang="en-US" dirty="0"/>
              <a:t> </a:t>
            </a:r>
            <a:r>
              <a:rPr lang="en-US" dirty="0" err="1"/>
              <a:t>što</a:t>
            </a:r>
            <a:r>
              <a:rPr lang="en-US" dirty="0"/>
              <a:t> </a:t>
            </a:r>
            <a:r>
              <a:rPr lang="en-US" dirty="0" err="1"/>
              <a:t>korak</a:t>
            </a:r>
            <a:r>
              <a:rPr lang="en-US" dirty="0"/>
              <a:t> po </a:t>
            </a:r>
            <a:r>
              <a:rPr lang="en-US" dirty="0" err="1"/>
              <a:t>korak</a:t>
            </a:r>
            <a:r>
              <a:rPr lang="en-US" dirty="0"/>
              <a:t> </a:t>
            </a:r>
            <a:r>
              <a:rPr lang="en-US" dirty="0" err="1"/>
              <a:t>bira</a:t>
            </a:r>
            <a:r>
              <a:rPr lang="en-US" dirty="0"/>
              <a:t> </a:t>
            </a:r>
            <a:r>
              <a:rPr lang="en-US" dirty="0" err="1"/>
              <a:t>sledeću</a:t>
            </a:r>
            <a:r>
              <a:rPr lang="en-US" dirty="0"/>
              <a:t> </a:t>
            </a:r>
            <a:r>
              <a:rPr lang="en-US" dirty="0" err="1"/>
              <a:t>reč</a:t>
            </a:r>
            <a:r>
              <a:rPr lang="en-US" dirty="0"/>
              <a:t> po </a:t>
            </a:r>
            <a:r>
              <a:rPr lang="en-US" dirty="0" err="1"/>
              <a:t>verovatnoći</a:t>
            </a:r>
            <a:r>
              <a:rPr lang="en-US" dirty="0"/>
              <a:t>.</a:t>
            </a:r>
          </a:p>
          <a:p>
            <a:r>
              <a:rPr lang="en-US" dirty="0"/>
              <a:t>Model </a:t>
            </a:r>
            <a:r>
              <a:rPr lang="en-US" dirty="0" err="1"/>
              <a:t>nije</a:t>
            </a:r>
            <a:r>
              <a:rPr lang="en-US" dirty="0"/>
              <a:t> </a:t>
            </a:r>
            <a:r>
              <a:rPr lang="en-US" dirty="0" err="1"/>
              <a:t>pravni</a:t>
            </a:r>
            <a:r>
              <a:rPr lang="en-US" dirty="0"/>
              <a:t> </a:t>
            </a:r>
            <a:r>
              <a:rPr lang="en-US" dirty="0" err="1"/>
              <a:t>zaključivač</a:t>
            </a:r>
            <a:r>
              <a:rPr lang="en-US" dirty="0"/>
              <a:t>, </a:t>
            </a:r>
            <a:r>
              <a:rPr lang="en-US" dirty="0" err="1"/>
              <a:t>nego</a:t>
            </a:r>
            <a:r>
              <a:rPr lang="en-US" dirty="0"/>
              <a:t> generator </a:t>
            </a:r>
            <a:r>
              <a:rPr lang="en-US" dirty="0" err="1"/>
              <a:t>pravnog</a:t>
            </a:r>
            <a:r>
              <a:rPr lang="en-US" dirty="0"/>
              <a:t> </a:t>
            </a:r>
            <a:r>
              <a:rPr lang="en-US" dirty="0" err="1"/>
              <a:t>stila</a:t>
            </a:r>
            <a:r>
              <a:rPr lang="en-US" dirty="0"/>
              <a:t> </a:t>
            </a:r>
            <a:r>
              <a:rPr lang="en-US" dirty="0" err="1"/>
              <a:t>teksta</a:t>
            </a:r>
            <a:r>
              <a:rPr lang="en-US" dirty="0"/>
              <a:t>.</a:t>
            </a:r>
          </a:p>
          <a:p>
            <a:r>
              <a:rPr lang="en-US" dirty="0" err="1"/>
              <a:t>Pravni</a:t>
            </a:r>
            <a:r>
              <a:rPr lang="en-US" dirty="0"/>
              <a:t> </a:t>
            </a:r>
            <a:r>
              <a:rPr lang="en-US" dirty="0" err="1"/>
              <a:t>zaključak</a:t>
            </a:r>
            <a:r>
              <a:rPr lang="en-US" dirty="0"/>
              <a:t> (</a:t>
            </a:r>
            <a:r>
              <a:rPr lang="en-US" dirty="0" err="1"/>
              <a:t>kriv</a:t>
            </a:r>
            <a:r>
              <a:rPr lang="en-US" dirty="0"/>
              <a:t>/</a:t>
            </a:r>
            <a:r>
              <a:rPr lang="en-US" dirty="0" err="1"/>
              <a:t>oslobodjen</a:t>
            </a:r>
            <a:r>
              <a:rPr lang="en-US" dirty="0"/>
              <a:t>, </a:t>
            </a:r>
            <a:r>
              <a:rPr lang="en-US" dirty="0" err="1"/>
              <a:t>visina</a:t>
            </a:r>
            <a:r>
              <a:rPr lang="en-US" dirty="0"/>
              <a:t> </a:t>
            </a:r>
            <a:r>
              <a:rPr lang="en-US" dirty="0" err="1"/>
              <a:t>kazne</a:t>
            </a:r>
            <a:r>
              <a:rPr lang="en-US" dirty="0"/>
              <a:t>) </a:t>
            </a:r>
            <a:r>
              <a:rPr lang="en-US" dirty="0" err="1"/>
              <a:t>dolazi</a:t>
            </a:r>
            <a:r>
              <a:rPr lang="en-US" dirty="0"/>
              <a:t> </a:t>
            </a:r>
            <a:r>
              <a:rPr lang="en-US" dirty="0" err="1"/>
              <a:t>iz</a:t>
            </a:r>
            <a:r>
              <a:rPr lang="en-US" dirty="0"/>
              <a:t> rule + CBR dela.</a:t>
            </a:r>
          </a:p>
          <a:p>
            <a:r>
              <a:rPr lang="en-US" dirty="0"/>
              <a:t>Markov se </a:t>
            </a:r>
            <a:r>
              <a:rPr lang="en-US" dirty="0" err="1"/>
              <a:t>ovde</a:t>
            </a:r>
            <a:r>
              <a:rPr lang="en-US" dirty="0"/>
              <a:t> </a:t>
            </a:r>
            <a:r>
              <a:rPr lang="en-US" dirty="0" err="1"/>
              <a:t>koristi</a:t>
            </a:r>
            <a:r>
              <a:rPr lang="en-US" dirty="0"/>
              <a:t> </a:t>
            </a:r>
            <a:r>
              <a:rPr lang="en-US" dirty="0" err="1"/>
              <a:t>ciljano</a:t>
            </a:r>
            <a:r>
              <a:rPr lang="en-US" dirty="0"/>
              <a:t> za </a:t>
            </a:r>
            <a:r>
              <a:rPr lang="en-US" dirty="0" err="1"/>
              <a:t>obrazloženje</a:t>
            </a:r>
            <a:r>
              <a:rPr lang="en-US" dirty="0"/>
              <a:t>/sentencing </a:t>
            </a:r>
            <a:r>
              <a:rPr lang="en-US" dirty="0" err="1"/>
              <a:t>formulacije</a:t>
            </a:r>
            <a:r>
              <a:rPr lang="en-US" dirty="0"/>
              <a:t>, </a:t>
            </a:r>
            <a:r>
              <a:rPr lang="en-US" dirty="0" err="1"/>
              <a:t>što</a:t>
            </a:r>
            <a:r>
              <a:rPr lang="en-US" dirty="0"/>
              <a:t> je dobra </a:t>
            </a:r>
            <a:r>
              <a:rPr lang="en-US" dirty="0" err="1"/>
              <a:t>praksa</a:t>
            </a:r>
            <a:r>
              <a:rPr lang="en-US" dirty="0"/>
              <a:t> da se ne </a:t>
            </a:r>
            <a:r>
              <a:rPr lang="en-US" dirty="0" err="1"/>
              <a:t>haluciniraju</a:t>
            </a:r>
            <a:r>
              <a:rPr lang="en-US" dirty="0"/>
              <a:t> </a:t>
            </a:r>
            <a:r>
              <a:rPr lang="en-US" dirty="0" err="1"/>
              <a:t>činjenice</a:t>
            </a:r>
            <a:r>
              <a:rPr lang="en-US" dirty="0"/>
              <a:t>, ne </a:t>
            </a:r>
            <a:r>
              <a:rPr lang="en-US" dirty="0" err="1"/>
              <a:t>može</a:t>
            </a:r>
            <a:r>
              <a:rPr lang="en-US" dirty="0"/>
              <a:t> da </a:t>
            </a:r>
            <a:r>
              <a:rPr lang="en-US" dirty="0" err="1"/>
              <a:t>izmisli</a:t>
            </a:r>
            <a:r>
              <a:rPr lang="en-US" dirty="0"/>
              <a:t> </a:t>
            </a:r>
            <a:r>
              <a:rPr lang="en-US" dirty="0" err="1"/>
              <a:t>nešto</a:t>
            </a:r>
            <a:r>
              <a:rPr lang="en-US" dirty="0"/>
              <a:t> </a:t>
            </a:r>
            <a:r>
              <a:rPr lang="en-US" dirty="0" err="1"/>
              <a:t>što</a:t>
            </a:r>
            <a:r>
              <a:rPr lang="en-US" dirty="0"/>
              <a:t> </a:t>
            </a:r>
            <a:r>
              <a:rPr lang="en-US" dirty="0" err="1"/>
              <a:t>nikad</a:t>
            </a:r>
            <a:r>
              <a:rPr lang="en-US" dirty="0"/>
              <a:t> </a:t>
            </a:r>
            <a:r>
              <a:rPr lang="en-US" dirty="0" err="1"/>
              <a:t>nije</a:t>
            </a:r>
            <a:r>
              <a:rPr lang="en-US" dirty="0"/>
              <a:t> </a:t>
            </a:r>
            <a:r>
              <a:rPr lang="en-US" dirty="0" err="1"/>
              <a:t>bilo</a:t>
            </a:r>
            <a:r>
              <a:rPr lang="en-US" dirty="0"/>
              <a:t> u </a:t>
            </a:r>
            <a:r>
              <a:rPr lang="en-US" dirty="0" err="1"/>
              <a:t>prethodnim</a:t>
            </a:r>
            <a:r>
              <a:rPr lang="en-US" dirty="0"/>
              <a:t> </a:t>
            </a:r>
            <a:r>
              <a:rPr lang="en-US" dirty="0" err="1"/>
              <a:t>tekstovima</a:t>
            </a:r>
            <a:r>
              <a:rPr lang="en-US" dirty="0"/>
              <a:t>.</a:t>
            </a:r>
          </a:p>
          <a:p>
            <a:endParaRPr lang="en-US" dirty="0"/>
          </a:p>
        </p:txBody>
      </p:sp>
    </p:spTree>
    <p:extLst>
      <p:ext uri="{BB962C8B-B14F-4D97-AF65-F5344CB8AC3E}">
        <p14:creationId xmlns:p14="http://schemas.microsoft.com/office/powerpoint/2010/main" val="26256490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764F08-9840-4E64-A653-41F71CFA27A1}"/>
              </a:ext>
            </a:extLst>
          </p:cNvPr>
          <p:cNvSpPr>
            <a:spLocks noGrp="1"/>
          </p:cNvSpPr>
          <p:nvPr>
            <p:ph idx="1"/>
          </p:nvPr>
        </p:nvSpPr>
        <p:spPr>
          <a:xfrm>
            <a:off x="0" y="1490402"/>
            <a:ext cx="4438134" cy="6165457"/>
          </a:xfrm>
        </p:spPr>
        <p:txBody>
          <a:bodyPr/>
          <a:lstStyle/>
          <a:p>
            <a:r>
              <a:rPr lang="en-US" dirty="0"/>
              <a:t>Model je </a:t>
            </a:r>
            <a:r>
              <a:rPr lang="en-US" dirty="0" err="1"/>
              <a:t>treniran</a:t>
            </a:r>
            <a:r>
              <a:rPr lang="en-US" dirty="0"/>
              <a:t> </a:t>
            </a:r>
            <a:r>
              <a:rPr lang="en-US" dirty="0" err="1"/>
              <a:t>nad</a:t>
            </a:r>
            <a:r>
              <a:rPr lang="en-US" dirty="0"/>
              <a:t> </a:t>
            </a:r>
            <a:r>
              <a:rPr lang="en-US" dirty="0" err="1"/>
              <a:t>lokalnim</a:t>
            </a:r>
            <a:r>
              <a:rPr lang="en-US" dirty="0"/>
              <a:t> </a:t>
            </a:r>
            <a:r>
              <a:rPr lang="en-US" dirty="0" err="1"/>
              <a:t>presudama</a:t>
            </a:r>
            <a:r>
              <a:rPr lang="en-US" dirty="0"/>
              <a:t> </a:t>
            </a:r>
            <a:r>
              <a:rPr lang="en-US" dirty="0" err="1"/>
              <a:t>iz</a:t>
            </a:r>
            <a:r>
              <a:rPr lang="en-US" dirty="0"/>
              <a:t> </a:t>
            </a:r>
            <a:r>
              <a:rPr lang="en-US" dirty="0" err="1"/>
              <a:t>arhive</a:t>
            </a:r>
            <a:r>
              <a:rPr lang="en-US" dirty="0"/>
              <a:t> </a:t>
            </a:r>
            <a:r>
              <a:rPr lang="en-US" dirty="0" err="1"/>
              <a:t>projekta</a:t>
            </a:r>
            <a:r>
              <a:rPr lang="en-US" dirty="0"/>
              <a:t>.</a:t>
            </a:r>
          </a:p>
          <a:p>
            <a:r>
              <a:rPr lang="en-US" dirty="0" err="1"/>
              <a:t>Putanja</a:t>
            </a:r>
            <a:r>
              <a:rPr lang="en-US" dirty="0"/>
              <a:t> archive/</a:t>
            </a:r>
            <a:r>
              <a:rPr lang="en-US" dirty="0" err="1"/>
              <a:t>presude</a:t>
            </a:r>
            <a:r>
              <a:rPr lang="en-US" dirty="0"/>
              <a:t>, </a:t>
            </a:r>
            <a:r>
              <a:rPr lang="en-US" dirty="0" err="1"/>
              <a:t>tamo</a:t>
            </a:r>
            <a:r>
              <a:rPr lang="en-US" dirty="0"/>
              <a:t> se </a:t>
            </a:r>
            <a:r>
              <a:rPr lang="en-US" dirty="0" err="1"/>
              <a:t>nalaze</a:t>
            </a:r>
            <a:r>
              <a:rPr lang="en-US" dirty="0"/>
              <a:t> </a:t>
            </a:r>
            <a:r>
              <a:rPr lang="en-US" dirty="0" err="1"/>
              <a:t>sve</a:t>
            </a:r>
            <a:r>
              <a:rPr lang="en-US" dirty="0"/>
              <a:t> </a:t>
            </a:r>
            <a:r>
              <a:rPr lang="en-US" dirty="0" err="1"/>
              <a:t>presude</a:t>
            </a:r>
            <a:r>
              <a:rPr lang="en-US" dirty="0"/>
              <a:t> u .txt </a:t>
            </a:r>
            <a:r>
              <a:rPr lang="en-US" dirty="0" err="1"/>
              <a:t>formatu</a:t>
            </a:r>
            <a:r>
              <a:rPr lang="en-US" dirty="0"/>
              <a:t>.</a:t>
            </a:r>
          </a:p>
          <a:p>
            <a:endParaRPr lang="en-US" dirty="0"/>
          </a:p>
        </p:txBody>
      </p:sp>
      <p:pic>
        <p:nvPicPr>
          <p:cNvPr id="5" name="Picture 4">
            <a:extLst>
              <a:ext uri="{FF2B5EF4-FFF2-40B4-BE49-F238E27FC236}">
                <a16:creationId xmlns:a16="http://schemas.microsoft.com/office/drawing/2014/main" id="{A604EEC8-E02A-47BD-AC5D-DA25FCEAB1BD}"/>
              </a:ext>
            </a:extLst>
          </p:cNvPr>
          <p:cNvPicPr>
            <a:picLocks noChangeAspect="1"/>
          </p:cNvPicPr>
          <p:nvPr/>
        </p:nvPicPr>
        <p:blipFill>
          <a:blip r:embed="rId2"/>
          <a:stretch>
            <a:fillRect/>
          </a:stretch>
        </p:blipFill>
        <p:spPr>
          <a:xfrm>
            <a:off x="4523305" y="2316251"/>
            <a:ext cx="7668695" cy="4048690"/>
          </a:xfrm>
          <a:prstGeom prst="rect">
            <a:avLst/>
          </a:prstGeom>
        </p:spPr>
      </p:pic>
      <p:pic>
        <p:nvPicPr>
          <p:cNvPr id="7" name="Picture 6">
            <a:extLst>
              <a:ext uri="{FF2B5EF4-FFF2-40B4-BE49-F238E27FC236}">
                <a16:creationId xmlns:a16="http://schemas.microsoft.com/office/drawing/2014/main" id="{CE340CED-446D-4E47-95B1-B1CE0F6C2006}"/>
              </a:ext>
            </a:extLst>
          </p:cNvPr>
          <p:cNvPicPr>
            <a:picLocks noChangeAspect="1"/>
          </p:cNvPicPr>
          <p:nvPr/>
        </p:nvPicPr>
        <p:blipFill>
          <a:blip r:embed="rId3"/>
          <a:stretch>
            <a:fillRect/>
          </a:stretch>
        </p:blipFill>
        <p:spPr>
          <a:xfrm>
            <a:off x="5241126" y="141213"/>
            <a:ext cx="2086266" cy="1933845"/>
          </a:xfrm>
          <a:prstGeom prst="rect">
            <a:avLst/>
          </a:prstGeom>
        </p:spPr>
      </p:pic>
    </p:spTree>
    <p:extLst>
      <p:ext uri="{BB962C8B-B14F-4D97-AF65-F5344CB8AC3E}">
        <p14:creationId xmlns:p14="http://schemas.microsoft.com/office/powerpoint/2010/main" val="5477203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E177B4-320F-4436-AF8F-F68089AA6980}"/>
              </a:ext>
            </a:extLst>
          </p:cNvPr>
          <p:cNvSpPr>
            <a:spLocks noGrp="1"/>
          </p:cNvSpPr>
          <p:nvPr>
            <p:ph idx="1"/>
          </p:nvPr>
        </p:nvSpPr>
        <p:spPr>
          <a:xfrm>
            <a:off x="492454" y="493058"/>
            <a:ext cx="10353762" cy="5190565"/>
          </a:xfrm>
        </p:spPr>
        <p:txBody>
          <a:bodyPr>
            <a:normAutofit/>
          </a:bodyPr>
          <a:lstStyle/>
          <a:p>
            <a:r>
              <a:rPr lang="en-US" dirty="0" err="1"/>
              <a:t>Ako</a:t>
            </a:r>
            <a:r>
              <a:rPr lang="en-US" dirty="0"/>
              <a:t> je, </a:t>
            </a:r>
            <a:r>
              <a:rPr lang="en-US" dirty="0" err="1"/>
              <a:t>na</a:t>
            </a:r>
            <a:r>
              <a:rPr lang="en-US" dirty="0"/>
              <a:t> primer, u </a:t>
            </a:r>
            <a:r>
              <a:rPr lang="en-US" dirty="0" err="1"/>
              <a:t>arhivi</a:t>
            </a:r>
            <a:r>
              <a:rPr lang="en-US" dirty="0"/>
              <a:t> </a:t>
            </a:r>
            <a:r>
              <a:rPr lang="en-US" dirty="0" err="1"/>
              <a:t>mnogo</a:t>
            </a:r>
            <a:r>
              <a:rPr lang="en-US" dirty="0"/>
              <a:t> puta video </a:t>
            </a:r>
            <a:r>
              <a:rPr lang="en-US" dirty="0" err="1"/>
              <a:t>istu</a:t>
            </a:r>
            <a:r>
              <a:rPr lang="en-US" dirty="0"/>
              <a:t> </a:t>
            </a:r>
            <a:r>
              <a:rPr lang="en-US" dirty="0" err="1"/>
              <a:t>pravnu</a:t>
            </a:r>
            <a:r>
              <a:rPr lang="en-US" dirty="0"/>
              <a:t> </a:t>
            </a:r>
            <a:r>
              <a:rPr lang="en-US" dirty="0" err="1"/>
              <a:t>formulaciju</a:t>
            </a:r>
            <a:r>
              <a:rPr lang="en-US" dirty="0"/>
              <a:t>, taj </a:t>
            </a:r>
            <a:r>
              <a:rPr lang="en-US" dirty="0" err="1"/>
              <a:t>nastavak</a:t>
            </a:r>
            <a:r>
              <a:rPr lang="en-US" dirty="0"/>
              <a:t> </a:t>
            </a:r>
            <a:r>
              <a:rPr lang="en-US" dirty="0" err="1"/>
              <a:t>će</a:t>
            </a:r>
            <a:r>
              <a:rPr lang="en-US" dirty="0"/>
              <a:t> </a:t>
            </a:r>
            <a:r>
              <a:rPr lang="en-US" dirty="0" err="1"/>
              <a:t>imati</a:t>
            </a:r>
            <a:r>
              <a:rPr lang="en-US" dirty="0"/>
              <a:t> </a:t>
            </a:r>
            <a:r>
              <a:rPr lang="en-US" dirty="0" err="1"/>
              <a:t>veću</a:t>
            </a:r>
            <a:r>
              <a:rPr lang="en-US" dirty="0"/>
              <a:t> </a:t>
            </a:r>
            <a:r>
              <a:rPr lang="en-US" dirty="0" err="1"/>
              <a:t>verovatnoću</a:t>
            </a:r>
            <a:r>
              <a:rPr lang="en-US" dirty="0"/>
              <a:t> da </a:t>
            </a:r>
            <a:r>
              <a:rPr lang="en-US" dirty="0" err="1"/>
              <a:t>bude</a:t>
            </a:r>
            <a:r>
              <a:rPr lang="en-US" dirty="0"/>
              <a:t> </a:t>
            </a:r>
            <a:r>
              <a:rPr lang="en-US" dirty="0" err="1"/>
              <a:t>izabran</a:t>
            </a:r>
            <a:r>
              <a:rPr lang="en-US" dirty="0"/>
              <a:t> </a:t>
            </a:r>
            <a:r>
              <a:rPr lang="en-US" dirty="0" err="1"/>
              <a:t>tokom</a:t>
            </a:r>
            <a:r>
              <a:rPr lang="en-US" dirty="0"/>
              <a:t> </a:t>
            </a:r>
            <a:r>
              <a:rPr lang="en-US" dirty="0" err="1"/>
              <a:t>generisanja</a:t>
            </a:r>
            <a:r>
              <a:rPr lang="en-US" dirty="0"/>
              <a:t>.</a:t>
            </a:r>
          </a:p>
          <a:p>
            <a:r>
              <a:rPr lang="en-US" dirty="0" err="1"/>
              <a:t>Drugim</a:t>
            </a:r>
            <a:r>
              <a:rPr lang="en-US" dirty="0"/>
              <a:t> </a:t>
            </a:r>
            <a:r>
              <a:rPr lang="en-US" dirty="0" err="1"/>
              <a:t>rečima</a:t>
            </a:r>
            <a:r>
              <a:rPr lang="en-US" dirty="0"/>
              <a:t>, model ne “</a:t>
            </a:r>
            <a:r>
              <a:rPr lang="en-US" dirty="0" err="1"/>
              <a:t>razume</a:t>
            </a:r>
            <a:r>
              <a:rPr lang="en-US" dirty="0"/>
              <a:t>” </a:t>
            </a:r>
            <a:r>
              <a:rPr lang="en-US" dirty="0" err="1"/>
              <a:t>pravo</a:t>
            </a:r>
            <a:r>
              <a:rPr lang="en-US" dirty="0"/>
              <a:t> </a:t>
            </a:r>
            <a:r>
              <a:rPr lang="en-US" dirty="0" err="1"/>
              <a:t>kao</a:t>
            </a:r>
            <a:r>
              <a:rPr lang="en-US" dirty="0"/>
              <a:t> </a:t>
            </a:r>
            <a:r>
              <a:rPr lang="en-US" dirty="0" err="1"/>
              <a:t>čovek</a:t>
            </a:r>
            <a:r>
              <a:rPr lang="en-US" dirty="0"/>
              <a:t>, </a:t>
            </a:r>
            <a:r>
              <a:rPr lang="en-US" dirty="0" err="1"/>
              <a:t>već</a:t>
            </a:r>
            <a:r>
              <a:rPr lang="en-US" dirty="0"/>
              <a:t> </a:t>
            </a:r>
            <a:r>
              <a:rPr lang="en-US" dirty="0" err="1"/>
              <a:t>uči</a:t>
            </a:r>
            <a:r>
              <a:rPr lang="en-US" dirty="0"/>
              <a:t> </a:t>
            </a:r>
            <a:r>
              <a:rPr lang="en-US" dirty="0" err="1"/>
              <a:t>obrasce</a:t>
            </a:r>
            <a:r>
              <a:rPr lang="en-US" dirty="0"/>
              <a:t> </a:t>
            </a:r>
            <a:r>
              <a:rPr lang="en-US" dirty="0" err="1"/>
              <a:t>pisanja</a:t>
            </a:r>
            <a:r>
              <a:rPr lang="en-US" dirty="0"/>
              <a:t> </a:t>
            </a:r>
            <a:r>
              <a:rPr lang="en-US" dirty="0" err="1"/>
              <a:t>i</a:t>
            </a:r>
            <a:r>
              <a:rPr lang="en-US" dirty="0"/>
              <a:t> </a:t>
            </a:r>
            <a:r>
              <a:rPr lang="en-US" dirty="0" err="1"/>
              <a:t>učestalost</a:t>
            </a:r>
            <a:r>
              <a:rPr lang="en-US" dirty="0"/>
              <a:t> </a:t>
            </a:r>
            <a:r>
              <a:rPr lang="en-US" dirty="0" err="1"/>
              <a:t>prelaza</a:t>
            </a:r>
            <a:r>
              <a:rPr lang="en-US" dirty="0"/>
              <a:t> </a:t>
            </a:r>
            <a:r>
              <a:rPr lang="en-US" dirty="0" err="1"/>
              <a:t>između</a:t>
            </a:r>
            <a:r>
              <a:rPr lang="en-US" dirty="0"/>
              <a:t> </a:t>
            </a:r>
            <a:r>
              <a:rPr lang="en-US" dirty="0" err="1"/>
              <a:t>reči</a:t>
            </a:r>
            <a:r>
              <a:rPr lang="en-US" dirty="0"/>
              <a:t>.</a:t>
            </a:r>
          </a:p>
          <a:p>
            <a:r>
              <a:rPr lang="en-US" dirty="0" err="1"/>
              <a:t>Izbor</a:t>
            </a:r>
            <a:r>
              <a:rPr lang="en-US" dirty="0"/>
              <a:t> je </a:t>
            </a:r>
            <a:r>
              <a:rPr lang="en-US" dirty="0" err="1"/>
              <a:t>ponderisan</a:t>
            </a:r>
            <a:r>
              <a:rPr lang="en-US" dirty="0"/>
              <a:t>: </a:t>
            </a:r>
            <a:r>
              <a:rPr lang="en-US" dirty="0" err="1"/>
              <a:t>češći</a:t>
            </a:r>
            <a:r>
              <a:rPr lang="en-US" dirty="0"/>
              <a:t> </a:t>
            </a:r>
            <a:r>
              <a:rPr lang="en-US" dirty="0" err="1"/>
              <a:t>nastavci</a:t>
            </a:r>
            <a:r>
              <a:rPr lang="en-US" dirty="0"/>
              <a:t> </a:t>
            </a:r>
            <a:r>
              <a:rPr lang="en-US" dirty="0" err="1"/>
              <a:t>imaju</a:t>
            </a:r>
            <a:r>
              <a:rPr lang="en-US" dirty="0"/>
              <a:t> </a:t>
            </a:r>
            <a:r>
              <a:rPr lang="en-US" dirty="0" err="1"/>
              <a:t>veću</a:t>
            </a:r>
            <a:r>
              <a:rPr lang="en-US" dirty="0"/>
              <a:t> </a:t>
            </a:r>
            <a:r>
              <a:rPr lang="en-US" dirty="0" err="1"/>
              <a:t>šansu</a:t>
            </a:r>
            <a:r>
              <a:rPr lang="en-US" dirty="0"/>
              <a:t>, pa </a:t>
            </a:r>
            <a:r>
              <a:rPr lang="en-US" dirty="0" err="1"/>
              <a:t>rezultat</a:t>
            </a:r>
            <a:r>
              <a:rPr lang="en-US" dirty="0"/>
              <a:t> </a:t>
            </a:r>
            <a:r>
              <a:rPr lang="en-US" dirty="0" err="1"/>
              <a:t>prirodno</a:t>
            </a:r>
            <a:r>
              <a:rPr lang="en-US" dirty="0"/>
              <a:t> </a:t>
            </a:r>
            <a:r>
              <a:rPr lang="en-US" dirty="0" err="1"/>
              <a:t>liči</a:t>
            </a:r>
            <a:r>
              <a:rPr lang="en-US" dirty="0"/>
              <a:t> </a:t>
            </a:r>
            <a:r>
              <a:rPr lang="en-US" dirty="0" err="1"/>
              <a:t>na</a:t>
            </a:r>
            <a:r>
              <a:rPr lang="en-US" dirty="0"/>
              <a:t> </a:t>
            </a:r>
            <a:r>
              <a:rPr lang="en-US" dirty="0" err="1"/>
              <a:t>stil</a:t>
            </a:r>
            <a:r>
              <a:rPr lang="en-US" dirty="0"/>
              <a:t> </a:t>
            </a:r>
            <a:r>
              <a:rPr lang="en-US" dirty="0" err="1"/>
              <a:t>sudskih</a:t>
            </a:r>
            <a:r>
              <a:rPr lang="en-US" dirty="0"/>
              <a:t> </a:t>
            </a:r>
            <a:r>
              <a:rPr lang="en-US" dirty="0" err="1"/>
              <a:t>odluka</a:t>
            </a:r>
            <a:r>
              <a:rPr lang="en-US" dirty="0"/>
              <a:t> </a:t>
            </a:r>
            <a:r>
              <a:rPr lang="en-US" dirty="0" err="1"/>
              <a:t>iz</a:t>
            </a:r>
            <a:r>
              <a:rPr lang="en-US" dirty="0"/>
              <a:t> </a:t>
            </a:r>
            <a:r>
              <a:rPr lang="en-US" dirty="0" err="1"/>
              <a:t>trening</a:t>
            </a:r>
            <a:r>
              <a:rPr lang="en-US" dirty="0"/>
              <a:t> </a:t>
            </a:r>
            <a:r>
              <a:rPr lang="en-US" dirty="0" err="1"/>
              <a:t>skupa</a:t>
            </a:r>
            <a:endParaRPr lang="en-US" dirty="0"/>
          </a:p>
          <a:p>
            <a:r>
              <a:rPr lang="en-US" dirty="0" err="1"/>
              <a:t>Ako</a:t>
            </a:r>
            <a:r>
              <a:rPr lang="en-US" dirty="0"/>
              <a:t> </a:t>
            </a:r>
            <a:r>
              <a:rPr lang="en-US" dirty="0" err="1"/>
              <a:t>su</a:t>
            </a:r>
            <a:r>
              <a:rPr lang="en-US" dirty="0"/>
              <a:t> </a:t>
            </a:r>
            <a:r>
              <a:rPr lang="en-US" dirty="0" err="1"/>
              <a:t>prve</a:t>
            </a:r>
            <a:r>
              <a:rPr lang="en-US" dirty="0"/>
              <a:t> </a:t>
            </a:r>
            <a:r>
              <a:rPr lang="en-US" dirty="0" err="1"/>
              <a:t>dve</a:t>
            </a:r>
            <a:r>
              <a:rPr lang="en-US" dirty="0"/>
              <a:t> </a:t>
            </a:r>
            <a:r>
              <a:rPr lang="en-US" dirty="0" err="1"/>
              <a:t>reči</a:t>
            </a:r>
            <a:r>
              <a:rPr lang="en-US" dirty="0"/>
              <a:t>: “</a:t>
            </a:r>
            <a:r>
              <a:rPr lang="en-US" dirty="0" err="1"/>
              <a:t>sud</a:t>
            </a:r>
            <a:r>
              <a:rPr lang="en-US" dirty="0"/>
              <a:t> je”, u </a:t>
            </a:r>
            <a:r>
              <a:rPr lang="en-US" dirty="0" err="1"/>
              <a:t>podacima</a:t>
            </a:r>
            <a:r>
              <a:rPr lang="en-US" dirty="0"/>
              <a:t> </a:t>
            </a:r>
            <a:r>
              <a:rPr lang="en-US" dirty="0" err="1"/>
              <a:t>može</a:t>
            </a:r>
            <a:r>
              <a:rPr lang="en-US" dirty="0"/>
              <a:t> da </a:t>
            </a:r>
            <a:r>
              <a:rPr lang="en-US" dirty="0" err="1"/>
              <a:t>stoji</a:t>
            </a:r>
            <a:r>
              <a:rPr lang="en-US" dirty="0"/>
              <a:t>:</a:t>
            </a:r>
          </a:p>
          <a:p>
            <a:pPr marL="414000" lvl="1" indent="0">
              <a:buNone/>
            </a:pPr>
            <a:r>
              <a:rPr lang="en-US" dirty="0"/>
              <a:t>“</a:t>
            </a:r>
            <a:r>
              <a:rPr lang="en-US" dirty="0" err="1"/>
              <a:t>sud</a:t>
            </a:r>
            <a:r>
              <a:rPr lang="en-US" dirty="0"/>
              <a:t> je </a:t>
            </a:r>
            <a:r>
              <a:rPr lang="en-US" dirty="0" err="1"/>
              <a:t>cijenio</a:t>
            </a:r>
            <a:r>
              <a:rPr lang="en-US" dirty="0"/>
              <a:t>” (18 puta)</a:t>
            </a:r>
          </a:p>
          <a:p>
            <a:pPr marL="414000" lvl="1" indent="0">
              <a:buNone/>
            </a:pPr>
            <a:r>
              <a:rPr lang="en-US" dirty="0"/>
              <a:t>“</a:t>
            </a:r>
            <a:r>
              <a:rPr lang="en-US" dirty="0" err="1"/>
              <a:t>sud</a:t>
            </a:r>
            <a:r>
              <a:rPr lang="en-US" dirty="0"/>
              <a:t> je </a:t>
            </a:r>
            <a:r>
              <a:rPr lang="en-US" dirty="0" err="1"/>
              <a:t>utvrdio</a:t>
            </a:r>
            <a:r>
              <a:rPr lang="en-US" dirty="0"/>
              <a:t>” (9 puta)</a:t>
            </a:r>
          </a:p>
          <a:p>
            <a:pPr marL="414000" lvl="1" indent="0">
              <a:buNone/>
            </a:pPr>
            <a:r>
              <a:rPr lang="en-US" dirty="0"/>
              <a:t>“</a:t>
            </a:r>
            <a:r>
              <a:rPr lang="en-US" dirty="0" err="1"/>
              <a:t>sud</a:t>
            </a:r>
            <a:r>
              <a:rPr lang="en-US" dirty="0"/>
              <a:t> je </a:t>
            </a:r>
            <a:r>
              <a:rPr lang="en-US" dirty="0" err="1"/>
              <a:t>našao</a:t>
            </a:r>
            <a:r>
              <a:rPr lang="en-US" dirty="0"/>
              <a:t>” (4 puta)</a:t>
            </a:r>
          </a:p>
          <a:p>
            <a:r>
              <a:rPr lang="en-US" dirty="0"/>
              <a:t>Markov model </a:t>
            </a:r>
            <a:r>
              <a:rPr lang="en-US" dirty="0" err="1"/>
              <a:t>onda</a:t>
            </a:r>
            <a:r>
              <a:rPr lang="en-US" dirty="0"/>
              <a:t> za </a:t>
            </a:r>
            <a:r>
              <a:rPr lang="en-US" dirty="0" err="1"/>
              <a:t>treću</a:t>
            </a:r>
            <a:r>
              <a:rPr lang="en-US" dirty="0"/>
              <a:t> </a:t>
            </a:r>
            <a:r>
              <a:rPr lang="en-US" dirty="0" err="1"/>
              <a:t>reč</a:t>
            </a:r>
            <a:r>
              <a:rPr lang="en-US" dirty="0"/>
              <a:t> </a:t>
            </a:r>
            <a:r>
              <a:rPr lang="en-US" dirty="0" err="1"/>
              <a:t>bira</a:t>
            </a:r>
            <a:r>
              <a:rPr lang="en-US" dirty="0"/>
              <a:t> </a:t>
            </a:r>
            <a:r>
              <a:rPr lang="en-US" dirty="0" err="1"/>
              <a:t>neku</a:t>
            </a:r>
            <a:r>
              <a:rPr lang="en-US" dirty="0"/>
              <a:t> od </a:t>
            </a:r>
            <a:r>
              <a:rPr lang="en-US" dirty="0" err="1"/>
              <a:t>ove</a:t>
            </a:r>
            <a:r>
              <a:rPr lang="en-US" dirty="0"/>
              <a:t> 3, </a:t>
            </a:r>
            <a:r>
              <a:rPr lang="en-US" dirty="0" err="1"/>
              <a:t>ali</a:t>
            </a:r>
            <a:r>
              <a:rPr lang="en-US" dirty="0"/>
              <a:t> </a:t>
            </a:r>
            <a:r>
              <a:rPr lang="en-US" dirty="0" err="1"/>
              <a:t>najčešće</a:t>
            </a:r>
            <a:r>
              <a:rPr lang="en-US" dirty="0"/>
              <a:t> </a:t>
            </a:r>
            <a:r>
              <a:rPr lang="en-US" dirty="0" err="1"/>
              <a:t>bira</a:t>
            </a:r>
            <a:r>
              <a:rPr lang="en-US" dirty="0"/>
              <a:t> “</a:t>
            </a:r>
            <a:r>
              <a:rPr lang="en-US" dirty="0" err="1"/>
              <a:t>cijenio</a:t>
            </a:r>
            <a:r>
              <a:rPr lang="en-US" dirty="0"/>
              <a:t>” </a:t>
            </a:r>
            <a:r>
              <a:rPr lang="en-US" dirty="0" err="1"/>
              <a:t>jer</a:t>
            </a:r>
            <a:r>
              <a:rPr lang="en-US" dirty="0"/>
              <a:t> se </a:t>
            </a:r>
            <a:r>
              <a:rPr lang="en-US" dirty="0" err="1"/>
              <a:t>najviše</a:t>
            </a:r>
            <a:r>
              <a:rPr lang="en-US" dirty="0"/>
              <a:t> puta </a:t>
            </a:r>
            <a:r>
              <a:rPr lang="en-US" dirty="0" err="1"/>
              <a:t>pojavila</a:t>
            </a:r>
            <a:r>
              <a:rPr lang="en-US" dirty="0"/>
              <a:t>.</a:t>
            </a:r>
          </a:p>
          <a:p>
            <a:endParaRPr lang="en-US" dirty="0"/>
          </a:p>
        </p:txBody>
      </p:sp>
    </p:spTree>
    <p:extLst>
      <p:ext uri="{BB962C8B-B14F-4D97-AF65-F5344CB8AC3E}">
        <p14:creationId xmlns:p14="http://schemas.microsoft.com/office/powerpoint/2010/main" val="22271220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8FDB1-1A58-38A9-F773-160CE9258D5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E4581A-CF52-5888-0C4A-428A103D0FFD}"/>
              </a:ext>
            </a:extLst>
          </p:cNvPr>
          <p:cNvSpPr>
            <a:spLocks noGrp="1"/>
          </p:cNvSpPr>
          <p:nvPr>
            <p:ph idx="1"/>
          </p:nvPr>
        </p:nvSpPr>
        <p:spPr>
          <a:xfrm>
            <a:off x="0" y="175564"/>
            <a:ext cx="11785520" cy="4058751"/>
          </a:xfrm>
        </p:spPr>
        <p:txBody>
          <a:bodyPr/>
          <a:lstStyle/>
          <a:p>
            <a:r>
              <a:rPr lang="sr-Latn-RS" dirty="0"/>
              <a:t>Dobijamo rezultate nad našim sučajem, izvršeno ja rasudjivanje po pravilima i po slučajevima nad novom sudskom presudom</a:t>
            </a:r>
            <a:r>
              <a:rPr lang="en-US" dirty="0"/>
              <a:t>.</a:t>
            </a:r>
          </a:p>
        </p:txBody>
      </p:sp>
      <p:pic>
        <p:nvPicPr>
          <p:cNvPr id="4" name="Picture 3">
            <a:extLst>
              <a:ext uri="{FF2B5EF4-FFF2-40B4-BE49-F238E27FC236}">
                <a16:creationId xmlns:a16="http://schemas.microsoft.com/office/drawing/2014/main" id="{315BD996-E8E6-0CBA-018C-20FB5920829F}"/>
              </a:ext>
            </a:extLst>
          </p:cNvPr>
          <p:cNvPicPr>
            <a:picLocks noChangeAspect="1"/>
          </p:cNvPicPr>
          <p:nvPr/>
        </p:nvPicPr>
        <p:blipFill>
          <a:blip r:embed="rId2"/>
          <a:stretch>
            <a:fillRect/>
          </a:stretch>
        </p:blipFill>
        <p:spPr>
          <a:xfrm>
            <a:off x="0" y="1766508"/>
            <a:ext cx="12192000" cy="4161561"/>
          </a:xfrm>
          <a:prstGeom prst="rect">
            <a:avLst/>
          </a:prstGeom>
        </p:spPr>
      </p:pic>
    </p:spTree>
    <p:extLst>
      <p:ext uri="{BB962C8B-B14F-4D97-AF65-F5344CB8AC3E}">
        <p14:creationId xmlns:p14="http://schemas.microsoft.com/office/powerpoint/2010/main" val="15354044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1E68F-15E2-0E4F-8C7E-83F85225859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B69B3D-132A-9DD9-3FC0-AD0C746EA424}"/>
              </a:ext>
            </a:extLst>
          </p:cNvPr>
          <p:cNvSpPr>
            <a:spLocks noGrp="1"/>
          </p:cNvSpPr>
          <p:nvPr>
            <p:ph idx="1"/>
          </p:nvPr>
        </p:nvSpPr>
        <p:spPr>
          <a:xfrm>
            <a:off x="121134" y="126925"/>
            <a:ext cx="3935299" cy="5057918"/>
          </a:xfrm>
        </p:spPr>
        <p:txBody>
          <a:bodyPr/>
          <a:lstStyle/>
          <a:p>
            <a:r>
              <a:rPr lang="sr-Latn-RS" dirty="0"/>
              <a:t>Dobijamo preporučenu kaznu na osnovu prethodna 2 rasudjivanja, vidimo koji </a:t>
            </a:r>
            <a:r>
              <a:rPr lang="en-US" dirty="0"/>
              <a:t>č</a:t>
            </a:r>
            <a:r>
              <a:rPr lang="sr-Latn-RS" dirty="0"/>
              <a:t>lanovi su primenjeni.</a:t>
            </a:r>
          </a:p>
          <a:p>
            <a:r>
              <a:rPr lang="sr-Latn-RS" dirty="0"/>
              <a:t>Automatski je izgenerisan uvod, činjenicno stanje i obrazloženje i ispod će sudiji biti dozvoljeno da donese finalnu odluku o dužini i tipu presude.</a:t>
            </a:r>
          </a:p>
          <a:p>
            <a:r>
              <a:rPr lang="sr-Latn-RS" dirty="0"/>
              <a:t>Kada sudija donese tu odluku onda će se sačuvati nova presuda nad kojom će moće da se rade iste operacije kao i nad onima koje nisu ručno unešene</a:t>
            </a:r>
            <a:r>
              <a:rPr lang="en-US" dirty="0"/>
              <a:t>.</a:t>
            </a:r>
          </a:p>
        </p:txBody>
      </p:sp>
      <p:pic>
        <p:nvPicPr>
          <p:cNvPr id="4" name="Picture 3">
            <a:extLst>
              <a:ext uri="{FF2B5EF4-FFF2-40B4-BE49-F238E27FC236}">
                <a16:creationId xmlns:a16="http://schemas.microsoft.com/office/drawing/2014/main" id="{0061E62D-F34C-4CDA-B846-9D22AC17DE0A}"/>
              </a:ext>
            </a:extLst>
          </p:cNvPr>
          <p:cNvPicPr>
            <a:picLocks noChangeAspect="1"/>
          </p:cNvPicPr>
          <p:nvPr/>
        </p:nvPicPr>
        <p:blipFill>
          <a:blip r:embed="rId2"/>
          <a:stretch>
            <a:fillRect/>
          </a:stretch>
        </p:blipFill>
        <p:spPr>
          <a:xfrm>
            <a:off x="4170451" y="-63230"/>
            <a:ext cx="8021549" cy="6858000"/>
          </a:xfrm>
          <a:prstGeom prst="rect">
            <a:avLst/>
          </a:prstGeom>
        </p:spPr>
      </p:pic>
    </p:spTree>
    <p:extLst>
      <p:ext uri="{BB962C8B-B14F-4D97-AF65-F5344CB8AC3E}">
        <p14:creationId xmlns:p14="http://schemas.microsoft.com/office/powerpoint/2010/main" val="24740502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BF12D-2C09-965E-7411-2E3D375FBF8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8F1A5B-A48F-3D99-B1B2-36D4FBE0E65E}"/>
              </a:ext>
            </a:extLst>
          </p:cNvPr>
          <p:cNvSpPr>
            <a:spLocks noGrp="1"/>
          </p:cNvSpPr>
          <p:nvPr>
            <p:ph idx="1"/>
          </p:nvPr>
        </p:nvSpPr>
        <p:spPr>
          <a:xfrm>
            <a:off x="-5324" y="311518"/>
            <a:ext cx="1995348" cy="6234964"/>
          </a:xfrm>
        </p:spPr>
        <p:txBody>
          <a:bodyPr>
            <a:normAutofit/>
          </a:bodyPr>
          <a:lstStyle/>
          <a:p>
            <a:pPr marL="36900" indent="0">
              <a:buNone/>
            </a:pPr>
            <a:r>
              <a:rPr lang="sr-Latn-RS" dirty="0"/>
              <a:t>Sudija ima opciju da promeni vrstu presude, uslovna, zatvor a može i da oslobodi, takodje može da menja dužinu kazne, i može naknadno da doda novčanu kaznu</a:t>
            </a:r>
            <a:r>
              <a:rPr lang="en-US" dirty="0"/>
              <a:t>.</a:t>
            </a:r>
          </a:p>
        </p:txBody>
      </p:sp>
      <p:pic>
        <p:nvPicPr>
          <p:cNvPr id="5" name="Picture 4">
            <a:extLst>
              <a:ext uri="{FF2B5EF4-FFF2-40B4-BE49-F238E27FC236}">
                <a16:creationId xmlns:a16="http://schemas.microsoft.com/office/drawing/2014/main" id="{C757C5C7-5885-6352-94F1-9242582535CB}"/>
              </a:ext>
            </a:extLst>
          </p:cNvPr>
          <p:cNvPicPr>
            <a:picLocks noChangeAspect="1"/>
          </p:cNvPicPr>
          <p:nvPr/>
        </p:nvPicPr>
        <p:blipFill>
          <a:blip r:embed="rId2"/>
          <a:stretch>
            <a:fillRect/>
          </a:stretch>
        </p:blipFill>
        <p:spPr>
          <a:xfrm>
            <a:off x="1990024" y="109074"/>
            <a:ext cx="10040751" cy="6639852"/>
          </a:xfrm>
          <a:prstGeom prst="rect">
            <a:avLst/>
          </a:prstGeom>
        </p:spPr>
      </p:pic>
    </p:spTree>
    <p:extLst>
      <p:ext uri="{BB962C8B-B14F-4D97-AF65-F5344CB8AC3E}">
        <p14:creationId xmlns:p14="http://schemas.microsoft.com/office/powerpoint/2010/main" val="33026112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1E048-7DA5-A8D7-C42C-89821B23D93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A193807-FDE5-761B-836E-72936728955E}"/>
              </a:ext>
            </a:extLst>
          </p:cNvPr>
          <p:cNvPicPr>
            <a:picLocks noChangeAspect="1"/>
          </p:cNvPicPr>
          <p:nvPr/>
        </p:nvPicPr>
        <p:blipFill>
          <a:blip r:embed="rId2"/>
          <a:stretch>
            <a:fillRect/>
          </a:stretch>
        </p:blipFill>
        <p:spPr>
          <a:xfrm>
            <a:off x="1359336" y="1570423"/>
            <a:ext cx="10193173" cy="2705478"/>
          </a:xfrm>
          <a:prstGeom prst="rect">
            <a:avLst/>
          </a:prstGeom>
        </p:spPr>
      </p:pic>
      <p:pic>
        <p:nvPicPr>
          <p:cNvPr id="5" name="Picture 4">
            <a:extLst>
              <a:ext uri="{FF2B5EF4-FFF2-40B4-BE49-F238E27FC236}">
                <a16:creationId xmlns:a16="http://schemas.microsoft.com/office/drawing/2014/main" id="{AA5298A3-F380-77D8-E5EB-FB5CA9F44C9D}"/>
              </a:ext>
            </a:extLst>
          </p:cNvPr>
          <p:cNvPicPr>
            <a:picLocks noChangeAspect="1"/>
          </p:cNvPicPr>
          <p:nvPr/>
        </p:nvPicPr>
        <p:blipFill>
          <a:blip r:embed="rId3"/>
          <a:stretch>
            <a:fillRect/>
          </a:stretch>
        </p:blipFill>
        <p:spPr>
          <a:xfrm>
            <a:off x="3814523" y="4439647"/>
            <a:ext cx="4363059" cy="933580"/>
          </a:xfrm>
          <a:prstGeom prst="rect">
            <a:avLst/>
          </a:prstGeom>
        </p:spPr>
      </p:pic>
      <p:sp>
        <p:nvSpPr>
          <p:cNvPr id="6" name="Content Placeholder 2">
            <a:extLst>
              <a:ext uri="{FF2B5EF4-FFF2-40B4-BE49-F238E27FC236}">
                <a16:creationId xmlns:a16="http://schemas.microsoft.com/office/drawing/2014/main" id="{261126DA-AB3F-D204-2C29-140853634252}"/>
              </a:ext>
            </a:extLst>
          </p:cNvPr>
          <p:cNvSpPr>
            <a:spLocks noGrp="1"/>
          </p:cNvSpPr>
          <p:nvPr>
            <p:ph idx="1"/>
          </p:nvPr>
        </p:nvSpPr>
        <p:spPr>
          <a:xfrm>
            <a:off x="0" y="612844"/>
            <a:ext cx="10353762" cy="821510"/>
          </a:xfrm>
        </p:spPr>
        <p:txBody>
          <a:bodyPr/>
          <a:lstStyle/>
          <a:p>
            <a:r>
              <a:rPr lang="sr-Latn-RS" dirty="0"/>
              <a:t>Sudija je odlučio da danas bude blag i da smanji kaznu sa 6 meseci na 3 meseca</a:t>
            </a:r>
            <a:r>
              <a:rPr lang="en-US" dirty="0"/>
              <a:t>.</a:t>
            </a:r>
          </a:p>
        </p:txBody>
      </p:sp>
      <p:sp>
        <p:nvSpPr>
          <p:cNvPr id="7" name="Content Placeholder 2">
            <a:extLst>
              <a:ext uri="{FF2B5EF4-FFF2-40B4-BE49-F238E27FC236}">
                <a16:creationId xmlns:a16="http://schemas.microsoft.com/office/drawing/2014/main" id="{BAC27013-E618-4900-95C2-5D09AD0C8663}"/>
              </a:ext>
            </a:extLst>
          </p:cNvPr>
          <p:cNvSpPr txBox="1">
            <a:spLocks/>
          </p:cNvSpPr>
          <p:nvPr/>
        </p:nvSpPr>
        <p:spPr>
          <a:xfrm>
            <a:off x="274909" y="5734196"/>
            <a:ext cx="11277600" cy="821510"/>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sr-Latn-RS" dirty="0"/>
              <a:t>Time smo zatvorili petlju: unos -&gt; rasuđivanje -&gt; odluka sudije -&gt; čuvanje -&gt; ponovno rasuđivanje</a:t>
            </a:r>
            <a:r>
              <a:rPr lang="en-US" dirty="0"/>
              <a:t>.</a:t>
            </a:r>
          </a:p>
        </p:txBody>
      </p:sp>
    </p:spTree>
    <p:extLst>
      <p:ext uri="{BB962C8B-B14F-4D97-AF65-F5344CB8AC3E}">
        <p14:creationId xmlns:p14="http://schemas.microsoft.com/office/powerpoint/2010/main" val="31147595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75391-42C2-EF64-6AEB-5EB0DD17033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86A9AE-4243-5833-6C19-7BEB09078575}"/>
              </a:ext>
            </a:extLst>
          </p:cNvPr>
          <p:cNvSpPr>
            <a:spLocks noGrp="1"/>
          </p:cNvSpPr>
          <p:nvPr>
            <p:ph idx="1"/>
          </p:nvPr>
        </p:nvSpPr>
        <p:spPr>
          <a:xfrm>
            <a:off x="0" y="194959"/>
            <a:ext cx="10353762" cy="4058751"/>
          </a:xfrm>
        </p:spPr>
        <p:txBody>
          <a:bodyPr/>
          <a:lstStyle/>
          <a:p>
            <a:r>
              <a:rPr lang="sr-Latn-RS" dirty="0"/>
              <a:t>Novi slučaj</a:t>
            </a:r>
            <a:r>
              <a:rPr lang="en-US" dirty="0"/>
              <a:t> je</a:t>
            </a:r>
            <a:r>
              <a:rPr lang="sr-Latn-RS" dirty="0"/>
              <a:t> vidljiv u bazi slučajeva</a:t>
            </a:r>
            <a:r>
              <a:rPr lang="en-US" dirty="0"/>
              <a:t>.</a:t>
            </a:r>
          </a:p>
        </p:txBody>
      </p:sp>
      <p:pic>
        <p:nvPicPr>
          <p:cNvPr id="6" name="Picture 5">
            <a:extLst>
              <a:ext uri="{FF2B5EF4-FFF2-40B4-BE49-F238E27FC236}">
                <a16:creationId xmlns:a16="http://schemas.microsoft.com/office/drawing/2014/main" id="{D31B2C44-96EB-59FB-2DA0-FFD62A69BC8D}"/>
              </a:ext>
            </a:extLst>
          </p:cNvPr>
          <p:cNvPicPr>
            <a:picLocks noChangeAspect="1"/>
          </p:cNvPicPr>
          <p:nvPr/>
        </p:nvPicPr>
        <p:blipFill>
          <a:blip r:embed="rId2"/>
          <a:stretch>
            <a:fillRect/>
          </a:stretch>
        </p:blipFill>
        <p:spPr>
          <a:xfrm>
            <a:off x="0" y="1221929"/>
            <a:ext cx="12192000" cy="5441112"/>
          </a:xfrm>
          <a:prstGeom prst="rect">
            <a:avLst/>
          </a:prstGeom>
        </p:spPr>
      </p:pic>
    </p:spTree>
    <p:extLst>
      <p:ext uri="{BB962C8B-B14F-4D97-AF65-F5344CB8AC3E}">
        <p14:creationId xmlns:p14="http://schemas.microsoft.com/office/powerpoint/2010/main" val="29726241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7097A-990D-E636-1FCE-1ABA7319450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370DF9-1ADC-B3A1-6788-6E878287F979}"/>
              </a:ext>
            </a:extLst>
          </p:cNvPr>
          <p:cNvSpPr>
            <a:spLocks noGrp="1"/>
          </p:cNvSpPr>
          <p:nvPr>
            <p:ph idx="1"/>
          </p:nvPr>
        </p:nvSpPr>
        <p:spPr>
          <a:xfrm>
            <a:off x="5324" y="129012"/>
            <a:ext cx="10353762" cy="4058751"/>
          </a:xfrm>
        </p:spPr>
        <p:txBody>
          <a:bodyPr/>
          <a:lstStyle/>
          <a:p>
            <a:r>
              <a:rPr lang="sr-Latn-RS" dirty="0"/>
              <a:t>Pozivanje rasudjivanja po pravilima nad novo dodatim slučajem</a:t>
            </a:r>
            <a:r>
              <a:rPr lang="en-US" dirty="0"/>
              <a:t>.</a:t>
            </a:r>
          </a:p>
        </p:txBody>
      </p:sp>
      <p:pic>
        <p:nvPicPr>
          <p:cNvPr id="4" name="Picture 3">
            <a:extLst>
              <a:ext uri="{FF2B5EF4-FFF2-40B4-BE49-F238E27FC236}">
                <a16:creationId xmlns:a16="http://schemas.microsoft.com/office/drawing/2014/main" id="{D29DCC12-C679-5091-BBE8-FCD813D7BDDD}"/>
              </a:ext>
            </a:extLst>
          </p:cNvPr>
          <p:cNvPicPr>
            <a:picLocks noChangeAspect="1"/>
          </p:cNvPicPr>
          <p:nvPr/>
        </p:nvPicPr>
        <p:blipFill>
          <a:blip r:embed="rId2"/>
          <a:stretch>
            <a:fillRect/>
          </a:stretch>
        </p:blipFill>
        <p:spPr>
          <a:xfrm>
            <a:off x="-5324" y="1155981"/>
            <a:ext cx="12192000" cy="5573007"/>
          </a:xfrm>
          <a:prstGeom prst="rect">
            <a:avLst/>
          </a:prstGeom>
        </p:spPr>
      </p:pic>
    </p:spTree>
    <p:extLst>
      <p:ext uri="{BB962C8B-B14F-4D97-AF65-F5344CB8AC3E}">
        <p14:creationId xmlns:p14="http://schemas.microsoft.com/office/powerpoint/2010/main" val="8854636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ADA7B0-A91F-40A5-8FFA-D60ABB385274}"/>
              </a:ext>
            </a:extLst>
          </p:cNvPr>
          <p:cNvSpPr>
            <a:spLocks noGrp="1"/>
          </p:cNvSpPr>
          <p:nvPr>
            <p:ph idx="1"/>
          </p:nvPr>
        </p:nvSpPr>
        <p:spPr>
          <a:xfrm>
            <a:off x="8360" y="1"/>
            <a:ext cx="12309146" cy="1013012"/>
          </a:xfrm>
        </p:spPr>
        <p:txBody>
          <a:bodyPr/>
          <a:lstStyle/>
          <a:p>
            <a:r>
              <a:rPr lang="en-US" dirty="0"/>
              <a:t>Prim</a:t>
            </a:r>
            <a:r>
              <a:rPr lang="sr-Latn-RS" dirty="0"/>
              <a:t>er još jednog novo dodatog slučaja</a:t>
            </a:r>
            <a:r>
              <a:rPr lang="en-US" dirty="0"/>
              <a:t>.</a:t>
            </a:r>
          </a:p>
        </p:txBody>
      </p:sp>
      <p:pic>
        <p:nvPicPr>
          <p:cNvPr id="4" name="Picture 3">
            <a:extLst>
              <a:ext uri="{FF2B5EF4-FFF2-40B4-BE49-F238E27FC236}">
                <a16:creationId xmlns:a16="http://schemas.microsoft.com/office/drawing/2014/main" id="{ED2E6975-8E43-423C-A4D1-9D986EE78E60}"/>
              </a:ext>
            </a:extLst>
          </p:cNvPr>
          <p:cNvPicPr>
            <a:picLocks noChangeAspect="1"/>
          </p:cNvPicPr>
          <p:nvPr/>
        </p:nvPicPr>
        <p:blipFill>
          <a:blip r:embed="rId2"/>
          <a:stretch>
            <a:fillRect/>
          </a:stretch>
        </p:blipFill>
        <p:spPr>
          <a:xfrm>
            <a:off x="0" y="1167854"/>
            <a:ext cx="12192000" cy="5417237"/>
          </a:xfrm>
          <a:prstGeom prst="rect">
            <a:avLst/>
          </a:prstGeom>
        </p:spPr>
      </p:pic>
    </p:spTree>
    <p:extLst>
      <p:ext uri="{BB962C8B-B14F-4D97-AF65-F5344CB8AC3E}">
        <p14:creationId xmlns:p14="http://schemas.microsoft.com/office/powerpoint/2010/main" val="27401525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B9095A-B0F6-4166-B7E0-DA3F3E8CC84E}"/>
              </a:ext>
            </a:extLst>
          </p:cNvPr>
          <p:cNvSpPr>
            <a:spLocks noGrp="1"/>
          </p:cNvSpPr>
          <p:nvPr>
            <p:ph idx="1"/>
          </p:nvPr>
        </p:nvSpPr>
        <p:spPr>
          <a:xfrm>
            <a:off x="0" y="0"/>
            <a:ext cx="10353762" cy="4058751"/>
          </a:xfrm>
        </p:spPr>
        <p:txBody>
          <a:bodyPr/>
          <a:lstStyle/>
          <a:p>
            <a:r>
              <a:rPr lang="sr-Latn-RS" dirty="0"/>
              <a:t>Novi slučaj je vidljiv u bazi slučajeva</a:t>
            </a:r>
            <a:r>
              <a:rPr lang="en-US" dirty="0"/>
              <a:t>.</a:t>
            </a:r>
          </a:p>
        </p:txBody>
      </p:sp>
      <p:pic>
        <p:nvPicPr>
          <p:cNvPr id="7" name="Picture 6">
            <a:extLst>
              <a:ext uri="{FF2B5EF4-FFF2-40B4-BE49-F238E27FC236}">
                <a16:creationId xmlns:a16="http://schemas.microsoft.com/office/drawing/2014/main" id="{9049AB11-4C93-1AB8-37EA-DA6488B82BD0}"/>
              </a:ext>
            </a:extLst>
          </p:cNvPr>
          <p:cNvPicPr>
            <a:picLocks noChangeAspect="1"/>
          </p:cNvPicPr>
          <p:nvPr/>
        </p:nvPicPr>
        <p:blipFill>
          <a:blip r:embed="rId2"/>
          <a:stretch>
            <a:fillRect/>
          </a:stretch>
        </p:blipFill>
        <p:spPr>
          <a:xfrm>
            <a:off x="0" y="853042"/>
            <a:ext cx="12192000" cy="5151915"/>
          </a:xfrm>
          <a:prstGeom prst="rect">
            <a:avLst/>
          </a:prstGeom>
        </p:spPr>
      </p:pic>
      <p:pic>
        <p:nvPicPr>
          <p:cNvPr id="9" name="Picture 8">
            <a:extLst>
              <a:ext uri="{FF2B5EF4-FFF2-40B4-BE49-F238E27FC236}">
                <a16:creationId xmlns:a16="http://schemas.microsoft.com/office/drawing/2014/main" id="{E010092F-6E5C-3EBF-806C-0CE5A0E28799}"/>
              </a:ext>
            </a:extLst>
          </p:cNvPr>
          <p:cNvPicPr>
            <a:picLocks noChangeAspect="1"/>
          </p:cNvPicPr>
          <p:nvPr/>
        </p:nvPicPr>
        <p:blipFill>
          <a:blip r:embed="rId2"/>
          <a:stretch>
            <a:fillRect/>
          </a:stretch>
        </p:blipFill>
        <p:spPr>
          <a:xfrm>
            <a:off x="0" y="853042"/>
            <a:ext cx="12192000" cy="5151915"/>
          </a:xfrm>
          <a:prstGeom prst="rect">
            <a:avLst/>
          </a:prstGeom>
        </p:spPr>
      </p:pic>
    </p:spTree>
    <p:extLst>
      <p:ext uri="{BB962C8B-B14F-4D97-AF65-F5344CB8AC3E}">
        <p14:creationId xmlns:p14="http://schemas.microsoft.com/office/powerpoint/2010/main" val="6053359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C11F81-32BE-4063-83DA-BF57A2BD76AE}"/>
              </a:ext>
            </a:extLst>
          </p:cNvPr>
          <p:cNvSpPr>
            <a:spLocks noGrp="1"/>
          </p:cNvSpPr>
          <p:nvPr>
            <p:ph idx="1"/>
          </p:nvPr>
        </p:nvSpPr>
        <p:spPr>
          <a:xfrm>
            <a:off x="0" y="0"/>
            <a:ext cx="10353762" cy="4058751"/>
          </a:xfrm>
        </p:spPr>
        <p:txBody>
          <a:bodyPr/>
          <a:lstStyle/>
          <a:p>
            <a:r>
              <a:rPr lang="sr-Latn-RS" dirty="0"/>
              <a:t>Može normalno da se pozove rasudjivanje po pravilima nad ovim slučajem</a:t>
            </a:r>
            <a:r>
              <a:rPr lang="en-US" dirty="0"/>
              <a:t>.</a:t>
            </a:r>
          </a:p>
        </p:txBody>
      </p:sp>
      <p:pic>
        <p:nvPicPr>
          <p:cNvPr id="4" name="Picture 3">
            <a:extLst>
              <a:ext uri="{FF2B5EF4-FFF2-40B4-BE49-F238E27FC236}">
                <a16:creationId xmlns:a16="http://schemas.microsoft.com/office/drawing/2014/main" id="{DAEAF56A-619E-E4AD-0C99-93A5C6866E36}"/>
              </a:ext>
            </a:extLst>
          </p:cNvPr>
          <p:cNvPicPr>
            <a:picLocks noChangeAspect="1"/>
          </p:cNvPicPr>
          <p:nvPr/>
        </p:nvPicPr>
        <p:blipFill>
          <a:blip r:embed="rId2"/>
          <a:stretch>
            <a:fillRect/>
          </a:stretch>
        </p:blipFill>
        <p:spPr>
          <a:xfrm>
            <a:off x="0" y="660436"/>
            <a:ext cx="12192000" cy="5537128"/>
          </a:xfrm>
          <a:prstGeom prst="rect">
            <a:avLst/>
          </a:prstGeom>
        </p:spPr>
      </p:pic>
    </p:spTree>
    <p:extLst>
      <p:ext uri="{BB962C8B-B14F-4D97-AF65-F5344CB8AC3E}">
        <p14:creationId xmlns:p14="http://schemas.microsoft.com/office/powerpoint/2010/main" val="8017885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35D06-C3F2-5F45-6E35-F4B3ED60133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2DEB81-B684-E3AB-F26C-8CD19241F0C8}"/>
              </a:ext>
            </a:extLst>
          </p:cNvPr>
          <p:cNvSpPr>
            <a:spLocks noGrp="1"/>
          </p:cNvSpPr>
          <p:nvPr>
            <p:ph idx="1"/>
          </p:nvPr>
        </p:nvSpPr>
        <p:spPr>
          <a:xfrm>
            <a:off x="0" y="0"/>
            <a:ext cx="10353762" cy="4058751"/>
          </a:xfrm>
        </p:spPr>
        <p:txBody>
          <a:bodyPr/>
          <a:lstStyle/>
          <a:p>
            <a:r>
              <a:rPr lang="sr-Latn-RS" dirty="0"/>
              <a:t>Može normalno da se pozove rasudjivanje po sličnosti nad ovim slučajem</a:t>
            </a:r>
            <a:r>
              <a:rPr lang="en-US" dirty="0"/>
              <a:t>.</a:t>
            </a:r>
          </a:p>
          <a:p>
            <a:endParaRPr lang="en-US" dirty="0"/>
          </a:p>
        </p:txBody>
      </p:sp>
      <p:pic>
        <p:nvPicPr>
          <p:cNvPr id="5" name="Picture 4">
            <a:extLst>
              <a:ext uri="{FF2B5EF4-FFF2-40B4-BE49-F238E27FC236}">
                <a16:creationId xmlns:a16="http://schemas.microsoft.com/office/drawing/2014/main" id="{FC8B870A-2DD2-3AAF-5B88-B10CE393EFF9}"/>
              </a:ext>
            </a:extLst>
          </p:cNvPr>
          <p:cNvPicPr>
            <a:picLocks noChangeAspect="1"/>
          </p:cNvPicPr>
          <p:nvPr/>
        </p:nvPicPr>
        <p:blipFill>
          <a:blip r:embed="rId2"/>
          <a:stretch>
            <a:fillRect/>
          </a:stretch>
        </p:blipFill>
        <p:spPr>
          <a:xfrm>
            <a:off x="28893" y="759246"/>
            <a:ext cx="12192000" cy="5767524"/>
          </a:xfrm>
          <a:prstGeom prst="rect">
            <a:avLst/>
          </a:prstGeom>
        </p:spPr>
      </p:pic>
    </p:spTree>
    <p:extLst>
      <p:ext uri="{BB962C8B-B14F-4D97-AF65-F5344CB8AC3E}">
        <p14:creationId xmlns:p14="http://schemas.microsoft.com/office/powerpoint/2010/main" val="5734284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51BB6-D394-BD1E-FEB1-7E4DEB004843}"/>
              </a:ext>
            </a:extLst>
          </p:cNvPr>
          <p:cNvSpPr>
            <a:spLocks noGrp="1"/>
          </p:cNvSpPr>
          <p:nvPr>
            <p:ph type="title"/>
          </p:nvPr>
        </p:nvSpPr>
        <p:spPr>
          <a:xfrm>
            <a:off x="738697" y="2808051"/>
            <a:ext cx="10353762" cy="970450"/>
          </a:xfrm>
        </p:spPr>
        <p:txBody>
          <a:bodyPr/>
          <a:lstStyle/>
          <a:p>
            <a:r>
              <a:rPr lang="en-US" dirty="0" err="1"/>
              <a:t>Hvala</a:t>
            </a:r>
            <a:r>
              <a:rPr lang="en-US" dirty="0"/>
              <a:t> </a:t>
            </a:r>
            <a:r>
              <a:rPr lang="en-US" dirty="0" err="1"/>
              <a:t>na</a:t>
            </a:r>
            <a:r>
              <a:rPr lang="en-US" dirty="0"/>
              <a:t> pa</a:t>
            </a:r>
            <a:r>
              <a:rPr lang="sr-Latn-RS" dirty="0"/>
              <a:t>žnji!</a:t>
            </a:r>
            <a:endParaRPr lang="en-US" dirty="0"/>
          </a:p>
        </p:txBody>
      </p:sp>
    </p:spTree>
    <p:extLst>
      <p:ext uri="{BB962C8B-B14F-4D97-AF65-F5344CB8AC3E}">
        <p14:creationId xmlns:p14="http://schemas.microsoft.com/office/powerpoint/2010/main" val="42544487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TM04033929[[fn=Slate]]</Template>
  <TotalTime>1244</TotalTime>
  <Words>2045</Words>
  <Application>Microsoft Office PowerPoint</Application>
  <PresentationFormat>Widescreen</PresentationFormat>
  <Paragraphs>134</Paragraphs>
  <Slides>60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60</vt:i4>
      </vt:variant>
    </vt:vector>
  </HeadingPairs>
  <TitlesOfParts>
    <vt:vector size="65" baseType="lpstr">
      <vt:lpstr>Aptos</vt:lpstr>
      <vt:lpstr>Arial</vt:lpstr>
      <vt:lpstr>Calisto MT</vt:lpstr>
      <vt:lpstr>Wingdings 2</vt:lpstr>
      <vt:lpstr>Slate</vt:lpstr>
      <vt:lpstr>Tim 8</vt:lpstr>
      <vt:lpstr>Falsifikovanje novca  Član 258</vt:lpstr>
      <vt:lpstr> Falsifikovanje i zloupotreba kreditnih kartica i kartica za bezgotovinsko plaćanje Član 260</vt:lpstr>
      <vt:lpstr>Glava 23 u Akoma Ntoso formatu</vt:lpstr>
      <vt:lpstr>Uzeto je 127 presuda sa sajta</vt:lpstr>
      <vt:lpstr>PowerPoint Presentation</vt:lpstr>
      <vt:lpstr>Skripte za case fajlove</vt:lpstr>
      <vt:lpstr>Skripte za case fajlove</vt:lpstr>
      <vt:lpstr>PowerPoint Presentation</vt:lpstr>
      <vt:lpstr>PowerPoint Presentation</vt:lpstr>
      <vt:lpstr>PowerPoint Presentation</vt:lpstr>
      <vt:lpstr>PowerPoint Presentation</vt:lpstr>
      <vt:lpstr>PowerPoint Presentation</vt:lpstr>
      <vt:lpstr>UI aplikacije</vt:lpstr>
      <vt:lpstr>Mogućnost navigacije do traženog člana </vt:lpstr>
      <vt:lpstr>PowerPoint Presentation</vt:lpstr>
      <vt:lpstr>PowerPoint Presentation</vt:lpstr>
      <vt:lpstr>Prikazivanje u Legal Rule ML formatu</vt:lpstr>
      <vt:lpstr>PowerPoint Presentation</vt:lpstr>
      <vt:lpstr>Rasudjivanje po pravilima</vt:lpstr>
      <vt:lpstr>PowerPoint Presentation</vt:lpstr>
      <vt:lpstr>PowerPoint Presentation</vt:lpstr>
      <vt:lpstr>PowerPoint Presentation</vt:lpstr>
      <vt:lpstr>PowerPoint Presentation</vt:lpstr>
      <vt:lpstr>Rezonovanje po pravilima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Rasudjivanje po sličnosti</vt:lpstr>
      <vt:lpstr>PowerPoint Presentation</vt:lpstr>
      <vt:lpstr>Rasudjivanje po sličnosti</vt:lpstr>
      <vt:lpstr>PowerPoint Presentation</vt:lpstr>
      <vt:lpstr>PowerPoint Presentation</vt:lpstr>
      <vt:lpstr>PowerPoint Presentation</vt:lpstr>
      <vt:lpstr>PowerPoint Presentation</vt:lpstr>
      <vt:lpstr>Korisnikov slučaj</vt:lpstr>
      <vt:lpstr>PowerPoint Presentation</vt:lpstr>
      <vt:lpstr>PowerPoint Presentation</vt:lpstr>
      <vt:lpstr>PowerPoint Presentation</vt:lpstr>
      <vt:lpstr>PowerPoint Presentation</vt:lpstr>
      <vt:lpstr>PowerPoint Presentation</vt:lpstr>
      <vt:lpstr>PowerPoint Presentation</vt:lpstr>
      <vt:lpstr>Markov Chain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Hvala na pažnji!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 8</dc:title>
  <dc:creator>Uros Petraskovic</dc:creator>
  <cp:lastModifiedBy>Uros Petraskovic</cp:lastModifiedBy>
  <cp:revision>27</cp:revision>
  <dcterms:created xsi:type="dcterms:W3CDTF">2026-03-26T22:30:49Z</dcterms:created>
  <dcterms:modified xsi:type="dcterms:W3CDTF">2026-04-22T16:05:37Z</dcterms:modified>
</cp:coreProperties>
</file>