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321" r:id="rId32"/>
    <p:sldId id="323" r:id="rId33"/>
    <p:sldId id="292" r:id="rId34"/>
    <p:sldId id="294" r:id="rId35"/>
    <p:sldId id="293" r:id="rId36"/>
    <p:sldId id="295" r:id="rId37"/>
    <p:sldId id="282" r:id="rId38"/>
    <p:sldId id="285" r:id="rId39"/>
    <p:sldId id="286" r:id="rId40"/>
    <p:sldId id="287" r:id="rId41"/>
    <p:sldId id="290" r:id="rId42"/>
    <p:sldId id="291" r:id="rId43"/>
    <p:sldId id="296" r:id="rId44"/>
    <p:sldId id="297" r:id="rId45"/>
    <p:sldId id="309" r:id="rId46"/>
    <p:sldId id="310" r:id="rId47"/>
    <p:sldId id="311" r:id="rId48"/>
    <p:sldId id="316" r:id="rId49"/>
    <p:sldId id="312" r:id="rId50"/>
    <p:sldId id="313" r:id="rId51"/>
    <p:sldId id="315" r:id="rId52"/>
    <p:sldId id="317" r:id="rId53"/>
    <p:sldId id="318" r:id="rId54"/>
    <p:sldId id="302" r:id="rId55"/>
    <p:sldId id="303" r:id="rId56"/>
    <p:sldId id="304" r:id="rId57"/>
    <p:sldId id="306" r:id="rId58"/>
    <p:sldId id="320" r:id="rId5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850"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3/31/2026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3/31/2026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3/31/2026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3/31/2026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3/31/2026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3/31/2026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3/31/2026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precinije</a:t>
            </a:r>
            <a:r>
              <a:rPr lang="en-US" dirty="0"/>
              <a:t> </a:t>
            </a:r>
            <a:r>
              <a:rPr lang="en-US" dirty="0" err="1"/>
              <a:t>dono</a:t>
            </a:r>
            <a:r>
              <a:rPr lang="sr-Latn-RS" dirty="0"/>
              <a:t>šenje odluka, veci sample size, naravno previše bi bilo da se to radi ručno za 127 presuda</a:t>
            </a:r>
          </a:p>
          <a:p>
            <a:r>
              <a:rPr lang="sr-Latn-RS" dirty="0"/>
              <a:t>Search po Čl. 258 i Čl. 260. i prolazak kroz sve osnove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akomnatoso format.</a:t>
            </a:r>
          </a:p>
          <a:p>
            <a:r>
              <a:rPr lang="sr-Latn-RS" dirty="0"/>
              <a:t>Prethodno su sve tekstualne informacije o slučajevima bile nabacane u jedan tekstuali fajl i tu je bilo dosta problema.</a:t>
            </a:r>
          </a:p>
          <a:p>
            <a:r>
              <a:rPr lang="sr-Latn-RS" dirty="0"/>
              <a:t>Onda je odlučeno da će svaki txt fajl postati posebni akoma notoso onda će lako moći da se isprave nedostaci pojedinih fajlova jer kad vidi koji nije dobar zna tačno koji txt fajl da gleda.</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textualne fajlove u akomantoso fajlove. </a:t>
            </a:r>
          </a:p>
          <a:p>
            <a:r>
              <a:rPr lang="sr-Latn-RS" dirty="0"/>
              <a:t>Naziv tekstualnih fajlova je u šablonu broj slučaja pa godina i na osnovu toga se dodeljuju imena akoma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 koje se ne ekstrakuju, svi šabloni za pisanje koji su korisni od raznih sudova su uočeni i pretočeni u regekse</a:t>
            </a:r>
            <a:endParaRPr lang="en-US" dirty="0"/>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 </a:t>
            </a:r>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rasdjivanju</a:t>
            </a:r>
            <a:endParaRPr lang="en-US" dirty="0"/>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p>
          <a:p>
            <a:endParaRPr lang="sr-Latn-RS" dirty="0"/>
          </a:p>
          <a:p>
            <a:r>
              <a:rPr lang="sr-Latn-RS" dirty="0"/>
              <a:t>Da li postoji saućesnik</a:t>
            </a:r>
          </a:p>
          <a:p>
            <a:endParaRPr lang="sr-Latn-RS" dirty="0"/>
          </a:p>
          <a:p>
            <a:endParaRPr lang="sr-Latn-RS" dirty="0"/>
          </a:p>
          <a:p>
            <a:endParaRPr lang="sr-Latn-RS" dirty="0"/>
          </a:p>
          <a:p>
            <a:r>
              <a:rPr lang="sr-Latn-RS" dirty="0"/>
              <a:t>Na osnovu teksta kazne tražimo u kojoj jedinici je kazna izrečena u teskstualnom obliku i onda to konvertujemo u broj</a:t>
            </a:r>
            <a:endParaRPr lang="en-US" dirty="0"/>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Imena i prezimena zapiničara.</a:t>
            </a:r>
          </a:p>
          <a:p>
            <a:r>
              <a:rPr lang="sr-Latn-RS" dirty="0"/>
              <a:t>Tu je bilo dosta nepoznatih vrednosti dok nisu dodati svi ovi regeksi koji ih mogu pokupiti iz baš svakog akoma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banaka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endParaRPr lang="en-US" dirty="0"/>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endParaRPr lang="en-US" dirty="0"/>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 </a:t>
            </a:r>
            <a:endParaRPr lang="en-US" dirty="0"/>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endParaRPr lang="en-US" dirty="0"/>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endParaRPr lang="en-US" dirty="0"/>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1994170" cy="1896894"/>
          </a:xfrm>
        </p:spPr>
        <p:txBody>
          <a:bodyPr/>
          <a:lstStyle/>
          <a:p>
            <a:r>
              <a:rPr lang="sr-Latn-RS" dirty="0"/>
              <a:t>Kazna od 2 do 12 godina</a:t>
            </a:r>
            <a:endParaRPr lang="en-US" dirty="0"/>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endParaRPr lang="en-US" dirty="0"/>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endParaRPr lang="en-US" dirty="0"/>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endParaRPr lang="en-US" dirty="0"/>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endParaRPr lang="en-US" dirty="0"/>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endParaRPr lang="en-US" dirty="0"/>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endParaRPr lang="en-US" dirty="0"/>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endParaRPr lang="en-US" dirty="0"/>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kriminal</a:t>
            </a:r>
            <a:endParaRPr lang="en-US" dirty="0"/>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endParaRPr lang="en-US" dirty="0"/>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endParaRPr lang="en-US" dirty="0"/>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9119" y="0"/>
            <a:ext cx="10353762" cy="970450"/>
          </a:xfrm>
        </p:spPr>
        <p:txBody>
          <a:bodyPr/>
          <a:lstStyle/>
          <a:p>
            <a:r>
              <a:rPr lang="sr-Latn-RS" dirty="0"/>
              <a:t>Rezonovanje po praivlima</a:t>
            </a:r>
            <a:endParaRPr lang="en-US" dirty="0"/>
          </a:p>
        </p:txBody>
      </p:sp>
      <p:pic>
        <p:nvPicPr>
          <p:cNvPr id="8" name="Picture 7">
            <a:extLst>
              <a:ext uri="{FF2B5EF4-FFF2-40B4-BE49-F238E27FC236}">
                <a16:creationId xmlns:a16="http://schemas.microsoft.com/office/drawing/2014/main" id="{71B81DFA-653A-0D89-7464-073362D4464E}"/>
              </a:ext>
            </a:extLst>
          </p:cNvPr>
          <p:cNvPicPr>
            <a:picLocks noChangeAspect="1"/>
          </p:cNvPicPr>
          <p:nvPr/>
        </p:nvPicPr>
        <p:blipFill>
          <a:blip r:embed="rId2"/>
          <a:stretch>
            <a:fillRect/>
          </a:stretch>
        </p:blipFill>
        <p:spPr>
          <a:xfrm>
            <a:off x="0" y="943713"/>
            <a:ext cx="12192000" cy="5817937"/>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DC6E5CC-99C2-F95B-8746-796D2958F367}"/>
              </a:ext>
            </a:extLst>
          </p:cNvPr>
          <p:cNvPicPr>
            <a:picLocks noChangeAspect="1"/>
          </p:cNvPicPr>
          <p:nvPr/>
        </p:nvPicPr>
        <p:blipFill>
          <a:blip r:embed="rId2"/>
          <a:stretch>
            <a:fillRect/>
          </a:stretch>
        </p:blipFill>
        <p:spPr>
          <a:xfrm>
            <a:off x="0" y="878637"/>
            <a:ext cx="12192000" cy="5431465"/>
          </a:xfrm>
          <a:prstGeom prst="rect">
            <a:avLst/>
          </a:prstGeom>
        </p:spPr>
      </p:pic>
      <p:sp>
        <p:nvSpPr>
          <p:cNvPr id="4" name="Content Placeholder 2">
            <a:extLst>
              <a:ext uri="{FF2B5EF4-FFF2-40B4-BE49-F238E27FC236}">
                <a16:creationId xmlns:a16="http://schemas.microsoft.com/office/drawing/2014/main" id="{AEBD58D6-FFCF-D51B-3AE4-7F454C15F46F}"/>
              </a:ext>
            </a:extLst>
          </p:cNvPr>
          <p:cNvSpPr txBox="1">
            <a:spLocks/>
          </p:cNvSpPr>
          <p:nvPr/>
        </p:nvSpPr>
        <p:spPr>
          <a:xfrm>
            <a:off x="112884" y="114415"/>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Imamo uvid u činjenično stanje, dokaze i svedoke</a:t>
            </a:r>
          </a:p>
          <a:p>
            <a:endParaRPr lang="en-US" dirty="0"/>
          </a:p>
        </p:txBody>
      </p:sp>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 </a:t>
            </a:r>
            <a:endParaRPr lang="en-US" dirty="0"/>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jasno zašto je kazna skoro svugde manja od minimalne kazne i ispostavilo se da se u velikom broju slučajeva gde imaju olakšavajuće okolnosti 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6" y="1109879"/>
            <a:ext cx="10353762" cy="4058751"/>
          </a:xfrm>
        </p:spPr>
        <p:txBody>
          <a:bodyPr/>
          <a:lstStyle/>
          <a:p>
            <a:r>
              <a:rPr lang="sr-Latn-RS" dirty="0"/>
              <a:t>Ovde vidimo taćne granice za ublažavanje kazni nakon što se primeni ćlan 45 stav 3 o olakšavajućim okolnostima</a:t>
            </a:r>
            <a:endParaRPr lang="en-US" dirty="0"/>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 kada je neko bio ranije osudjivan da mu će te otežavajuca okolnost doneti do dosta teže kazne, preporučena 2 godine i 9 meseci a izrečena 2 godine, iako ima olakšavajuće okolnosti činjenica da je prethodno osudjivan igra veoma veliku ulogu</a:t>
            </a:r>
            <a:endParaRPr lang="en-US" dirty="0"/>
          </a:p>
        </p:txBody>
      </p:sp>
      <p:pic>
        <p:nvPicPr>
          <p:cNvPr id="5" name="Picture 4">
            <a:extLst>
              <a:ext uri="{FF2B5EF4-FFF2-40B4-BE49-F238E27FC236}">
                <a16:creationId xmlns:a16="http://schemas.microsoft.com/office/drawing/2014/main" id="{7620BF96-51A8-4ACD-8A34-DC2C5138426E}"/>
              </a:ext>
            </a:extLst>
          </p:cNvPr>
          <p:cNvPicPr>
            <a:picLocks noChangeAspect="1"/>
          </p:cNvPicPr>
          <p:nvPr/>
        </p:nvPicPr>
        <p:blipFill>
          <a:blip r:embed="rId2"/>
          <a:stretch>
            <a:fillRect/>
          </a:stretch>
        </p:blipFill>
        <p:spPr>
          <a:xfrm>
            <a:off x="0" y="1970549"/>
            <a:ext cx="12192000" cy="4531694"/>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olakšavajućie okolnosti smanjenje kazne je zabranjeno zbog postojanja otežavajucih okolnosti, tako da kazna neće moći da ide ispod minimalne i verovatno će biti veća od minmalne</a:t>
            </a:r>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276AF-3639-014F-F038-EB460CF36815}"/>
              </a:ext>
            </a:extLst>
          </p:cNvPr>
          <p:cNvSpPr>
            <a:spLocks noGrp="1"/>
          </p:cNvSpPr>
          <p:nvPr>
            <p:ph idx="1"/>
          </p:nvPr>
        </p:nvSpPr>
        <p:spPr>
          <a:xfrm>
            <a:off x="18850" y="0"/>
            <a:ext cx="10353762" cy="4058751"/>
          </a:xfrm>
        </p:spPr>
        <p:txBody>
          <a:bodyPr/>
          <a:lstStyle/>
          <a:p>
            <a:r>
              <a:rPr lang="sr-Latn-RS" dirty="0"/>
              <a:t>Još slučajeva</a:t>
            </a:r>
            <a:endParaRPr lang="en-US" dirty="0"/>
          </a:p>
        </p:txBody>
      </p:sp>
      <p:pic>
        <p:nvPicPr>
          <p:cNvPr id="7" name="Picture 6">
            <a:extLst>
              <a:ext uri="{FF2B5EF4-FFF2-40B4-BE49-F238E27FC236}">
                <a16:creationId xmlns:a16="http://schemas.microsoft.com/office/drawing/2014/main" id="{202E792B-DE82-C78B-1079-434596D40E5F}"/>
              </a:ext>
            </a:extLst>
          </p:cNvPr>
          <p:cNvPicPr>
            <a:picLocks noChangeAspect="1"/>
          </p:cNvPicPr>
          <p:nvPr/>
        </p:nvPicPr>
        <p:blipFill>
          <a:blip r:embed="rId2"/>
          <a:stretch>
            <a:fillRect/>
          </a:stretch>
        </p:blipFill>
        <p:spPr>
          <a:xfrm>
            <a:off x="-18850" y="3099304"/>
            <a:ext cx="12192000" cy="3758696"/>
          </a:xfrm>
          <a:prstGeom prst="rect">
            <a:avLst/>
          </a:prstGeom>
        </p:spPr>
      </p:pic>
      <p:pic>
        <p:nvPicPr>
          <p:cNvPr id="9" name="Picture 8">
            <a:extLst>
              <a:ext uri="{FF2B5EF4-FFF2-40B4-BE49-F238E27FC236}">
                <a16:creationId xmlns:a16="http://schemas.microsoft.com/office/drawing/2014/main" id="{8FB727E4-CA52-913C-DFD6-07DF97E0E470}"/>
              </a:ext>
            </a:extLst>
          </p:cNvPr>
          <p:cNvPicPr>
            <a:picLocks noChangeAspect="1"/>
          </p:cNvPicPr>
          <p:nvPr/>
        </p:nvPicPr>
        <p:blipFill>
          <a:blip r:embed="rId3"/>
          <a:stretch>
            <a:fillRect/>
          </a:stretch>
        </p:blipFill>
        <p:spPr>
          <a:xfrm>
            <a:off x="18850" y="577328"/>
            <a:ext cx="12192000" cy="3254032"/>
          </a:xfrm>
          <a:prstGeom prst="rect">
            <a:avLst/>
          </a:prstGeom>
        </p:spPr>
      </p:pic>
    </p:spTree>
    <p:extLst>
      <p:ext uri="{BB962C8B-B14F-4D97-AF65-F5344CB8AC3E}">
        <p14:creationId xmlns:p14="http://schemas.microsoft.com/office/powerpoint/2010/main" val="3878712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3CC0-DC28-BFAB-DAB2-F2EBDC7A1E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D0C74-AFEA-1F27-6A25-0E1C18AE59B0}"/>
              </a:ext>
            </a:extLst>
          </p:cNvPr>
          <p:cNvSpPr>
            <a:spLocks noGrp="1"/>
          </p:cNvSpPr>
          <p:nvPr>
            <p:ph idx="1"/>
          </p:nvPr>
        </p:nvSpPr>
        <p:spPr>
          <a:xfrm>
            <a:off x="18849" y="-77822"/>
            <a:ext cx="12192000" cy="4058751"/>
          </a:xfrm>
        </p:spPr>
        <p:txBody>
          <a:bodyPr/>
          <a:lstStyle/>
          <a:p>
            <a:r>
              <a:rPr lang="sr-Latn-RS" dirty="0"/>
              <a:t>Još slučajeva, zbog kajanja kazna verovatno malo manja, verovatno je sudija mekšeg srca nego naš model ga je pogodilo kajanje. Ispod vidimo čim je neko ranije osudjivan kao otežavajuća okolnost odma strožija kazna</a:t>
            </a:r>
            <a:endParaRPr lang="en-US" dirty="0"/>
          </a:p>
        </p:txBody>
      </p:sp>
      <p:pic>
        <p:nvPicPr>
          <p:cNvPr id="4" name="Picture 3">
            <a:extLst>
              <a:ext uri="{FF2B5EF4-FFF2-40B4-BE49-F238E27FC236}">
                <a16:creationId xmlns:a16="http://schemas.microsoft.com/office/drawing/2014/main" id="{7BAC8074-E508-841F-6D04-F93FC7F1E48B}"/>
              </a:ext>
            </a:extLst>
          </p:cNvPr>
          <p:cNvPicPr>
            <a:picLocks noChangeAspect="1"/>
          </p:cNvPicPr>
          <p:nvPr/>
        </p:nvPicPr>
        <p:blipFill>
          <a:blip r:embed="rId2"/>
          <a:stretch>
            <a:fillRect/>
          </a:stretch>
        </p:blipFill>
        <p:spPr>
          <a:xfrm>
            <a:off x="-18850" y="563022"/>
            <a:ext cx="12192000" cy="3495729"/>
          </a:xfrm>
          <a:prstGeom prst="rect">
            <a:avLst/>
          </a:prstGeom>
        </p:spPr>
      </p:pic>
      <p:pic>
        <p:nvPicPr>
          <p:cNvPr id="8" name="Picture 7">
            <a:extLst>
              <a:ext uri="{FF2B5EF4-FFF2-40B4-BE49-F238E27FC236}">
                <a16:creationId xmlns:a16="http://schemas.microsoft.com/office/drawing/2014/main" id="{1D09E95C-B488-2ADB-1D7D-4055BF090EB0}"/>
              </a:ext>
            </a:extLst>
          </p:cNvPr>
          <p:cNvPicPr>
            <a:picLocks noChangeAspect="1"/>
          </p:cNvPicPr>
          <p:nvPr/>
        </p:nvPicPr>
        <p:blipFill>
          <a:blip r:embed="rId3"/>
          <a:stretch>
            <a:fillRect/>
          </a:stretch>
        </p:blipFill>
        <p:spPr>
          <a:xfrm>
            <a:off x="-18850" y="3980929"/>
            <a:ext cx="12192000" cy="2885781"/>
          </a:xfrm>
          <a:prstGeom prst="rect">
            <a:avLst/>
          </a:prstGeom>
        </p:spPr>
      </p:pic>
    </p:spTree>
    <p:extLst>
      <p:ext uri="{BB962C8B-B14F-4D97-AF65-F5344CB8AC3E}">
        <p14:creationId xmlns:p14="http://schemas.microsoft.com/office/powerpoint/2010/main" val="2089939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endParaRPr lang="en-US" dirty="0"/>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endParaRPr lang="en-US" dirty="0"/>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endParaRPr lang="en-US" dirty="0"/>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endParaRPr lang="en-US" dirty="0"/>
          </a:p>
        </p:txBody>
      </p:sp>
    </p:spTree>
    <p:extLst>
      <p:ext uri="{BB962C8B-B14F-4D97-AF65-F5344CB8AC3E}">
        <p14:creationId xmlns:p14="http://schemas.microsoft.com/office/powerpoint/2010/main" val="867604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endParaRPr lang="en-US" dirty="0"/>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endParaRPr lang="en-US" dirty="0"/>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endParaRPr lang="en-US" dirty="0"/>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endParaRPr lang="en-US" dirty="0"/>
          </a:p>
        </p:txBody>
      </p:sp>
    </p:spTree>
    <p:extLst>
      <p:ext uri="{BB962C8B-B14F-4D97-AF65-F5344CB8AC3E}">
        <p14:creationId xmlns:p14="http://schemas.microsoft.com/office/powerpoint/2010/main" val="136358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endParaRPr lang="en-US" dirty="0"/>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endParaRPr lang="en-US" dirty="0"/>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endParaRPr lang="en-US" dirty="0"/>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endParaRPr lang="en-US" dirty="0"/>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kradja od nekoliko desetina hiljada eura, to deluje kao mnogo značajniji faktor nego zaposlenost ili bračni status ili obrazovanje, što i jeste, koeficijent je 10 puta veći s razlogom</a:t>
            </a:r>
            <a:endParaRPr lang="en-US" dirty="0"/>
          </a:p>
        </p:txBody>
      </p:sp>
      <p:pic>
        <p:nvPicPr>
          <p:cNvPr id="5" name="Picture 4">
            <a:extLst>
              <a:ext uri="{FF2B5EF4-FFF2-40B4-BE49-F238E27FC236}">
                <a16:creationId xmlns:a16="http://schemas.microsoft.com/office/drawing/2014/main" id="{B426BEFF-A34B-3B75-C487-4090E8A2A32B}"/>
              </a:ext>
            </a:extLst>
          </p:cNvPr>
          <p:cNvPicPr>
            <a:picLocks noChangeAspect="1"/>
          </p:cNvPicPr>
          <p:nvPr/>
        </p:nvPicPr>
        <p:blipFill>
          <a:blip r:embed="rId2"/>
          <a:stretch>
            <a:fillRect/>
          </a:stretch>
        </p:blipFill>
        <p:spPr>
          <a:xfrm>
            <a:off x="0" y="2257137"/>
            <a:ext cx="12192000" cy="3977974"/>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542122"/>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414911"/>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464131"/>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089634"/>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313464"/>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1658225"/>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429000"/>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093910"/>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a:xfrm>
            <a:off x="913795" y="96350"/>
            <a:ext cx="10353762" cy="970450"/>
          </a:xfrm>
        </p:spPr>
        <p:txBody>
          <a:bodyPr/>
          <a:lstStyle/>
          <a:p>
            <a:r>
              <a:rPr lang="en-US" dirty="0" err="1"/>
              <a:t>Korisnikov</a:t>
            </a:r>
            <a:r>
              <a:rPr lang="en-US" dirty="0"/>
              <a:t> </a:t>
            </a:r>
            <a:r>
              <a:rPr lang="en-US" dirty="0" err="1"/>
              <a:t>slučaj</a:t>
            </a:r>
            <a:endParaRPr lang="en-US" dirty="0"/>
          </a:p>
        </p:txBody>
      </p:sp>
      <p:pic>
        <p:nvPicPr>
          <p:cNvPr id="6" name="Picture 5">
            <a:extLst>
              <a:ext uri="{FF2B5EF4-FFF2-40B4-BE49-F238E27FC236}">
                <a16:creationId xmlns:a16="http://schemas.microsoft.com/office/drawing/2014/main" id="{83030F64-2DF5-4011-981B-8505BE977674}"/>
              </a:ext>
            </a:extLst>
          </p:cNvPr>
          <p:cNvPicPr>
            <a:picLocks noChangeAspect="1"/>
          </p:cNvPicPr>
          <p:nvPr/>
        </p:nvPicPr>
        <p:blipFill>
          <a:blip r:embed="rId2"/>
          <a:stretch>
            <a:fillRect/>
          </a:stretch>
        </p:blipFill>
        <p:spPr>
          <a:xfrm>
            <a:off x="0" y="1066800"/>
            <a:ext cx="12187190" cy="4778188"/>
          </a:xfrm>
          <a:prstGeom prst="rect">
            <a:avLst/>
          </a:prstGeom>
        </p:spPr>
      </p:pic>
    </p:spTree>
    <p:extLst>
      <p:ext uri="{BB962C8B-B14F-4D97-AF65-F5344CB8AC3E}">
        <p14:creationId xmlns:p14="http://schemas.microsoft.com/office/powerpoint/2010/main" val="2313200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6C28AF-FA86-49BD-968D-01DA8C597344}"/>
              </a:ext>
            </a:extLst>
          </p:cNvPr>
          <p:cNvSpPr>
            <a:spLocks noGrp="1"/>
          </p:cNvSpPr>
          <p:nvPr>
            <p:ph idx="1"/>
          </p:nvPr>
        </p:nvSpPr>
        <p:spPr>
          <a:xfrm>
            <a:off x="0" y="30109"/>
            <a:ext cx="10353762" cy="4058751"/>
          </a:xfrm>
        </p:spPr>
        <p:txBody>
          <a:bodyPr/>
          <a:lstStyle/>
          <a:p>
            <a:r>
              <a:rPr lang="en-US" dirty="0" err="1"/>
              <a:t>Uneti</a:t>
            </a:r>
            <a:r>
              <a:rPr lang="en-US" dirty="0"/>
              <a:t> </a:t>
            </a:r>
            <a:r>
              <a:rPr lang="en-US" dirty="0" err="1"/>
              <a:t>podaci</a:t>
            </a:r>
            <a:r>
              <a:rPr lang="en-US" dirty="0"/>
              <a:t> </a:t>
            </a:r>
            <a:r>
              <a:rPr lang="en-US" dirty="0" err="1"/>
              <a:t>odstrane</a:t>
            </a:r>
            <a:r>
              <a:rPr lang="en-US" dirty="0"/>
              <a:t> </a:t>
            </a:r>
            <a:r>
              <a:rPr lang="en-US" dirty="0" err="1"/>
              <a:t>korisnka</a:t>
            </a:r>
            <a:endParaRPr lang="en-US" dirty="0"/>
          </a:p>
        </p:txBody>
      </p:sp>
      <p:pic>
        <p:nvPicPr>
          <p:cNvPr id="7" name="Picture 6">
            <a:extLst>
              <a:ext uri="{FF2B5EF4-FFF2-40B4-BE49-F238E27FC236}">
                <a16:creationId xmlns:a16="http://schemas.microsoft.com/office/drawing/2014/main" id="{04B48E70-296E-7AE8-1EC4-5CB62525AEE1}"/>
              </a:ext>
            </a:extLst>
          </p:cNvPr>
          <p:cNvPicPr>
            <a:picLocks noChangeAspect="1"/>
          </p:cNvPicPr>
          <p:nvPr/>
        </p:nvPicPr>
        <p:blipFill>
          <a:blip r:embed="rId2"/>
          <a:stretch>
            <a:fillRect/>
          </a:stretch>
        </p:blipFill>
        <p:spPr>
          <a:xfrm>
            <a:off x="0" y="669475"/>
            <a:ext cx="12192000" cy="5519049"/>
          </a:xfrm>
          <a:prstGeom prst="rect">
            <a:avLst/>
          </a:prstGeom>
        </p:spPr>
      </p:pic>
    </p:spTree>
    <p:extLst>
      <p:ext uri="{BB962C8B-B14F-4D97-AF65-F5344CB8AC3E}">
        <p14:creationId xmlns:p14="http://schemas.microsoft.com/office/powerpoint/2010/main" val="5091922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A91A0C-0097-7F0B-1945-40D9EE57E03E}"/>
              </a:ext>
            </a:extLst>
          </p:cNvPr>
          <p:cNvPicPr>
            <a:picLocks noChangeAspect="1"/>
          </p:cNvPicPr>
          <p:nvPr/>
        </p:nvPicPr>
        <p:blipFill>
          <a:blip r:embed="rId2"/>
          <a:stretch>
            <a:fillRect/>
          </a:stretch>
        </p:blipFill>
        <p:spPr>
          <a:xfrm>
            <a:off x="0" y="945132"/>
            <a:ext cx="12192000" cy="5434663"/>
          </a:xfrm>
          <a:prstGeom prst="rect">
            <a:avLst/>
          </a:prstGeom>
        </p:spPr>
      </p:pic>
      <p:sp>
        <p:nvSpPr>
          <p:cNvPr id="4" name="Content Placeholder 2">
            <a:extLst>
              <a:ext uri="{FF2B5EF4-FFF2-40B4-BE49-F238E27FC236}">
                <a16:creationId xmlns:a16="http://schemas.microsoft.com/office/drawing/2014/main" id="{33BAF354-998D-FEF8-A78C-570622B7EB73}"/>
              </a:ext>
            </a:extLst>
          </p:cNvPr>
          <p:cNvSpPr>
            <a:spLocks noGrp="1"/>
          </p:cNvSpPr>
          <p:nvPr>
            <p:ph idx="1"/>
          </p:nvPr>
        </p:nvSpPr>
        <p:spPr>
          <a:xfrm>
            <a:off x="0" y="0"/>
            <a:ext cx="12192000" cy="4058751"/>
          </a:xfrm>
        </p:spPr>
        <p:txBody>
          <a:bodyPr/>
          <a:lstStyle/>
          <a:p>
            <a:r>
              <a:rPr lang="sr-Latn-RS" dirty="0"/>
              <a:t>Nova tekstualna polja za unos, za svedoke, dokaze i opis slučaja</a:t>
            </a:r>
            <a:endParaRPr lang="en-US" dirty="0"/>
          </a:p>
        </p:txBody>
      </p:sp>
    </p:spTree>
    <p:extLst>
      <p:ext uri="{BB962C8B-B14F-4D97-AF65-F5344CB8AC3E}">
        <p14:creationId xmlns:p14="http://schemas.microsoft.com/office/powerpoint/2010/main" val="3903503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522A2-B7BC-D2AA-ADB8-9E46E7050D8B}"/>
              </a:ext>
            </a:extLst>
          </p:cNvPr>
          <p:cNvSpPr>
            <a:spLocks noGrp="1"/>
          </p:cNvSpPr>
          <p:nvPr>
            <p:ph idx="1"/>
          </p:nvPr>
        </p:nvSpPr>
        <p:spPr>
          <a:xfrm>
            <a:off x="0" y="0"/>
            <a:ext cx="12192000" cy="4058751"/>
          </a:xfrm>
        </p:spPr>
        <p:txBody>
          <a:bodyPr/>
          <a:lstStyle/>
          <a:p>
            <a:r>
              <a:rPr lang="sr-Latn-RS" dirty="0"/>
              <a:t>Da bi se ubrzao proces rada dodato je dugme za automatsko generisanje opisa na osnovu meta podataka tako da sudija nebi morao sve ručno da unosi.</a:t>
            </a:r>
            <a:endParaRPr lang="en-US" dirty="0"/>
          </a:p>
        </p:txBody>
      </p:sp>
      <p:pic>
        <p:nvPicPr>
          <p:cNvPr id="5" name="Picture 4">
            <a:extLst>
              <a:ext uri="{FF2B5EF4-FFF2-40B4-BE49-F238E27FC236}">
                <a16:creationId xmlns:a16="http://schemas.microsoft.com/office/drawing/2014/main" id="{97B7563D-75E2-94D0-8750-8432377B838F}"/>
              </a:ext>
            </a:extLst>
          </p:cNvPr>
          <p:cNvPicPr>
            <a:picLocks noChangeAspect="1"/>
          </p:cNvPicPr>
          <p:nvPr/>
        </p:nvPicPr>
        <p:blipFill>
          <a:blip r:embed="rId2"/>
          <a:stretch>
            <a:fillRect/>
          </a:stretch>
        </p:blipFill>
        <p:spPr>
          <a:xfrm>
            <a:off x="0" y="752816"/>
            <a:ext cx="12192000" cy="5352368"/>
          </a:xfrm>
          <a:prstGeom prst="rect">
            <a:avLst/>
          </a:prstGeom>
        </p:spPr>
      </p:pic>
    </p:spTree>
    <p:extLst>
      <p:ext uri="{BB962C8B-B14F-4D97-AF65-F5344CB8AC3E}">
        <p14:creationId xmlns:p14="http://schemas.microsoft.com/office/powerpoint/2010/main" val="12731157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BB4413-BCA0-71CF-1A7F-4ABB99D2C2CD}"/>
              </a:ext>
            </a:extLst>
          </p:cNvPr>
          <p:cNvSpPr>
            <a:spLocks noGrp="1"/>
          </p:cNvSpPr>
          <p:nvPr>
            <p:ph idx="1"/>
          </p:nvPr>
        </p:nvSpPr>
        <p:spPr>
          <a:xfrm>
            <a:off x="0" y="0"/>
            <a:ext cx="10353762" cy="4058751"/>
          </a:xfrm>
        </p:spPr>
        <p:txBody>
          <a:bodyPr/>
          <a:lstStyle/>
          <a:p>
            <a:r>
              <a:rPr lang="sr-Latn-RS" dirty="0"/>
              <a:t>Dugme generiši opis je ovo ubacilo u tekstualno polje, naravno ako se korisniku nešto ne svidja on može da izmeni to, ali u ovom slučaju ništa nije menjano i idemo na sledeći korak</a:t>
            </a:r>
            <a:endParaRPr lang="en-US" dirty="0"/>
          </a:p>
        </p:txBody>
      </p:sp>
      <p:pic>
        <p:nvPicPr>
          <p:cNvPr id="5" name="Picture 4">
            <a:extLst>
              <a:ext uri="{FF2B5EF4-FFF2-40B4-BE49-F238E27FC236}">
                <a16:creationId xmlns:a16="http://schemas.microsoft.com/office/drawing/2014/main" id="{5D1FF225-96EC-E97E-3169-719C3FDC8B0B}"/>
              </a:ext>
            </a:extLst>
          </p:cNvPr>
          <p:cNvPicPr>
            <a:picLocks noChangeAspect="1"/>
          </p:cNvPicPr>
          <p:nvPr/>
        </p:nvPicPr>
        <p:blipFill>
          <a:blip r:embed="rId2"/>
          <a:stretch>
            <a:fillRect/>
          </a:stretch>
        </p:blipFill>
        <p:spPr>
          <a:xfrm>
            <a:off x="0" y="969724"/>
            <a:ext cx="12192000" cy="5385479"/>
          </a:xfrm>
          <a:prstGeom prst="rect">
            <a:avLst/>
          </a:prstGeom>
        </p:spPr>
      </p:pic>
    </p:spTree>
    <p:extLst>
      <p:ext uri="{BB962C8B-B14F-4D97-AF65-F5344CB8AC3E}">
        <p14:creationId xmlns:p14="http://schemas.microsoft.com/office/powerpoint/2010/main" val="38038386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34601-8253-B3BE-C7F7-418CCD557CF2}"/>
              </a:ext>
            </a:extLst>
          </p:cNvPr>
          <p:cNvSpPr>
            <a:spLocks noGrp="1"/>
          </p:cNvSpPr>
          <p:nvPr>
            <p:ph idx="1"/>
          </p:nvPr>
        </p:nvSpPr>
        <p:spPr>
          <a:xfrm>
            <a:off x="5323" y="175564"/>
            <a:ext cx="11852693" cy="4058751"/>
          </a:xfrm>
        </p:spPr>
        <p:txBody>
          <a:bodyPr/>
          <a:lstStyle/>
          <a:p>
            <a:r>
              <a:rPr lang="sr-Latn-RS" dirty="0"/>
              <a:t>Koristi se Markov chain model koji je obučen na 129 postojecih sudskih presuda, on generiše tekst u narednim koracima, on će koristiti informcije iz rasudjivanja po pravilima i po sličnosti koje će se takodje automatski pokrenuti kada kliknemo generiši presudu.</a:t>
            </a:r>
          </a:p>
          <a:p>
            <a:r>
              <a:rPr lang="sr-Latn-RS" dirty="0"/>
              <a:t>XML će se tek sačuvati kada sudija donese konačnu odluku, čeka se na sudiju. </a:t>
            </a:r>
            <a:endParaRPr lang="en-US" dirty="0"/>
          </a:p>
        </p:txBody>
      </p:sp>
      <p:pic>
        <p:nvPicPr>
          <p:cNvPr id="5" name="Picture 4">
            <a:extLst>
              <a:ext uri="{FF2B5EF4-FFF2-40B4-BE49-F238E27FC236}">
                <a16:creationId xmlns:a16="http://schemas.microsoft.com/office/drawing/2014/main" id="{64AB9A74-E83B-86A5-CBE9-9B1114EAE240}"/>
              </a:ext>
            </a:extLst>
          </p:cNvPr>
          <p:cNvPicPr>
            <a:picLocks noChangeAspect="1"/>
          </p:cNvPicPr>
          <p:nvPr/>
        </p:nvPicPr>
        <p:blipFill>
          <a:blip r:embed="rId2"/>
          <a:stretch>
            <a:fillRect/>
          </a:stretch>
        </p:blipFill>
        <p:spPr>
          <a:xfrm>
            <a:off x="-5324" y="1625916"/>
            <a:ext cx="12192000" cy="4633138"/>
          </a:xfrm>
          <a:prstGeom prst="rect">
            <a:avLst/>
          </a:prstGeom>
        </p:spPr>
      </p:pic>
    </p:spTree>
    <p:extLst>
      <p:ext uri="{BB962C8B-B14F-4D97-AF65-F5344CB8AC3E}">
        <p14:creationId xmlns:p14="http://schemas.microsoft.com/office/powerpoint/2010/main" val="28797388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FDB1-1A58-38A9-F773-160CE9258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E4581A-CF52-5888-0C4A-428A103D0FFD}"/>
              </a:ext>
            </a:extLst>
          </p:cNvPr>
          <p:cNvSpPr>
            <a:spLocks noGrp="1"/>
          </p:cNvSpPr>
          <p:nvPr>
            <p:ph idx="1"/>
          </p:nvPr>
        </p:nvSpPr>
        <p:spPr>
          <a:xfrm>
            <a:off x="0" y="175564"/>
            <a:ext cx="11785520" cy="4058751"/>
          </a:xfrm>
        </p:spPr>
        <p:txBody>
          <a:bodyPr/>
          <a:lstStyle/>
          <a:p>
            <a:r>
              <a:rPr lang="sr-Latn-RS" dirty="0"/>
              <a:t>Dobijamo rezultate nad našim sučajem, izvršeno ja rasudjivanje po pravilima i po slučajevima nad novom sudskom presudom </a:t>
            </a:r>
            <a:endParaRPr lang="en-US" dirty="0"/>
          </a:p>
        </p:txBody>
      </p:sp>
      <p:pic>
        <p:nvPicPr>
          <p:cNvPr id="4" name="Picture 3">
            <a:extLst>
              <a:ext uri="{FF2B5EF4-FFF2-40B4-BE49-F238E27FC236}">
                <a16:creationId xmlns:a16="http://schemas.microsoft.com/office/drawing/2014/main" id="{315BD996-E8E6-0CBA-018C-20FB5920829F}"/>
              </a:ext>
            </a:extLst>
          </p:cNvPr>
          <p:cNvPicPr>
            <a:picLocks noChangeAspect="1"/>
          </p:cNvPicPr>
          <p:nvPr/>
        </p:nvPicPr>
        <p:blipFill>
          <a:blip r:embed="rId2"/>
          <a:stretch>
            <a:fillRect/>
          </a:stretch>
        </p:blipFill>
        <p:spPr>
          <a:xfrm>
            <a:off x="0" y="1766508"/>
            <a:ext cx="12192000" cy="4161561"/>
          </a:xfrm>
          <a:prstGeom prst="rect">
            <a:avLst/>
          </a:prstGeom>
        </p:spPr>
      </p:pic>
    </p:spTree>
    <p:extLst>
      <p:ext uri="{BB962C8B-B14F-4D97-AF65-F5344CB8AC3E}">
        <p14:creationId xmlns:p14="http://schemas.microsoft.com/office/powerpoint/2010/main" val="15354044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E68F-15E2-0E4F-8C7E-83F85225859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69B3D-132A-9DD9-3FC0-AD0C746EA424}"/>
              </a:ext>
            </a:extLst>
          </p:cNvPr>
          <p:cNvSpPr>
            <a:spLocks noGrp="1"/>
          </p:cNvSpPr>
          <p:nvPr>
            <p:ph idx="1"/>
          </p:nvPr>
        </p:nvSpPr>
        <p:spPr>
          <a:xfrm>
            <a:off x="121134" y="126925"/>
            <a:ext cx="3935299" cy="5057918"/>
          </a:xfrm>
        </p:spPr>
        <p:txBody>
          <a:bodyPr/>
          <a:lstStyle/>
          <a:p>
            <a:r>
              <a:rPr lang="sr-Latn-RS" dirty="0"/>
              <a:t>Dobijamo preporučenu kaznu na osnovu prethodna 2 rasudjivanja, vidimo koji ćlanovi su primenjeni.</a:t>
            </a:r>
          </a:p>
          <a:p>
            <a:r>
              <a:rPr lang="sr-Latn-RS" dirty="0"/>
              <a:t>Automatski je izgenerisan uvod, činjenicno stanje i obrazloženje i ispod će sudiji biti dozvoljeno da donese finalnu odluku o dužini i tipu presude.</a:t>
            </a:r>
          </a:p>
          <a:p>
            <a:r>
              <a:rPr lang="sr-Latn-RS" dirty="0"/>
              <a:t>Kada sudija donese tu odluku onda će se sačuvati nova presuda nad kojom će moće da se rade iste operacije kao i nad onima koje nisu ručno unešene</a:t>
            </a:r>
            <a:endParaRPr lang="en-US" dirty="0"/>
          </a:p>
        </p:txBody>
      </p:sp>
      <p:pic>
        <p:nvPicPr>
          <p:cNvPr id="4" name="Picture 3">
            <a:extLst>
              <a:ext uri="{FF2B5EF4-FFF2-40B4-BE49-F238E27FC236}">
                <a16:creationId xmlns:a16="http://schemas.microsoft.com/office/drawing/2014/main" id="{0061E62D-F34C-4CDA-B846-9D22AC17DE0A}"/>
              </a:ext>
            </a:extLst>
          </p:cNvPr>
          <p:cNvPicPr>
            <a:picLocks noChangeAspect="1"/>
          </p:cNvPicPr>
          <p:nvPr/>
        </p:nvPicPr>
        <p:blipFill>
          <a:blip r:embed="rId2"/>
          <a:stretch>
            <a:fillRect/>
          </a:stretch>
        </p:blipFill>
        <p:spPr>
          <a:xfrm>
            <a:off x="4170451" y="-63230"/>
            <a:ext cx="8021549" cy="6858000"/>
          </a:xfrm>
          <a:prstGeom prst="rect">
            <a:avLst/>
          </a:prstGeom>
        </p:spPr>
      </p:pic>
    </p:spTree>
    <p:extLst>
      <p:ext uri="{BB962C8B-B14F-4D97-AF65-F5344CB8AC3E}">
        <p14:creationId xmlns:p14="http://schemas.microsoft.com/office/powerpoint/2010/main" val="2474050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F12D-2C09-965E-7411-2E3D375FB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8F1A5B-A48F-3D99-B1B2-36D4FBE0E65E}"/>
              </a:ext>
            </a:extLst>
          </p:cNvPr>
          <p:cNvSpPr>
            <a:spLocks noGrp="1"/>
          </p:cNvSpPr>
          <p:nvPr>
            <p:ph idx="1"/>
          </p:nvPr>
        </p:nvSpPr>
        <p:spPr>
          <a:xfrm>
            <a:off x="-5324" y="311518"/>
            <a:ext cx="1995348" cy="6234964"/>
          </a:xfrm>
        </p:spPr>
        <p:txBody>
          <a:bodyPr>
            <a:normAutofit/>
          </a:bodyPr>
          <a:lstStyle/>
          <a:p>
            <a:pPr marL="36900" indent="0">
              <a:buNone/>
            </a:pPr>
            <a:r>
              <a:rPr lang="sr-Latn-RS" dirty="0"/>
              <a:t>Sudija ima opciju da promeni vrstu presude, uslovna, zatvor a može i da oslobodi, takodje može da menja dužinu kazne, i može naknadno da doda novčanu kaznu </a:t>
            </a:r>
            <a:endParaRPr lang="en-US" dirty="0"/>
          </a:p>
        </p:txBody>
      </p:sp>
      <p:pic>
        <p:nvPicPr>
          <p:cNvPr id="5" name="Picture 4">
            <a:extLst>
              <a:ext uri="{FF2B5EF4-FFF2-40B4-BE49-F238E27FC236}">
                <a16:creationId xmlns:a16="http://schemas.microsoft.com/office/drawing/2014/main" id="{C757C5C7-5885-6352-94F1-9242582535CB}"/>
              </a:ext>
            </a:extLst>
          </p:cNvPr>
          <p:cNvPicPr>
            <a:picLocks noChangeAspect="1"/>
          </p:cNvPicPr>
          <p:nvPr/>
        </p:nvPicPr>
        <p:blipFill>
          <a:blip r:embed="rId2"/>
          <a:stretch>
            <a:fillRect/>
          </a:stretch>
        </p:blipFill>
        <p:spPr>
          <a:xfrm>
            <a:off x="1990024" y="109074"/>
            <a:ext cx="10040751" cy="6639852"/>
          </a:xfrm>
          <a:prstGeom prst="rect">
            <a:avLst/>
          </a:prstGeom>
        </p:spPr>
      </p:pic>
    </p:spTree>
    <p:extLst>
      <p:ext uri="{BB962C8B-B14F-4D97-AF65-F5344CB8AC3E}">
        <p14:creationId xmlns:p14="http://schemas.microsoft.com/office/powerpoint/2010/main" val="33026112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1E048-7DA5-A8D7-C42C-89821B23D93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A193807-FDE5-761B-836E-72936728955E}"/>
              </a:ext>
            </a:extLst>
          </p:cNvPr>
          <p:cNvPicPr>
            <a:picLocks noChangeAspect="1"/>
          </p:cNvPicPr>
          <p:nvPr/>
        </p:nvPicPr>
        <p:blipFill>
          <a:blip r:embed="rId2"/>
          <a:stretch>
            <a:fillRect/>
          </a:stretch>
        </p:blipFill>
        <p:spPr>
          <a:xfrm>
            <a:off x="1359336" y="1570423"/>
            <a:ext cx="10193173" cy="2705478"/>
          </a:xfrm>
          <a:prstGeom prst="rect">
            <a:avLst/>
          </a:prstGeom>
        </p:spPr>
      </p:pic>
      <p:pic>
        <p:nvPicPr>
          <p:cNvPr id="5" name="Picture 4">
            <a:extLst>
              <a:ext uri="{FF2B5EF4-FFF2-40B4-BE49-F238E27FC236}">
                <a16:creationId xmlns:a16="http://schemas.microsoft.com/office/drawing/2014/main" id="{AA5298A3-F380-77D8-E5EB-FB5CA9F44C9D}"/>
              </a:ext>
            </a:extLst>
          </p:cNvPr>
          <p:cNvPicPr>
            <a:picLocks noChangeAspect="1"/>
          </p:cNvPicPr>
          <p:nvPr/>
        </p:nvPicPr>
        <p:blipFill>
          <a:blip r:embed="rId3"/>
          <a:stretch>
            <a:fillRect/>
          </a:stretch>
        </p:blipFill>
        <p:spPr>
          <a:xfrm>
            <a:off x="4468946" y="5540040"/>
            <a:ext cx="4363059" cy="933580"/>
          </a:xfrm>
          <a:prstGeom prst="rect">
            <a:avLst/>
          </a:prstGeom>
        </p:spPr>
      </p:pic>
      <p:sp>
        <p:nvSpPr>
          <p:cNvPr id="6" name="Content Placeholder 2">
            <a:extLst>
              <a:ext uri="{FF2B5EF4-FFF2-40B4-BE49-F238E27FC236}">
                <a16:creationId xmlns:a16="http://schemas.microsoft.com/office/drawing/2014/main" id="{261126DA-AB3F-D204-2C29-140853634252}"/>
              </a:ext>
            </a:extLst>
          </p:cNvPr>
          <p:cNvSpPr>
            <a:spLocks noGrp="1"/>
          </p:cNvSpPr>
          <p:nvPr>
            <p:ph idx="1"/>
          </p:nvPr>
        </p:nvSpPr>
        <p:spPr>
          <a:xfrm>
            <a:off x="0" y="612843"/>
            <a:ext cx="10353762" cy="4058751"/>
          </a:xfrm>
        </p:spPr>
        <p:txBody>
          <a:bodyPr/>
          <a:lstStyle/>
          <a:p>
            <a:r>
              <a:rPr lang="sr-Latn-RS" dirty="0"/>
              <a:t>Sudija je odlučio da danas bude blag i da smanji kaznu sa 6 meseci na 3 meseca</a:t>
            </a:r>
            <a:endParaRPr lang="en-US" dirty="0"/>
          </a:p>
        </p:txBody>
      </p:sp>
    </p:spTree>
    <p:extLst>
      <p:ext uri="{BB962C8B-B14F-4D97-AF65-F5344CB8AC3E}">
        <p14:creationId xmlns:p14="http://schemas.microsoft.com/office/powerpoint/2010/main" val="31147595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75391-42C2-EF64-6AEB-5EB0DD1703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86A9AE-4243-5833-6C19-7BEB09078575}"/>
              </a:ext>
            </a:extLst>
          </p:cNvPr>
          <p:cNvSpPr>
            <a:spLocks noGrp="1"/>
          </p:cNvSpPr>
          <p:nvPr>
            <p:ph idx="1"/>
          </p:nvPr>
        </p:nvSpPr>
        <p:spPr>
          <a:xfrm>
            <a:off x="0" y="194959"/>
            <a:ext cx="10353762" cy="4058751"/>
          </a:xfrm>
        </p:spPr>
        <p:txBody>
          <a:bodyPr/>
          <a:lstStyle/>
          <a:p>
            <a:r>
              <a:rPr lang="sr-Latn-RS" dirty="0"/>
              <a:t>Novi slučaj vidljiv u bazi slučajeva</a:t>
            </a:r>
            <a:endParaRPr lang="en-US" dirty="0"/>
          </a:p>
        </p:txBody>
      </p:sp>
      <p:pic>
        <p:nvPicPr>
          <p:cNvPr id="6" name="Picture 5">
            <a:extLst>
              <a:ext uri="{FF2B5EF4-FFF2-40B4-BE49-F238E27FC236}">
                <a16:creationId xmlns:a16="http://schemas.microsoft.com/office/drawing/2014/main" id="{D31B2C44-96EB-59FB-2DA0-FFD62A69BC8D}"/>
              </a:ext>
            </a:extLst>
          </p:cNvPr>
          <p:cNvPicPr>
            <a:picLocks noChangeAspect="1"/>
          </p:cNvPicPr>
          <p:nvPr/>
        </p:nvPicPr>
        <p:blipFill>
          <a:blip r:embed="rId2"/>
          <a:stretch>
            <a:fillRect/>
          </a:stretch>
        </p:blipFill>
        <p:spPr>
          <a:xfrm>
            <a:off x="0" y="1221929"/>
            <a:ext cx="12192000" cy="5441112"/>
          </a:xfrm>
          <a:prstGeom prst="rect">
            <a:avLst/>
          </a:prstGeom>
        </p:spPr>
      </p:pic>
    </p:spTree>
    <p:extLst>
      <p:ext uri="{BB962C8B-B14F-4D97-AF65-F5344CB8AC3E}">
        <p14:creationId xmlns:p14="http://schemas.microsoft.com/office/powerpoint/2010/main" val="29726241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7097A-990D-E636-1FCE-1ABA731945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370DF9-1ADC-B3A1-6788-6E878287F979}"/>
              </a:ext>
            </a:extLst>
          </p:cNvPr>
          <p:cNvSpPr>
            <a:spLocks noGrp="1"/>
          </p:cNvSpPr>
          <p:nvPr>
            <p:ph idx="1"/>
          </p:nvPr>
        </p:nvSpPr>
        <p:spPr>
          <a:xfrm>
            <a:off x="5324" y="129012"/>
            <a:ext cx="10353762" cy="4058751"/>
          </a:xfrm>
        </p:spPr>
        <p:txBody>
          <a:bodyPr/>
          <a:lstStyle/>
          <a:p>
            <a:r>
              <a:rPr lang="sr-Latn-RS" dirty="0"/>
              <a:t>Pozivanje rasudjivanja po pravilima nad novo dodatim slučajem</a:t>
            </a:r>
            <a:endParaRPr lang="en-US" dirty="0"/>
          </a:p>
        </p:txBody>
      </p:sp>
      <p:pic>
        <p:nvPicPr>
          <p:cNvPr id="4" name="Picture 3">
            <a:extLst>
              <a:ext uri="{FF2B5EF4-FFF2-40B4-BE49-F238E27FC236}">
                <a16:creationId xmlns:a16="http://schemas.microsoft.com/office/drawing/2014/main" id="{D29DCC12-C679-5091-BBE8-FCD813D7BDDD}"/>
              </a:ext>
            </a:extLst>
          </p:cNvPr>
          <p:cNvPicPr>
            <a:picLocks noChangeAspect="1"/>
          </p:cNvPicPr>
          <p:nvPr/>
        </p:nvPicPr>
        <p:blipFill>
          <a:blip r:embed="rId2"/>
          <a:stretch>
            <a:fillRect/>
          </a:stretch>
        </p:blipFill>
        <p:spPr>
          <a:xfrm>
            <a:off x="-5324" y="1155981"/>
            <a:ext cx="12192000" cy="5573007"/>
          </a:xfrm>
          <a:prstGeom prst="rect">
            <a:avLst/>
          </a:prstGeom>
        </p:spPr>
      </p:pic>
    </p:spTree>
    <p:extLst>
      <p:ext uri="{BB962C8B-B14F-4D97-AF65-F5344CB8AC3E}">
        <p14:creationId xmlns:p14="http://schemas.microsoft.com/office/powerpoint/2010/main" val="8854636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ADA7B0-A91F-40A5-8FFA-D60ABB385274}"/>
              </a:ext>
            </a:extLst>
          </p:cNvPr>
          <p:cNvSpPr>
            <a:spLocks noGrp="1"/>
          </p:cNvSpPr>
          <p:nvPr>
            <p:ph idx="1"/>
          </p:nvPr>
        </p:nvSpPr>
        <p:spPr>
          <a:xfrm>
            <a:off x="8360" y="1"/>
            <a:ext cx="12309146" cy="1013012"/>
          </a:xfrm>
        </p:spPr>
        <p:txBody>
          <a:bodyPr/>
          <a:lstStyle/>
          <a:p>
            <a:r>
              <a:rPr lang="en-US" dirty="0"/>
              <a:t>Prim</a:t>
            </a:r>
            <a:r>
              <a:rPr lang="sr-Latn-RS" dirty="0"/>
              <a:t>er još jednog novo dodatog slučaja</a:t>
            </a:r>
            <a:endParaRPr lang="en-US" dirty="0"/>
          </a:p>
        </p:txBody>
      </p:sp>
      <p:pic>
        <p:nvPicPr>
          <p:cNvPr id="4" name="Picture 3">
            <a:extLst>
              <a:ext uri="{FF2B5EF4-FFF2-40B4-BE49-F238E27FC236}">
                <a16:creationId xmlns:a16="http://schemas.microsoft.com/office/drawing/2014/main" id="{ED2E6975-8E43-423C-A4D1-9D986EE78E60}"/>
              </a:ext>
            </a:extLst>
          </p:cNvPr>
          <p:cNvPicPr>
            <a:picLocks noChangeAspect="1"/>
          </p:cNvPicPr>
          <p:nvPr/>
        </p:nvPicPr>
        <p:blipFill>
          <a:blip r:embed="rId2"/>
          <a:stretch>
            <a:fillRect/>
          </a:stretch>
        </p:blipFill>
        <p:spPr>
          <a:xfrm>
            <a:off x="0" y="1167854"/>
            <a:ext cx="12192000" cy="5417237"/>
          </a:xfrm>
          <a:prstGeom prst="rect">
            <a:avLst/>
          </a:prstGeom>
        </p:spPr>
      </p:pic>
    </p:spTree>
    <p:extLst>
      <p:ext uri="{BB962C8B-B14F-4D97-AF65-F5344CB8AC3E}">
        <p14:creationId xmlns:p14="http://schemas.microsoft.com/office/powerpoint/2010/main" val="27401525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B9095A-B0F6-4166-B7E0-DA3F3E8CC84E}"/>
              </a:ext>
            </a:extLst>
          </p:cNvPr>
          <p:cNvSpPr>
            <a:spLocks noGrp="1"/>
          </p:cNvSpPr>
          <p:nvPr>
            <p:ph idx="1"/>
          </p:nvPr>
        </p:nvSpPr>
        <p:spPr>
          <a:xfrm>
            <a:off x="0" y="0"/>
            <a:ext cx="10353762" cy="4058751"/>
          </a:xfrm>
        </p:spPr>
        <p:txBody>
          <a:bodyPr/>
          <a:lstStyle/>
          <a:p>
            <a:r>
              <a:rPr lang="sr-Latn-RS" dirty="0"/>
              <a:t>Novi slučaj je vidljiv u bazi slučajeva</a:t>
            </a:r>
            <a:endParaRPr lang="en-US" dirty="0"/>
          </a:p>
        </p:txBody>
      </p:sp>
      <p:pic>
        <p:nvPicPr>
          <p:cNvPr id="7" name="Picture 6">
            <a:extLst>
              <a:ext uri="{FF2B5EF4-FFF2-40B4-BE49-F238E27FC236}">
                <a16:creationId xmlns:a16="http://schemas.microsoft.com/office/drawing/2014/main" id="{9049AB11-4C93-1AB8-37EA-DA6488B82BD0}"/>
              </a:ext>
            </a:extLst>
          </p:cNvPr>
          <p:cNvPicPr>
            <a:picLocks noChangeAspect="1"/>
          </p:cNvPicPr>
          <p:nvPr/>
        </p:nvPicPr>
        <p:blipFill>
          <a:blip r:embed="rId2"/>
          <a:stretch>
            <a:fillRect/>
          </a:stretch>
        </p:blipFill>
        <p:spPr>
          <a:xfrm>
            <a:off x="0" y="853042"/>
            <a:ext cx="12192000" cy="5151915"/>
          </a:xfrm>
          <a:prstGeom prst="rect">
            <a:avLst/>
          </a:prstGeom>
        </p:spPr>
      </p:pic>
      <p:pic>
        <p:nvPicPr>
          <p:cNvPr id="9" name="Picture 8">
            <a:extLst>
              <a:ext uri="{FF2B5EF4-FFF2-40B4-BE49-F238E27FC236}">
                <a16:creationId xmlns:a16="http://schemas.microsoft.com/office/drawing/2014/main" id="{E010092F-6E5C-3EBF-806C-0CE5A0E28799}"/>
              </a:ext>
            </a:extLst>
          </p:cNvPr>
          <p:cNvPicPr>
            <a:picLocks noChangeAspect="1"/>
          </p:cNvPicPr>
          <p:nvPr/>
        </p:nvPicPr>
        <p:blipFill>
          <a:blip r:embed="rId2"/>
          <a:stretch>
            <a:fillRect/>
          </a:stretch>
        </p:blipFill>
        <p:spPr>
          <a:xfrm>
            <a:off x="0" y="853042"/>
            <a:ext cx="12192000" cy="5151915"/>
          </a:xfrm>
          <a:prstGeom prst="rect">
            <a:avLst/>
          </a:prstGeom>
        </p:spPr>
      </p:pic>
    </p:spTree>
    <p:extLst>
      <p:ext uri="{BB962C8B-B14F-4D97-AF65-F5344CB8AC3E}">
        <p14:creationId xmlns:p14="http://schemas.microsoft.com/office/powerpoint/2010/main" val="6053359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11F81-32BE-4063-83DA-BF57A2BD76AE}"/>
              </a:ext>
            </a:extLst>
          </p:cNvPr>
          <p:cNvSpPr>
            <a:spLocks noGrp="1"/>
          </p:cNvSpPr>
          <p:nvPr>
            <p:ph idx="1"/>
          </p:nvPr>
        </p:nvSpPr>
        <p:spPr>
          <a:xfrm>
            <a:off x="0" y="0"/>
            <a:ext cx="10353762" cy="4058751"/>
          </a:xfrm>
        </p:spPr>
        <p:txBody>
          <a:bodyPr/>
          <a:lstStyle/>
          <a:p>
            <a:r>
              <a:rPr lang="sr-Latn-RS" dirty="0"/>
              <a:t>Može normalno da se pozove rasudjivanje po pravilima nad ovim slučajem</a:t>
            </a:r>
            <a:endParaRPr lang="en-US" dirty="0"/>
          </a:p>
        </p:txBody>
      </p:sp>
      <p:pic>
        <p:nvPicPr>
          <p:cNvPr id="4" name="Picture 3">
            <a:extLst>
              <a:ext uri="{FF2B5EF4-FFF2-40B4-BE49-F238E27FC236}">
                <a16:creationId xmlns:a16="http://schemas.microsoft.com/office/drawing/2014/main" id="{DAEAF56A-619E-E4AD-0C99-93A5C6866E36}"/>
              </a:ext>
            </a:extLst>
          </p:cNvPr>
          <p:cNvPicPr>
            <a:picLocks noChangeAspect="1"/>
          </p:cNvPicPr>
          <p:nvPr/>
        </p:nvPicPr>
        <p:blipFill>
          <a:blip r:embed="rId2"/>
          <a:stretch>
            <a:fillRect/>
          </a:stretch>
        </p:blipFill>
        <p:spPr>
          <a:xfrm>
            <a:off x="0" y="660436"/>
            <a:ext cx="12192000" cy="5537128"/>
          </a:xfrm>
          <a:prstGeom prst="rect">
            <a:avLst/>
          </a:prstGeom>
        </p:spPr>
      </p:pic>
    </p:spTree>
    <p:extLst>
      <p:ext uri="{BB962C8B-B14F-4D97-AF65-F5344CB8AC3E}">
        <p14:creationId xmlns:p14="http://schemas.microsoft.com/office/powerpoint/2010/main" val="801788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5D06-C3F2-5F45-6E35-F4B3ED6013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2DEB81-B684-E3AB-F26C-8CD19241F0C8}"/>
              </a:ext>
            </a:extLst>
          </p:cNvPr>
          <p:cNvSpPr>
            <a:spLocks noGrp="1"/>
          </p:cNvSpPr>
          <p:nvPr>
            <p:ph idx="1"/>
          </p:nvPr>
        </p:nvSpPr>
        <p:spPr>
          <a:xfrm>
            <a:off x="0" y="0"/>
            <a:ext cx="10353762" cy="4058751"/>
          </a:xfrm>
        </p:spPr>
        <p:txBody>
          <a:bodyPr/>
          <a:lstStyle/>
          <a:p>
            <a:r>
              <a:rPr lang="sr-Latn-RS" dirty="0"/>
              <a:t>Može normalno da se pozove rasudjivanje po sličnosti nad ovim slučajem</a:t>
            </a:r>
            <a:endParaRPr lang="en-US" dirty="0"/>
          </a:p>
          <a:p>
            <a:endParaRPr lang="en-US" dirty="0"/>
          </a:p>
        </p:txBody>
      </p:sp>
      <p:pic>
        <p:nvPicPr>
          <p:cNvPr id="5" name="Picture 4">
            <a:extLst>
              <a:ext uri="{FF2B5EF4-FFF2-40B4-BE49-F238E27FC236}">
                <a16:creationId xmlns:a16="http://schemas.microsoft.com/office/drawing/2014/main" id="{FC8B870A-2DD2-3AAF-5B88-B10CE393EFF9}"/>
              </a:ext>
            </a:extLst>
          </p:cNvPr>
          <p:cNvPicPr>
            <a:picLocks noChangeAspect="1"/>
          </p:cNvPicPr>
          <p:nvPr/>
        </p:nvPicPr>
        <p:blipFill>
          <a:blip r:embed="rId2"/>
          <a:stretch>
            <a:fillRect/>
          </a:stretch>
        </p:blipFill>
        <p:spPr>
          <a:xfrm>
            <a:off x="28893" y="759246"/>
            <a:ext cx="12192000" cy="5767524"/>
          </a:xfrm>
          <a:prstGeom prst="rect">
            <a:avLst/>
          </a:prstGeom>
        </p:spPr>
      </p:pic>
    </p:spTree>
    <p:extLst>
      <p:ext uri="{BB962C8B-B14F-4D97-AF65-F5344CB8AC3E}">
        <p14:creationId xmlns:p14="http://schemas.microsoft.com/office/powerpoint/2010/main" val="57342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51BB6-D394-BD1E-FEB1-7E4DEB004843}"/>
              </a:ext>
            </a:extLst>
          </p:cNvPr>
          <p:cNvSpPr>
            <a:spLocks noGrp="1"/>
          </p:cNvSpPr>
          <p:nvPr>
            <p:ph type="title"/>
          </p:nvPr>
        </p:nvSpPr>
        <p:spPr>
          <a:xfrm>
            <a:off x="738697" y="2808051"/>
            <a:ext cx="10353762" cy="970450"/>
          </a:xfrm>
        </p:spPr>
        <p:txBody>
          <a:bodyPr/>
          <a:lstStyle/>
          <a:p>
            <a:r>
              <a:rPr lang="en-US" dirty="0" err="1"/>
              <a:t>Hvala</a:t>
            </a:r>
            <a:r>
              <a:rPr lang="en-US" dirty="0"/>
              <a:t> </a:t>
            </a:r>
            <a:r>
              <a:rPr lang="en-US" dirty="0" err="1"/>
              <a:t>na</a:t>
            </a:r>
            <a:r>
              <a:rPr lang="en-US" dirty="0"/>
              <a:t> pa</a:t>
            </a:r>
            <a:r>
              <a:rPr lang="sr-Latn-RS" dirty="0"/>
              <a:t>žnji!</a:t>
            </a:r>
            <a:endParaRPr lang="en-US" dirty="0"/>
          </a:p>
        </p:txBody>
      </p:sp>
    </p:spTree>
    <p:extLst>
      <p:ext uri="{BB962C8B-B14F-4D97-AF65-F5344CB8AC3E}">
        <p14:creationId xmlns:p14="http://schemas.microsoft.com/office/powerpoint/2010/main" val="42544487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1038</TotalTime>
  <Words>1719</Words>
  <Application>Microsoft Office PowerPoint</Application>
  <PresentationFormat>Widescreen</PresentationFormat>
  <Paragraphs>123</Paragraphs>
  <Slides>58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58</vt:i4>
      </vt:variant>
    </vt:vector>
  </HeadingPairs>
  <TitlesOfParts>
    <vt:vector size="63"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praivlima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Korisnikov slučaj</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Hvala na pažnji!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8</dc:title>
  <dc:creator>Uros Petraskovic</dc:creator>
  <cp:lastModifiedBy>Uros Petraskovic</cp:lastModifiedBy>
  <cp:revision>9</cp:revision>
  <dcterms:created xsi:type="dcterms:W3CDTF">2026-03-26T22:30:49Z</dcterms:created>
  <dcterms:modified xsi:type="dcterms:W3CDTF">2026-03-31T18:17:42Z</dcterms:modified>
</cp:coreProperties>
</file>