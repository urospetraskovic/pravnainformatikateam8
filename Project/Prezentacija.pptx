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321" r:id="rId32"/>
    <p:sldId id="323" r:id="rId33"/>
    <p:sldId id="292" r:id="rId34"/>
    <p:sldId id="294" r:id="rId35"/>
    <p:sldId id="293" r:id="rId36"/>
    <p:sldId id="295" r:id="rId37"/>
    <p:sldId id="282" r:id="rId38"/>
    <p:sldId id="285" r:id="rId39"/>
    <p:sldId id="286" r:id="rId40"/>
    <p:sldId id="287" r:id="rId41"/>
    <p:sldId id="290" r:id="rId42"/>
    <p:sldId id="291" r:id="rId43"/>
    <p:sldId id="296" r:id="rId44"/>
    <p:sldId id="297" r:id="rId45"/>
    <p:sldId id="309" r:id="rId46"/>
    <p:sldId id="327" r:id="rId47"/>
    <p:sldId id="310" r:id="rId48"/>
    <p:sldId id="311" r:id="rId49"/>
    <p:sldId id="324" r:id="rId50"/>
    <p:sldId id="325" r:id="rId51"/>
    <p:sldId id="326" r:id="rId52"/>
    <p:sldId id="316" r:id="rId53"/>
    <p:sldId id="312" r:id="rId54"/>
    <p:sldId id="313" r:id="rId55"/>
    <p:sldId id="315" r:id="rId56"/>
    <p:sldId id="317" r:id="rId57"/>
    <p:sldId id="318" r:id="rId58"/>
    <p:sldId id="302" r:id="rId59"/>
    <p:sldId id="303" r:id="rId60"/>
    <p:sldId id="304" r:id="rId61"/>
    <p:sldId id="306" r:id="rId62"/>
    <p:sldId id="320" r:id="rId6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7" d="100"/>
          <a:sy n="107" d="100"/>
        </p:scale>
        <p:origin x="75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4/21/2026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4/21/2026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4/21/2026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4/21/2026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preciznije</a:t>
            </a:r>
            <a:r>
              <a:rPr lang="en-US" dirty="0"/>
              <a:t> </a:t>
            </a:r>
            <a:r>
              <a:rPr lang="en-US" dirty="0" err="1"/>
              <a:t>dono</a:t>
            </a:r>
            <a:r>
              <a:rPr lang="sr-Latn-RS" dirty="0"/>
              <a:t>šenje odluka, ve</a:t>
            </a:r>
            <a:r>
              <a:rPr lang="en-US" dirty="0"/>
              <a:t>ć</a:t>
            </a:r>
            <a:r>
              <a:rPr lang="sr-Latn-RS" dirty="0"/>
              <a:t>i sample size, naravno previše bi bilo da se to radi ručno za 127 presuda</a:t>
            </a:r>
            <a:r>
              <a:rPr lang="en-US" dirty="0"/>
              <a:t>.</a:t>
            </a:r>
            <a:endParaRPr lang="sr-Latn-RS" dirty="0"/>
          </a:p>
          <a:p>
            <a:r>
              <a:rPr lang="sr-Latn-RS" dirty="0"/>
              <a:t>Search po Čl. 258 i Čl. 260. i prolazak kroz sve osnov</a:t>
            </a:r>
            <a:r>
              <a:rPr lang="en-US" dirty="0"/>
              <a:t>n</a:t>
            </a:r>
            <a:r>
              <a:rPr lang="sr-Latn-RS" dirty="0"/>
              <a:t>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t>
            </a:r>
            <a:r>
              <a:rPr lang="en-US" dirty="0"/>
              <a:t>A</a:t>
            </a:r>
            <a:r>
              <a:rPr lang="sr-Latn-RS" dirty="0"/>
              <a:t>kom</a:t>
            </a:r>
            <a:r>
              <a:rPr lang="en-US" dirty="0"/>
              <a:t>a </a:t>
            </a:r>
            <a:r>
              <a:rPr lang="sr-Latn-RS" dirty="0"/>
              <a:t>ntoso format.</a:t>
            </a:r>
          </a:p>
          <a:p>
            <a:r>
              <a:rPr lang="sr-Latn-RS" dirty="0"/>
              <a:t>Prethodno su sve tekstualne informacije o slučajevima bile nabacane u jedan tekstual</a:t>
            </a:r>
            <a:r>
              <a:rPr lang="en-US" dirty="0"/>
              <a:t>n</a:t>
            </a:r>
            <a:r>
              <a:rPr lang="sr-Latn-RS" dirty="0"/>
              <a:t>i fajl i tu je bilo dosta problema.</a:t>
            </a:r>
          </a:p>
          <a:p>
            <a:r>
              <a:rPr lang="sr-Latn-RS" dirty="0"/>
              <a:t>Onda je odlučeno da će svaki txt fajl postati posebni </a:t>
            </a:r>
            <a:r>
              <a:rPr lang="en-US" dirty="0"/>
              <a:t>A</a:t>
            </a:r>
            <a:r>
              <a:rPr lang="sr-Latn-RS" dirty="0"/>
              <a:t>koma</a:t>
            </a:r>
            <a:r>
              <a:rPr lang="en-US" dirty="0"/>
              <a:t> </a:t>
            </a:r>
            <a:r>
              <a:rPr lang="sr-Latn-RS" dirty="0"/>
              <a:t>ntoso</a:t>
            </a:r>
            <a:r>
              <a:rPr lang="en-US" dirty="0"/>
              <a:t>,</a:t>
            </a:r>
            <a:r>
              <a:rPr lang="sr-Latn-RS" dirty="0"/>
              <a:t> onda će lako moći da se isprave nedostaci pojedinih fajlova jer kad vidi koji nije dobar</a:t>
            </a:r>
            <a:r>
              <a:rPr lang="en-US" dirty="0"/>
              <a:t>,</a:t>
            </a:r>
            <a:r>
              <a:rPr lang="sr-Latn-RS" dirty="0"/>
              <a:t> </a:t>
            </a:r>
            <a:r>
              <a:rPr lang="en-US" dirty="0" err="1"/>
              <a:t>onda</a:t>
            </a:r>
            <a:r>
              <a:rPr lang="en-US" dirty="0"/>
              <a:t> </a:t>
            </a:r>
            <a:r>
              <a:rPr lang="sr-Latn-RS" dirty="0"/>
              <a:t>zna</a:t>
            </a:r>
            <a:r>
              <a:rPr lang="en-US" dirty="0"/>
              <a:t>m</a:t>
            </a:r>
            <a:r>
              <a:rPr lang="sr-Latn-RS" dirty="0"/>
              <a:t> tačno koji txt fajl da gleda</a:t>
            </a:r>
            <a:r>
              <a:rPr lang="en-US" dirty="0" err="1"/>
              <a:t>mo</a:t>
            </a:r>
            <a:r>
              <a:rPr lang="sr-Latn-RS" dirty="0"/>
              <a:t>.</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a:t>
            </a:r>
            <a:r>
              <a:rPr lang="en-US" dirty="0" err="1"/>
              <a:t>ks</a:t>
            </a:r>
            <a:r>
              <a:rPr lang="sr-Latn-RS" dirty="0"/>
              <a:t>tualne fajlove u Akom</a:t>
            </a:r>
            <a:r>
              <a:rPr lang="en-US" dirty="0"/>
              <a:t>a n</a:t>
            </a:r>
            <a:r>
              <a:rPr lang="sr-Latn-RS" dirty="0"/>
              <a:t>toso fajlove. </a:t>
            </a:r>
          </a:p>
          <a:p>
            <a:r>
              <a:rPr lang="sr-Latn-RS" dirty="0"/>
              <a:t>Naziv tekstualnih fajlova je u šablonu broj slučaja pa godina i na osnovu toga se dodeljuju imena </a:t>
            </a:r>
            <a:r>
              <a:rPr lang="en-US" dirty="0"/>
              <a:t>A</a:t>
            </a:r>
            <a:r>
              <a:rPr lang="sr-Latn-RS" dirty="0"/>
              <a:t>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a:t>
            </a:r>
            <a:r>
              <a:rPr lang="en-US" dirty="0"/>
              <a:t> </a:t>
            </a:r>
            <a:r>
              <a:rPr lang="en-US" dirty="0" err="1"/>
              <a:t>podataka</a:t>
            </a:r>
            <a:r>
              <a:rPr lang="sr-Latn-RS" dirty="0"/>
              <a:t> koj</a:t>
            </a:r>
            <a:r>
              <a:rPr lang="en-US" dirty="0" err="1"/>
              <a:t>i</a:t>
            </a:r>
            <a:r>
              <a:rPr lang="sr-Latn-RS" dirty="0"/>
              <a:t> se ne ekstrak</a:t>
            </a:r>
            <a:r>
              <a:rPr lang="en-US" dirty="0"/>
              <a:t>t</a:t>
            </a:r>
            <a:r>
              <a:rPr lang="sr-Latn-RS" dirty="0"/>
              <a:t>uju, svi šabloni za pisanje koji su korisni od raznih </a:t>
            </a:r>
            <a:r>
              <a:rPr lang="en-US" dirty="0" err="1"/>
              <a:t>slučajeva</a:t>
            </a:r>
            <a:r>
              <a:rPr lang="sr-Latn-RS" dirty="0"/>
              <a:t> su uočeni i pretočeni u regekse</a:t>
            </a:r>
            <a:r>
              <a:rPr lang="en-US" dirty="0"/>
              <a:t>.</a:t>
            </a:r>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a:t>
            </a:r>
            <a:r>
              <a:rPr lang="en-US" dirty="0"/>
              <a:t>.</a:t>
            </a:r>
            <a:endParaRPr lang="sr-Latn-RS" dirty="0"/>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a:t>
            </a:r>
            <a:r>
              <a:rPr lang="en-US" dirty="0"/>
              <a:t>u</a:t>
            </a:r>
            <a:r>
              <a:rPr lang="sr-Latn-RS" dirty="0"/>
              <a:t>djivanju</a:t>
            </a:r>
            <a:r>
              <a:rPr lang="en-US" dirty="0"/>
              <a:t>.</a:t>
            </a:r>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r>
              <a:rPr lang="en-US" dirty="0"/>
              <a:t>.</a:t>
            </a:r>
            <a:endParaRPr lang="sr-Latn-RS" dirty="0"/>
          </a:p>
          <a:p>
            <a:endParaRPr lang="sr-Latn-RS" dirty="0"/>
          </a:p>
          <a:p>
            <a:r>
              <a:rPr lang="sr-Latn-RS" dirty="0"/>
              <a:t>Da li postoji sau</a:t>
            </a:r>
            <a:r>
              <a:rPr lang="en-US" dirty="0"/>
              <a:t>č</a:t>
            </a:r>
            <a:r>
              <a:rPr lang="sr-Latn-RS" dirty="0"/>
              <a:t>esnik</a:t>
            </a:r>
            <a:r>
              <a:rPr lang="en-US" dirty="0"/>
              <a:t>.</a:t>
            </a:r>
            <a:endParaRPr lang="sr-Latn-RS" dirty="0"/>
          </a:p>
          <a:p>
            <a:endParaRPr lang="sr-Latn-RS" dirty="0"/>
          </a:p>
          <a:p>
            <a:endParaRPr lang="sr-Latn-RS" dirty="0"/>
          </a:p>
          <a:p>
            <a:endParaRPr lang="sr-Latn-RS" dirty="0"/>
          </a:p>
          <a:p>
            <a:r>
              <a:rPr lang="sr-Latn-RS" dirty="0"/>
              <a:t>Na osnovu teksta kazne tražimo u kojoj jedinici je kazna izrečena u teskstualnom obliku i onda to konvertujemo u broj</a:t>
            </a:r>
            <a:r>
              <a:rPr lang="en-US" dirty="0"/>
              <a:t>.</a:t>
            </a:r>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a:t>
            </a:r>
            <a:r>
              <a:rPr lang="en-US" dirty="0" err="1"/>
              <a:t>i</a:t>
            </a:r>
            <a:r>
              <a:rPr lang="sr-Latn-RS" dirty="0"/>
              <a:t>mena i prezimena zapiničara.</a:t>
            </a:r>
          </a:p>
          <a:p>
            <a:r>
              <a:rPr lang="sr-Latn-RS" dirty="0"/>
              <a:t>Tu je bilo dosta nepoznatih vrednosti dok nisu dodati svi ovi regeksi koji ih mogu pokupiti iz baš svakog </a:t>
            </a:r>
            <a:r>
              <a:rPr lang="en-US" dirty="0"/>
              <a:t>A</a:t>
            </a:r>
            <a:r>
              <a:rPr lang="sr-Latn-RS" dirty="0"/>
              <a:t>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t>
            </a:r>
            <a:r>
              <a:rPr lang="en-US" dirty="0"/>
              <a:t>ki,</a:t>
            </a:r>
            <a:r>
              <a:rPr lang="sr-Latn-RS" dirty="0"/>
              <a:t>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r>
              <a:rPr lang="en-US" dirty="0"/>
              <a:t>.</a:t>
            </a:r>
            <a:endParaRPr lang="sr-Latn-RS" dirty="0"/>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r>
              <a:rPr lang="en-US" dirty="0"/>
              <a:t>.</a:t>
            </a:r>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r>
              <a:rPr lang="en-US" dirty="0"/>
              <a:t>.</a:t>
            </a:r>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a:t>
            </a:r>
            <a:r>
              <a:rPr lang="en-US" dirty="0"/>
              <a:t>.</a:t>
            </a:r>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r>
              <a:rPr lang="en-US" dirty="0"/>
              <a:t>.</a:t>
            </a:r>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r>
              <a:rPr lang="en-US" dirty="0"/>
              <a:t>.</a:t>
            </a:r>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2253346" cy="1896894"/>
          </a:xfrm>
        </p:spPr>
        <p:txBody>
          <a:bodyPr/>
          <a:lstStyle/>
          <a:p>
            <a:r>
              <a:rPr lang="sr-Latn-RS" dirty="0"/>
              <a:t>Kazna od 2 do 12 godina</a:t>
            </a:r>
            <a:r>
              <a:rPr lang="en-US" dirty="0"/>
              <a:t>.</a:t>
            </a:r>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r>
              <a:rPr lang="en-US" dirty="0"/>
              <a:t>.</a:t>
            </a:r>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r>
              <a:rPr lang="en-US" dirty="0"/>
              <a:t>.</a:t>
            </a:r>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r>
              <a:rPr lang="en-US" dirty="0"/>
              <a:t>.</a:t>
            </a:r>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r>
              <a:rPr lang="en-US" dirty="0"/>
              <a:t>.</a:t>
            </a:r>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r>
              <a:rPr lang="en-US" dirty="0"/>
              <a:t>.</a:t>
            </a:r>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r>
              <a:rPr lang="en-US" dirty="0"/>
              <a:t>.</a:t>
            </a:r>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r>
              <a:rPr lang="en-US" dirty="0"/>
              <a:t>.</a:t>
            </a:r>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criminal</a:t>
            </a:r>
            <a:r>
              <a:rPr lang="en-US" dirty="0"/>
              <a:t>.</a:t>
            </a:r>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r>
              <a:rPr lang="en-US" dirty="0"/>
              <a:t>.</a:t>
            </a:r>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r>
              <a:rPr lang="en-US" dirty="0"/>
              <a:t>.</a:t>
            </a:r>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9119" y="0"/>
            <a:ext cx="10353762" cy="970450"/>
          </a:xfrm>
        </p:spPr>
        <p:txBody>
          <a:bodyPr/>
          <a:lstStyle/>
          <a:p>
            <a:r>
              <a:rPr lang="sr-Latn-RS" dirty="0"/>
              <a:t>Rezonovanje po prav</a:t>
            </a:r>
            <a:r>
              <a:rPr lang="en-US" dirty="0" err="1"/>
              <a:t>i</a:t>
            </a:r>
            <a:r>
              <a:rPr lang="sr-Latn-RS" dirty="0"/>
              <a:t>lima</a:t>
            </a:r>
            <a:endParaRPr lang="en-US" dirty="0"/>
          </a:p>
        </p:txBody>
      </p:sp>
      <p:pic>
        <p:nvPicPr>
          <p:cNvPr id="4" name="Picture 3">
            <a:extLst>
              <a:ext uri="{FF2B5EF4-FFF2-40B4-BE49-F238E27FC236}">
                <a16:creationId xmlns:a16="http://schemas.microsoft.com/office/drawing/2014/main" id="{AEF5D264-EA94-487A-A136-5EE4857C6A46}"/>
              </a:ext>
            </a:extLst>
          </p:cNvPr>
          <p:cNvPicPr>
            <a:picLocks noChangeAspect="1"/>
          </p:cNvPicPr>
          <p:nvPr/>
        </p:nvPicPr>
        <p:blipFill>
          <a:blip r:embed="rId2"/>
          <a:stretch>
            <a:fillRect/>
          </a:stretch>
        </p:blipFill>
        <p:spPr>
          <a:xfrm>
            <a:off x="0" y="1314233"/>
            <a:ext cx="12192000" cy="5108075"/>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DC6E5CC-99C2-F95B-8746-796D2958F367}"/>
              </a:ext>
            </a:extLst>
          </p:cNvPr>
          <p:cNvPicPr>
            <a:picLocks noChangeAspect="1"/>
          </p:cNvPicPr>
          <p:nvPr/>
        </p:nvPicPr>
        <p:blipFill>
          <a:blip r:embed="rId2"/>
          <a:stretch>
            <a:fillRect/>
          </a:stretch>
        </p:blipFill>
        <p:spPr>
          <a:xfrm>
            <a:off x="0" y="878637"/>
            <a:ext cx="12192000" cy="5431465"/>
          </a:xfrm>
          <a:prstGeom prst="rect">
            <a:avLst/>
          </a:prstGeom>
        </p:spPr>
      </p:pic>
      <p:sp>
        <p:nvSpPr>
          <p:cNvPr id="4" name="Content Placeholder 2">
            <a:extLst>
              <a:ext uri="{FF2B5EF4-FFF2-40B4-BE49-F238E27FC236}">
                <a16:creationId xmlns:a16="http://schemas.microsoft.com/office/drawing/2014/main" id="{AEBD58D6-FFCF-D51B-3AE4-7F454C15F46F}"/>
              </a:ext>
            </a:extLst>
          </p:cNvPr>
          <p:cNvSpPr txBox="1">
            <a:spLocks/>
          </p:cNvSpPr>
          <p:nvPr/>
        </p:nvSpPr>
        <p:spPr>
          <a:xfrm>
            <a:off x="112884" y="114415"/>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Imamo uvid u činjenično stanje, dokaze i svedoke</a:t>
            </a:r>
            <a:r>
              <a:rPr lang="en-US" dirty="0"/>
              <a:t>.</a:t>
            </a:r>
            <a:endParaRPr lang="sr-Latn-RS" dirty="0"/>
          </a:p>
          <a:p>
            <a:endParaRPr lang="en-US" dirty="0"/>
          </a:p>
        </p:txBody>
      </p:sp>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a:t>
            </a:r>
            <a:r>
              <a:rPr lang="en-US" dirty="0"/>
              <a:t>.</a:t>
            </a:r>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jasno zašto je kazna skoro svugde manja od minimalne kazne</a:t>
            </a:r>
            <a:r>
              <a:rPr lang="en-US" dirty="0"/>
              <a:t>, </a:t>
            </a:r>
            <a:r>
              <a:rPr lang="sr-Latn-RS" dirty="0"/>
              <a:t>ispostavilo se da u velikom broju slučajeva gde imaju olakšavajuće okolnosti </a:t>
            </a:r>
            <a:r>
              <a:rPr lang="en-US" dirty="0"/>
              <a:t>se </a:t>
            </a:r>
            <a:r>
              <a:rPr lang="en-US" dirty="0" err="1"/>
              <a:t>baš</a:t>
            </a:r>
            <a:r>
              <a:rPr lang="en-US" dirty="0"/>
              <a:t> </a:t>
            </a:r>
            <a:r>
              <a:rPr lang="sr-Latn-RS" dirty="0"/>
              <a:t>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7" y="1109879"/>
            <a:ext cx="8026878" cy="4058751"/>
          </a:xfrm>
        </p:spPr>
        <p:txBody>
          <a:bodyPr/>
          <a:lstStyle/>
          <a:p>
            <a:r>
              <a:rPr lang="sr-Latn-RS" dirty="0"/>
              <a:t>Ovde vidimo ta</a:t>
            </a:r>
            <a:r>
              <a:rPr lang="en-US" dirty="0"/>
              <a:t>č</a:t>
            </a:r>
            <a:r>
              <a:rPr lang="sr-Latn-RS" dirty="0"/>
              <a:t>ne granice za ublažavanje kazni nakon što se primeni </a:t>
            </a:r>
            <a:r>
              <a:rPr lang="en-US" dirty="0"/>
              <a:t>č</a:t>
            </a:r>
            <a:r>
              <a:rPr lang="sr-Latn-RS" dirty="0"/>
              <a:t>lan 45 stav 3 o olakšavajućim okolnostima</a:t>
            </a:r>
            <a:r>
              <a:rPr lang="en-US" dirty="0"/>
              <a:t>.</a:t>
            </a:r>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a:t>
            </a:r>
            <a:r>
              <a:rPr lang="en-US" dirty="0"/>
              <a:t> da</a:t>
            </a:r>
            <a:r>
              <a:rPr lang="sr-Latn-RS" dirty="0"/>
              <a:t> kada je neko bio ranije osudjivan da će</a:t>
            </a:r>
            <a:r>
              <a:rPr lang="en-US" dirty="0"/>
              <a:t> mu</a:t>
            </a:r>
            <a:r>
              <a:rPr lang="sr-Latn-RS" dirty="0"/>
              <a:t> te otežavajuca okolnost doneti dosta teže kazne, preporučena 2 godine i 9 meseci a izrečena 2 godine, iako ima olakšavajuće okolnosti činjenica da je prethodno osudjivan igra veoma veliku ulogu</a:t>
            </a:r>
            <a:r>
              <a:rPr lang="en-US" dirty="0"/>
              <a:t>.</a:t>
            </a:r>
          </a:p>
        </p:txBody>
      </p:sp>
      <p:pic>
        <p:nvPicPr>
          <p:cNvPr id="4" name="Picture 3">
            <a:extLst>
              <a:ext uri="{FF2B5EF4-FFF2-40B4-BE49-F238E27FC236}">
                <a16:creationId xmlns:a16="http://schemas.microsoft.com/office/drawing/2014/main" id="{2CC58E92-B1F7-4B65-9F7F-25DD38B06949}"/>
              </a:ext>
            </a:extLst>
          </p:cNvPr>
          <p:cNvPicPr>
            <a:picLocks noChangeAspect="1"/>
          </p:cNvPicPr>
          <p:nvPr/>
        </p:nvPicPr>
        <p:blipFill>
          <a:blip r:embed="rId2"/>
          <a:stretch>
            <a:fillRect/>
          </a:stretch>
        </p:blipFill>
        <p:spPr>
          <a:xfrm>
            <a:off x="0" y="2062135"/>
            <a:ext cx="12192000" cy="4006718"/>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r>
              <a:rPr lang="en-US" dirty="0"/>
              <a:t>.</a:t>
            </a:r>
            <a:endParaRPr lang="sr-Latn-RS" dirty="0"/>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olakšavajuće okolnosti</a:t>
            </a:r>
            <a:r>
              <a:rPr lang="en-US" dirty="0"/>
              <a:t>,</a:t>
            </a:r>
            <a:r>
              <a:rPr lang="sr-Latn-RS" dirty="0"/>
              <a:t> smanjenje kazne je zabranjeno zbog postojanja otežavajucih okolnosti, tako da kazna neće moći da ide ispod minimalne i verovatno će biti veća od minmalne</a:t>
            </a:r>
            <a:r>
              <a:rPr lang="en-US" dirty="0"/>
              <a:t>.</a:t>
            </a:r>
            <a:endParaRPr lang="sr-Latn-RS" dirty="0"/>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276AF-3639-014F-F038-EB460CF36815}"/>
              </a:ext>
            </a:extLst>
          </p:cNvPr>
          <p:cNvSpPr>
            <a:spLocks noGrp="1"/>
          </p:cNvSpPr>
          <p:nvPr>
            <p:ph idx="1"/>
          </p:nvPr>
        </p:nvSpPr>
        <p:spPr>
          <a:xfrm>
            <a:off x="18850" y="0"/>
            <a:ext cx="10353762" cy="4058751"/>
          </a:xfrm>
        </p:spPr>
        <p:txBody>
          <a:bodyPr/>
          <a:lstStyle/>
          <a:p>
            <a:r>
              <a:rPr lang="sr-Latn-RS" dirty="0"/>
              <a:t>Još slučajeva</a:t>
            </a:r>
            <a:r>
              <a:rPr lang="en-US" dirty="0"/>
              <a:t>.</a:t>
            </a:r>
          </a:p>
        </p:txBody>
      </p:sp>
      <p:pic>
        <p:nvPicPr>
          <p:cNvPr id="7" name="Picture 6">
            <a:extLst>
              <a:ext uri="{FF2B5EF4-FFF2-40B4-BE49-F238E27FC236}">
                <a16:creationId xmlns:a16="http://schemas.microsoft.com/office/drawing/2014/main" id="{202E792B-DE82-C78B-1079-434596D40E5F}"/>
              </a:ext>
            </a:extLst>
          </p:cNvPr>
          <p:cNvPicPr>
            <a:picLocks noChangeAspect="1"/>
          </p:cNvPicPr>
          <p:nvPr/>
        </p:nvPicPr>
        <p:blipFill>
          <a:blip r:embed="rId2"/>
          <a:stretch>
            <a:fillRect/>
          </a:stretch>
        </p:blipFill>
        <p:spPr>
          <a:xfrm>
            <a:off x="-18850" y="3099304"/>
            <a:ext cx="12192000" cy="3758696"/>
          </a:xfrm>
          <a:prstGeom prst="rect">
            <a:avLst/>
          </a:prstGeom>
        </p:spPr>
      </p:pic>
      <p:pic>
        <p:nvPicPr>
          <p:cNvPr id="9" name="Picture 8">
            <a:extLst>
              <a:ext uri="{FF2B5EF4-FFF2-40B4-BE49-F238E27FC236}">
                <a16:creationId xmlns:a16="http://schemas.microsoft.com/office/drawing/2014/main" id="{8FB727E4-CA52-913C-DFD6-07DF97E0E470}"/>
              </a:ext>
            </a:extLst>
          </p:cNvPr>
          <p:cNvPicPr>
            <a:picLocks noChangeAspect="1"/>
          </p:cNvPicPr>
          <p:nvPr/>
        </p:nvPicPr>
        <p:blipFill>
          <a:blip r:embed="rId3"/>
          <a:stretch>
            <a:fillRect/>
          </a:stretch>
        </p:blipFill>
        <p:spPr>
          <a:xfrm>
            <a:off x="18850" y="577328"/>
            <a:ext cx="12192000" cy="3254032"/>
          </a:xfrm>
          <a:prstGeom prst="rect">
            <a:avLst/>
          </a:prstGeom>
        </p:spPr>
      </p:pic>
    </p:spTree>
    <p:extLst>
      <p:ext uri="{BB962C8B-B14F-4D97-AF65-F5344CB8AC3E}">
        <p14:creationId xmlns:p14="http://schemas.microsoft.com/office/powerpoint/2010/main" val="3878712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3CC0-DC28-BFAB-DAB2-F2EBDC7A1E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D0C74-AFEA-1F27-6A25-0E1C18AE59B0}"/>
              </a:ext>
            </a:extLst>
          </p:cNvPr>
          <p:cNvSpPr>
            <a:spLocks noGrp="1"/>
          </p:cNvSpPr>
          <p:nvPr>
            <p:ph idx="1"/>
          </p:nvPr>
        </p:nvSpPr>
        <p:spPr>
          <a:xfrm>
            <a:off x="18849" y="-77822"/>
            <a:ext cx="12192000" cy="4058751"/>
          </a:xfrm>
        </p:spPr>
        <p:txBody>
          <a:bodyPr/>
          <a:lstStyle/>
          <a:p>
            <a:r>
              <a:rPr lang="sr-Latn-RS" dirty="0"/>
              <a:t>Još slučajeva, zbog kajanja </a:t>
            </a:r>
            <a:r>
              <a:rPr lang="en-US" dirty="0"/>
              <a:t>je </a:t>
            </a:r>
            <a:r>
              <a:rPr lang="sr-Latn-RS" dirty="0"/>
              <a:t>kazna verovatno malo manja, verovatno je sudija mekšeg srca nego naš model</a:t>
            </a:r>
            <a:r>
              <a:rPr lang="en-US" dirty="0"/>
              <a:t>, pa</a:t>
            </a:r>
            <a:r>
              <a:rPr lang="sr-Latn-RS" dirty="0"/>
              <a:t> ga je pogodilo kajanje. </a:t>
            </a:r>
            <a:r>
              <a:rPr lang="en-US" dirty="0" err="1"/>
              <a:t>Čim</a:t>
            </a:r>
            <a:r>
              <a:rPr lang="en-US" dirty="0"/>
              <a:t> </a:t>
            </a:r>
            <a:r>
              <a:rPr lang="sr-Latn-RS" dirty="0"/>
              <a:t>je neko ranije osudjivan kao otežavajuća okolnost</a:t>
            </a:r>
            <a:r>
              <a:rPr lang="en-US" dirty="0"/>
              <a:t> </a:t>
            </a:r>
            <a:r>
              <a:rPr lang="en-US" dirty="0" err="1"/>
              <a:t>daje</a:t>
            </a:r>
            <a:r>
              <a:rPr lang="en-US" dirty="0"/>
              <a:t> se </a:t>
            </a:r>
            <a:r>
              <a:rPr lang="sr-Latn-RS" dirty="0"/>
              <a:t>strožija kazna</a:t>
            </a:r>
            <a:r>
              <a:rPr lang="en-US" dirty="0"/>
              <a:t>.</a:t>
            </a:r>
          </a:p>
        </p:txBody>
      </p:sp>
      <p:pic>
        <p:nvPicPr>
          <p:cNvPr id="4" name="Picture 3">
            <a:extLst>
              <a:ext uri="{FF2B5EF4-FFF2-40B4-BE49-F238E27FC236}">
                <a16:creationId xmlns:a16="http://schemas.microsoft.com/office/drawing/2014/main" id="{7BAC8074-E508-841F-6D04-F93FC7F1E48B}"/>
              </a:ext>
            </a:extLst>
          </p:cNvPr>
          <p:cNvPicPr>
            <a:picLocks noChangeAspect="1"/>
          </p:cNvPicPr>
          <p:nvPr/>
        </p:nvPicPr>
        <p:blipFill>
          <a:blip r:embed="rId2"/>
          <a:stretch>
            <a:fillRect/>
          </a:stretch>
        </p:blipFill>
        <p:spPr>
          <a:xfrm>
            <a:off x="-18850" y="563022"/>
            <a:ext cx="12192000" cy="3495729"/>
          </a:xfrm>
          <a:prstGeom prst="rect">
            <a:avLst/>
          </a:prstGeom>
        </p:spPr>
      </p:pic>
      <p:pic>
        <p:nvPicPr>
          <p:cNvPr id="8" name="Picture 7">
            <a:extLst>
              <a:ext uri="{FF2B5EF4-FFF2-40B4-BE49-F238E27FC236}">
                <a16:creationId xmlns:a16="http://schemas.microsoft.com/office/drawing/2014/main" id="{1D09E95C-B488-2ADB-1D7D-4055BF090EB0}"/>
              </a:ext>
            </a:extLst>
          </p:cNvPr>
          <p:cNvPicPr>
            <a:picLocks noChangeAspect="1"/>
          </p:cNvPicPr>
          <p:nvPr/>
        </p:nvPicPr>
        <p:blipFill>
          <a:blip r:embed="rId3"/>
          <a:stretch>
            <a:fillRect/>
          </a:stretch>
        </p:blipFill>
        <p:spPr>
          <a:xfrm>
            <a:off x="-18850" y="3980929"/>
            <a:ext cx="12192000" cy="2885781"/>
          </a:xfrm>
          <a:prstGeom prst="rect">
            <a:avLst/>
          </a:prstGeom>
        </p:spPr>
      </p:pic>
    </p:spTree>
    <p:extLst>
      <p:ext uri="{BB962C8B-B14F-4D97-AF65-F5344CB8AC3E}">
        <p14:creationId xmlns:p14="http://schemas.microsoft.com/office/powerpoint/2010/main" val="2089939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r>
              <a:rPr lang="en-US" dirty="0"/>
              <a:t>.</a:t>
            </a:r>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r>
              <a:rPr lang="en-US" dirty="0"/>
              <a:t>.</a:t>
            </a:r>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r>
              <a:rPr lang="en-US" dirty="0"/>
              <a:t>.</a:t>
            </a:r>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r>
              <a:rPr lang="en-US" dirty="0"/>
              <a:t>.</a:t>
            </a:r>
          </a:p>
        </p:txBody>
      </p:sp>
    </p:spTree>
    <p:extLst>
      <p:ext uri="{BB962C8B-B14F-4D97-AF65-F5344CB8AC3E}">
        <p14:creationId xmlns:p14="http://schemas.microsoft.com/office/powerpoint/2010/main" val="867604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r>
              <a:rPr lang="en-US" dirty="0"/>
              <a:t>.</a:t>
            </a:r>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r>
              <a:rPr lang="en-US" dirty="0"/>
              <a:t>.</a:t>
            </a:r>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r>
              <a:rPr lang="en-US" dirty="0"/>
              <a:t>.</a:t>
            </a:r>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r>
              <a:rPr lang="en-US" dirty="0"/>
              <a:t>.</a:t>
            </a:r>
          </a:p>
        </p:txBody>
      </p:sp>
    </p:spTree>
    <p:extLst>
      <p:ext uri="{BB962C8B-B14F-4D97-AF65-F5344CB8AC3E}">
        <p14:creationId xmlns:p14="http://schemas.microsoft.com/office/powerpoint/2010/main" val="136358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r>
              <a:rPr lang="en-US" dirty="0"/>
              <a:t>.</a:t>
            </a:r>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r>
              <a:rPr lang="en-US" dirty="0"/>
              <a:t>.</a:t>
            </a:r>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r>
              <a:rPr lang="en-US" dirty="0"/>
              <a:t>.</a:t>
            </a:r>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r>
              <a:rPr lang="en-US" dirty="0"/>
              <a:t>.</a:t>
            </a:r>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a:t>
            </a:r>
            <a:r>
              <a:rPr lang="en-US" dirty="0" err="1"/>
              <a:t>prevara</a:t>
            </a:r>
            <a:r>
              <a:rPr lang="sr-Latn-RS" dirty="0"/>
              <a:t> od nekoliko desetina hiljada eura, to deluje kao mnogo značajniji faktor nego zaposlenost ili bračni status ili obrazovanje, što i jeste, </a:t>
            </a:r>
            <a:r>
              <a:rPr lang="en-US" dirty="0" err="1"/>
              <a:t>zato</a:t>
            </a:r>
            <a:r>
              <a:rPr lang="en-US" dirty="0"/>
              <a:t> je </a:t>
            </a:r>
            <a:r>
              <a:rPr lang="sr-Latn-RS" dirty="0"/>
              <a:t>koeficijent 10 puta veći</a:t>
            </a:r>
            <a:r>
              <a:rPr lang="en-US" dirty="0"/>
              <a:t>.</a:t>
            </a:r>
          </a:p>
        </p:txBody>
      </p:sp>
      <p:pic>
        <p:nvPicPr>
          <p:cNvPr id="4" name="Picture 3">
            <a:extLst>
              <a:ext uri="{FF2B5EF4-FFF2-40B4-BE49-F238E27FC236}">
                <a16:creationId xmlns:a16="http://schemas.microsoft.com/office/drawing/2014/main" id="{1E8C60EA-4EBF-4003-BAF7-C0790E6D5899}"/>
              </a:ext>
            </a:extLst>
          </p:cNvPr>
          <p:cNvPicPr>
            <a:picLocks noChangeAspect="1"/>
          </p:cNvPicPr>
          <p:nvPr/>
        </p:nvPicPr>
        <p:blipFill>
          <a:blip r:embed="rId2"/>
          <a:stretch>
            <a:fillRect/>
          </a:stretch>
        </p:blipFill>
        <p:spPr>
          <a:xfrm>
            <a:off x="0" y="2260812"/>
            <a:ext cx="12192000" cy="3394210"/>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a:xfrm>
            <a:off x="0" y="30109"/>
            <a:ext cx="10353762" cy="4058751"/>
          </a:xfrm>
        </p:spPr>
        <p:txBody>
          <a:bodyPr/>
          <a:lstStyle/>
          <a:p>
            <a:r>
              <a:rPr lang="en-US" dirty="0" err="1"/>
              <a:t>Uneti</a:t>
            </a:r>
            <a:r>
              <a:rPr lang="en-US" dirty="0"/>
              <a:t> </a:t>
            </a:r>
            <a:r>
              <a:rPr lang="en-US" dirty="0" err="1"/>
              <a:t>podaci</a:t>
            </a:r>
            <a:r>
              <a:rPr lang="en-US" dirty="0"/>
              <a:t> od </a:t>
            </a:r>
            <a:r>
              <a:rPr lang="en-US" dirty="0" err="1"/>
              <a:t>strane</a:t>
            </a:r>
            <a:r>
              <a:rPr lang="en-US" dirty="0"/>
              <a:t> </a:t>
            </a:r>
            <a:r>
              <a:rPr lang="en-US" dirty="0" err="1"/>
              <a:t>korisnka</a:t>
            </a:r>
            <a:r>
              <a:rPr lang="en-US" dirty="0"/>
              <a:t>.</a:t>
            </a:r>
          </a:p>
        </p:txBody>
      </p:sp>
      <p:pic>
        <p:nvPicPr>
          <p:cNvPr id="7" name="Picture 6">
            <a:extLst>
              <a:ext uri="{FF2B5EF4-FFF2-40B4-BE49-F238E27FC236}">
                <a16:creationId xmlns:a16="http://schemas.microsoft.com/office/drawing/2014/main" id="{04B48E70-296E-7AE8-1EC4-5CB62525AEE1}"/>
              </a:ext>
            </a:extLst>
          </p:cNvPr>
          <p:cNvPicPr>
            <a:picLocks noChangeAspect="1"/>
          </p:cNvPicPr>
          <p:nvPr/>
        </p:nvPicPr>
        <p:blipFill>
          <a:blip r:embed="rId2"/>
          <a:stretch>
            <a:fillRect/>
          </a:stretch>
        </p:blipFill>
        <p:spPr>
          <a:xfrm>
            <a:off x="0" y="669475"/>
            <a:ext cx="12192000" cy="5519049"/>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A91A0C-0097-7F0B-1945-40D9EE57E03E}"/>
              </a:ext>
            </a:extLst>
          </p:cNvPr>
          <p:cNvPicPr>
            <a:picLocks noChangeAspect="1"/>
          </p:cNvPicPr>
          <p:nvPr/>
        </p:nvPicPr>
        <p:blipFill>
          <a:blip r:embed="rId2"/>
          <a:stretch>
            <a:fillRect/>
          </a:stretch>
        </p:blipFill>
        <p:spPr>
          <a:xfrm>
            <a:off x="0" y="945132"/>
            <a:ext cx="12192000" cy="5434663"/>
          </a:xfrm>
          <a:prstGeom prst="rect">
            <a:avLst/>
          </a:prstGeom>
        </p:spPr>
      </p:pic>
      <p:sp>
        <p:nvSpPr>
          <p:cNvPr id="4" name="Content Placeholder 2">
            <a:extLst>
              <a:ext uri="{FF2B5EF4-FFF2-40B4-BE49-F238E27FC236}">
                <a16:creationId xmlns:a16="http://schemas.microsoft.com/office/drawing/2014/main" id="{33BAF354-998D-FEF8-A78C-570622B7EB73}"/>
              </a:ext>
            </a:extLst>
          </p:cNvPr>
          <p:cNvSpPr>
            <a:spLocks noGrp="1"/>
          </p:cNvSpPr>
          <p:nvPr>
            <p:ph idx="1"/>
          </p:nvPr>
        </p:nvSpPr>
        <p:spPr>
          <a:xfrm>
            <a:off x="0" y="0"/>
            <a:ext cx="12192000" cy="4058751"/>
          </a:xfrm>
        </p:spPr>
        <p:txBody>
          <a:bodyPr/>
          <a:lstStyle/>
          <a:p>
            <a:r>
              <a:rPr lang="sr-Latn-RS" dirty="0"/>
              <a:t>Nova tekstualna polja za unos, za svedoke, dokaze i opis slučaja</a:t>
            </a:r>
            <a:endParaRPr lang="en-US" dirty="0"/>
          </a:p>
        </p:txBody>
      </p:sp>
    </p:spTree>
    <p:extLst>
      <p:ext uri="{BB962C8B-B14F-4D97-AF65-F5344CB8AC3E}">
        <p14:creationId xmlns:p14="http://schemas.microsoft.com/office/powerpoint/2010/main" val="3903503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522A2-B7BC-D2AA-ADB8-9E46E7050D8B}"/>
              </a:ext>
            </a:extLst>
          </p:cNvPr>
          <p:cNvSpPr>
            <a:spLocks noGrp="1"/>
          </p:cNvSpPr>
          <p:nvPr>
            <p:ph idx="1"/>
          </p:nvPr>
        </p:nvSpPr>
        <p:spPr>
          <a:xfrm>
            <a:off x="0" y="0"/>
            <a:ext cx="12192000" cy="4058751"/>
          </a:xfrm>
        </p:spPr>
        <p:txBody>
          <a:bodyPr/>
          <a:lstStyle/>
          <a:p>
            <a:r>
              <a:rPr lang="sr-Latn-RS" dirty="0"/>
              <a:t>Da bi se ubrzao proces rada dodato je dugme za automatsko generisanje opisa na osnovu meta podataka</a:t>
            </a:r>
            <a:r>
              <a:rPr lang="en-US" dirty="0"/>
              <a:t>,</a:t>
            </a:r>
            <a:r>
              <a:rPr lang="sr-Latn-RS" dirty="0"/>
              <a:t> tako da sudija nebi morao sve ručno da unosi.</a:t>
            </a:r>
            <a:endParaRPr lang="en-US" dirty="0"/>
          </a:p>
        </p:txBody>
      </p:sp>
      <p:pic>
        <p:nvPicPr>
          <p:cNvPr id="5" name="Picture 4">
            <a:extLst>
              <a:ext uri="{FF2B5EF4-FFF2-40B4-BE49-F238E27FC236}">
                <a16:creationId xmlns:a16="http://schemas.microsoft.com/office/drawing/2014/main" id="{97B7563D-75E2-94D0-8750-8432377B838F}"/>
              </a:ext>
            </a:extLst>
          </p:cNvPr>
          <p:cNvPicPr>
            <a:picLocks noChangeAspect="1"/>
          </p:cNvPicPr>
          <p:nvPr/>
        </p:nvPicPr>
        <p:blipFill>
          <a:blip r:embed="rId2"/>
          <a:stretch>
            <a:fillRect/>
          </a:stretch>
        </p:blipFill>
        <p:spPr>
          <a:xfrm>
            <a:off x="0" y="752816"/>
            <a:ext cx="12192000" cy="5352368"/>
          </a:xfrm>
          <a:prstGeom prst="rect">
            <a:avLst/>
          </a:prstGeom>
        </p:spPr>
      </p:pic>
    </p:spTree>
    <p:extLst>
      <p:ext uri="{BB962C8B-B14F-4D97-AF65-F5344CB8AC3E}">
        <p14:creationId xmlns:p14="http://schemas.microsoft.com/office/powerpoint/2010/main" val="1273115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92305A-8E22-452E-A9BC-F07AB4C4D799}"/>
              </a:ext>
            </a:extLst>
          </p:cNvPr>
          <p:cNvSpPr>
            <a:spLocks noGrp="1"/>
          </p:cNvSpPr>
          <p:nvPr>
            <p:ph idx="1"/>
          </p:nvPr>
        </p:nvSpPr>
        <p:spPr>
          <a:xfrm>
            <a:off x="89647" y="764260"/>
            <a:ext cx="2599765" cy="4058751"/>
          </a:xfrm>
        </p:spPr>
        <p:txBody>
          <a:bodyPr/>
          <a:lstStyle/>
          <a:p>
            <a:r>
              <a:rPr lang="en-US" dirty="0" err="1"/>
              <a:t>Šablonsko</a:t>
            </a:r>
            <a:r>
              <a:rPr lang="en-US" dirty="0"/>
              <a:t> rule-based </a:t>
            </a:r>
            <a:r>
              <a:rPr lang="en-US" dirty="0" err="1"/>
              <a:t>generisanje</a:t>
            </a:r>
            <a:r>
              <a:rPr lang="en-US" dirty="0"/>
              <a:t> </a:t>
            </a:r>
            <a:r>
              <a:rPr lang="en-US" dirty="0" err="1"/>
              <a:t>teksta</a:t>
            </a:r>
            <a:r>
              <a:rPr lang="en-US" dirty="0"/>
              <a:t> </a:t>
            </a:r>
            <a:r>
              <a:rPr lang="en-US" dirty="0" err="1"/>
              <a:t>iz</a:t>
            </a:r>
            <a:r>
              <a:rPr lang="en-US" dirty="0"/>
              <a:t> </a:t>
            </a:r>
            <a:r>
              <a:rPr lang="en-US" dirty="0" err="1"/>
              <a:t>forme</a:t>
            </a:r>
            <a:r>
              <a:rPr lang="en-US" dirty="0"/>
              <a:t>.</a:t>
            </a:r>
          </a:p>
          <a:p>
            <a:r>
              <a:rPr lang="en-US" dirty="0"/>
              <a:t>Na </a:t>
            </a:r>
            <a:r>
              <a:rPr lang="en-US" dirty="0" err="1"/>
              <a:t>kraju</a:t>
            </a:r>
            <a:r>
              <a:rPr lang="en-US" dirty="0"/>
              <a:t> </a:t>
            </a:r>
            <a:r>
              <a:rPr lang="en-US" dirty="0" err="1"/>
              <a:t>te</a:t>
            </a:r>
            <a:r>
              <a:rPr lang="en-US" dirty="0"/>
              <a:t> </a:t>
            </a:r>
            <a:r>
              <a:rPr lang="en-US" dirty="0" err="1"/>
              <a:t>delove</a:t>
            </a:r>
            <a:r>
              <a:rPr lang="en-US" dirty="0"/>
              <a:t> </a:t>
            </a:r>
            <a:r>
              <a:rPr lang="en-US" dirty="0" err="1"/>
              <a:t>spojimo</a:t>
            </a:r>
            <a:r>
              <a:rPr lang="en-US" dirty="0"/>
              <a:t> u </a:t>
            </a:r>
            <a:r>
              <a:rPr lang="en-US" dirty="0" err="1"/>
              <a:t>jedan</a:t>
            </a:r>
            <a:r>
              <a:rPr lang="en-US" dirty="0"/>
              <a:t> </a:t>
            </a:r>
            <a:r>
              <a:rPr lang="en-US" dirty="0" err="1"/>
              <a:t>tekst</a:t>
            </a:r>
            <a:r>
              <a:rPr lang="en-US" dirty="0"/>
              <a:t> </a:t>
            </a:r>
            <a:r>
              <a:rPr lang="en-US" dirty="0" err="1"/>
              <a:t>i</a:t>
            </a:r>
            <a:r>
              <a:rPr lang="en-US" dirty="0"/>
              <a:t> </a:t>
            </a:r>
            <a:r>
              <a:rPr lang="en-US" dirty="0" err="1"/>
              <a:t>vratimo</a:t>
            </a:r>
            <a:r>
              <a:rPr lang="en-US" dirty="0"/>
              <a:t> ga </a:t>
            </a:r>
            <a:r>
              <a:rPr lang="en-US" dirty="0" err="1"/>
              <a:t>kao</a:t>
            </a:r>
            <a:r>
              <a:rPr lang="en-US" dirty="0"/>
              <a:t> </a:t>
            </a:r>
            <a:r>
              <a:rPr lang="en-US" dirty="0" err="1"/>
              <a:t>opis</a:t>
            </a:r>
            <a:r>
              <a:rPr lang="en-US" dirty="0"/>
              <a:t> </a:t>
            </a:r>
            <a:r>
              <a:rPr lang="en-US" dirty="0" err="1"/>
              <a:t>slučaja</a:t>
            </a:r>
            <a:r>
              <a:rPr lang="en-US" dirty="0"/>
              <a:t>.</a:t>
            </a:r>
          </a:p>
        </p:txBody>
      </p:sp>
      <p:pic>
        <p:nvPicPr>
          <p:cNvPr id="5" name="Picture 4">
            <a:extLst>
              <a:ext uri="{FF2B5EF4-FFF2-40B4-BE49-F238E27FC236}">
                <a16:creationId xmlns:a16="http://schemas.microsoft.com/office/drawing/2014/main" id="{8F326849-9DFA-45F8-B343-D579A0F92F0E}"/>
              </a:ext>
            </a:extLst>
          </p:cNvPr>
          <p:cNvPicPr>
            <a:picLocks noChangeAspect="1"/>
          </p:cNvPicPr>
          <p:nvPr/>
        </p:nvPicPr>
        <p:blipFill>
          <a:blip r:embed="rId2"/>
          <a:stretch>
            <a:fillRect/>
          </a:stretch>
        </p:blipFill>
        <p:spPr>
          <a:xfrm>
            <a:off x="2965285" y="485364"/>
            <a:ext cx="9040487" cy="5887272"/>
          </a:xfrm>
          <a:prstGeom prst="rect">
            <a:avLst/>
          </a:prstGeom>
        </p:spPr>
      </p:pic>
    </p:spTree>
    <p:extLst>
      <p:ext uri="{BB962C8B-B14F-4D97-AF65-F5344CB8AC3E}">
        <p14:creationId xmlns:p14="http://schemas.microsoft.com/office/powerpoint/2010/main" val="17165404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BB4413-BCA0-71CF-1A7F-4ABB99D2C2CD}"/>
              </a:ext>
            </a:extLst>
          </p:cNvPr>
          <p:cNvSpPr>
            <a:spLocks noGrp="1"/>
          </p:cNvSpPr>
          <p:nvPr>
            <p:ph idx="1"/>
          </p:nvPr>
        </p:nvSpPr>
        <p:spPr>
          <a:xfrm>
            <a:off x="0" y="0"/>
            <a:ext cx="10614212" cy="4058751"/>
          </a:xfrm>
        </p:spPr>
        <p:txBody>
          <a:bodyPr/>
          <a:lstStyle/>
          <a:p>
            <a:r>
              <a:rPr lang="sr-Latn-RS" dirty="0"/>
              <a:t>Dugme generiši opis je ovo ubacilo u tekstualno polje, naravno ako se korisniku nešto ne svidja on može da izmeni to, ali u ovom slučaju ništa nije menjano i idemo na sledeći korak</a:t>
            </a:r>
            <a:r>
              <a:rPr lang="en-US" dirty="0"/>
              <a:t>.</a:t>
            </a:r>
          </a:p>
        </p:txBody>
      </p:sp>
      <p:pic>
        <p:nvPicPr>
          <p:cNvPr id="5" name="Picture 4">
            <a:extLst>
              <a:ext uri="{FF2B5EF4-FFF2-40B4-BE49-F238E27FC236}">
                <a16:creationId xmlns:a16="http://schemas.microsoft.com/office/drawing/2014/main" id="{5D1FF225-96EC-E97E-3169-719C3FDC8B0B}"/>
              </a:ext>
            </a:extLst>
          </p:cNvPr>
          <p:cNvPicPr>
            <a:picLocks noChangeAspect="1"/>
          </p:cNvPicPr>
          <p:nvPr/>
        </p:nvPicPr>
        <p:blipFill>
          <a:blip r:embed="rId2"/>
          <a:stretch>
            <a:fillRect/>
          </a:stretch>
        </p:blipFill>
        <p:spPr>
          <a:xfrm>
            <a:off x="0" y="969724"/>
            <a:ext cx="12192000" cy="5385479"/>
          </a:xfrm>
          <a:prstGeom prst="rect">
            <a:avLst/>
          </a:prstGeom>
        </p:spPr>
      </p:pic>
    </p:spTree>
    <p:extLst>
      <p:ext uri="{BB962C8B-B14F-4D97-AF65-F5344CB8AC3E}">
        <p14:creationId xmlns:p14="http://schemas.microsoft.com/office/powerpoint/2010/main" val="38038386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34601-8253-B3BE-C7F7-418CCD557CF2}"/>
              </a:ext>
            </a:extLst>
          </p:cNvPr>
          <p:cNvSpPr>
            <a:spLocks noGrp="1"/>
          </p:cNvSpPr>
          <p:nvPr>
            <p:ph idx="1"/>
          </p:nvPr>
        </p:nvSpPr>
        <p:spPr>
          <a:xfrm>
            <a:off x="5323" y="175564"/>
            <a:ext cx="11852693" cy="4058751"/>
          </a:xfrm>
        </p:spPr>
        <p:txBody>
          <a:bodyPr/>
          <a:lstStyle/>
          <a:p>
            <a:r>
              <a:rPr lang="sr-Latn-RS" dirty="0"/>
              <a:t>Koristi se Markov chain model koji je obučen na 129 postojecih sudskih presuda, on generiše tekst u narednim koracima, on će koristiti informcije iz rasudjivanja po pravilima i po sličnosti koje će se takodje automatski pokrenuti kada kliknemo generiši presudu.</a:t>
            </a:r>
          </a:p>
          <a:p>
            <a:r>
              <a:rPr lang="sr-Latn-RS" dirty="0"/>
              <a:t>XML će se tek sačuvati kada sudija donese konačnu odluku, čeka se na sudiju. </a:t>
            </a:r>
            <a:endParaRPr lang="en-US" dirty="0"/>
          </a:p>
        </p:txBody>
      </p:sp>
      <p:pic>
        <p:nvPicPr>
          <p:cNvPr id="5" name="Picture 4">
            <a:extLst>
              <a:ext uri="{FF2B5EF4-FFF2-40B4-BE49-F238E27FC236}">
                <a16:creationId xmlns:a16="http://schemas.microsoft.com/office/drawing/2014/main" id="{64AB9A74-E83B-86A5-CBE9-9B1114EAE240}"/>
              </a:ext>
            </a:extLst>
          </p:cNvPr>
          <p:cNvPicPr>
            <a:picLocks noChangeAspect="1"/>
          </p:cNvPicPr>
          <p:nvPr/>
        </p:nvPicPr>
        <p:blipFill>
          <a:blip r:embed="rId2"/>
          <a:stretch>
            <a:fillRect/>
          </a:stretch>
        </p:blipFill>
        <p:spPr>
          <a:xfrm>
            <a:off x="-5324" y="1625916"/>
            <a:ext cx="12192000" cy="4633138"/>
          </a:xfrm>
          <a:prstGeom prst="rect">
            <a:avLst/>
          </a:prstGeom>
        </p:spPr>
      </p:pic>
    </p:spTree>
    <p:extLst>
      <p:ext uri="{BB962C8B-B14F-4D97-AF65-F5344CB8AC3E}">
        <p14:creationId xmlns:p14="http://schemas.microsoft.com/office/powerpoint/2010/main" val="2879738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D9310-A08A-4E57-8B42-50F5B14DB6C5}"/>
              </a:ext>
            </a:extLst>
          </p:cNvPr>
          <p:cNvSpPr>
            <a:spLocks noGrp="1"/>
          </p:cNvSpPr>
          <p:nvPr>
            <p:ph type="title"/>
          </p:nvPr>
        </p:nvSpPr>
        <p:spPr>
          <a:xfrm>
            <a:off x="913795" y="96350"/>
            <a:ext cx="10353762" cy="970450"/>
          </a:xfrm>
        </p:spPr>
        <p:txBody>
          <a:bodyPr/>
          <a:lstStyle/>
          <a:p>
            <a:r>
              <a:rPr lang="en-US" dirty="0"/>
              <a:t>Markov Chain model</a:t>
            </a:r>
          </a:p>
        </p:txBody>
      </p:sp>
      <p:sp>
        <p:nvSpPr>
          <p:cNvPr id="3" name="Content Placeholder 2">
            <a:extLst>
              <a:ext uri="{FF2B5EF4-FFF2-40B4-BE49-F238E27FC236}">
                <a16:creationId xmlns:a16="http://schemas.microsoft.com/office/drawing/2014/main" id="{C9853838-23E3-4E3E-B111-C50BB6B9947D}"/>
              </a:ext>
            </a:extLst>
          </p:cNvPr>
          <p:cNvSpPr>
            <a:spLocks noGrp="1"/>
          </p:cNvSpPr>
          <p:nvPr>
            <p:ph idx="1"/>
          </p:nvPr>
        </p:nvSpPr>
        <p:spPr>
          <a:xfrm>
            <a:off x="473985" y="1822096"/>
            <a:ext cx="11233382" cy="4148398"/>
          </a:xfrm>
        </p:spPr>
        <p:txBody>
          <a:bodyPr/>
          <a:lstStyle/>
          <a:p>
            <a:r>
              <a:rPr lang="en-US" dirty="0"/>
              <a:t>Model </a:t>
            </a:r>
            <a:r>
              <a:rPr lang="en-US" dirty="0" err="1"/>
              <a:t>pamti</a:t>
            </a:r>
            <a:r>
              <a:rPr lang="en-US" dirty="0"/>
              <a:t> </a:t>
            </a:r>
            <a:r>
              <a:rPr lang="en-US" dirty="0" err="1"/>
              <a:t>koje</a:t>
            </a:r>
            <a:r>
              <a:rPr lang="en-US" dirty="0"/>
              <a:t> </a:t>
            </a:r>
            <a:r>
              <a:rPr lang="en-US" dirty="0" err="1"/>
              <a:t>reči</a:t>
            </a:r>
            <a:r>
              <a:rPr lang="en-US" dirty="0"/>
              <a:t> </a:t>
            </a:r>
            <a:r>
              <a:rPr lang="en-US" dirty="0" err="1"/>
              <a:t>najčešće</a:t>
            </a:r>
            <a:r>
              <a:rPr lang="en-US" dirty="0"/>
              <a:t> </a:t>
            </a:r>
            <a:r>
              <a:rPr lang="en-US" dirty="0" err="1"/>
              <a:t>dolaze</a:t>
            </a:r>
            <a:r>
              <a:rPr lang="en-US" dirty="0"/>
              <a:t> </a:t>
            </a:r>
            <a:r>
              <a:rPr lang="en-US" dirty="0" err="1"/>
              <a:t>posle</a:t>
            </a:r>
            <a:r>
              <a:rPr lang="en-US" dirty="0"/>
              <a:t> para </a:t>
            </a:r>
            <a:r>
              <a:rPr lang="en-US" dirty="0" err="1"/>
              <a:t>prethodnih</a:t>
            </a:r>
            <a:r>
              <a:rPr lang="en-US" dirty="0"/>
              <a:t> </a:t>
            </a:r>
            <a:r>
              <a:rPr lang="en-US" dirty="0" err="1"/>
              <a:t>reči</a:t>
            </a:r>
            <a:r>
              <a:rPr lang="en-US" dirty="0"/>
              <a:t>, pa </a:t>
            </a:r>
            <a:r>
              <a:rPr lang="en-US" dirty="0" err="1"/>
              <a:t>novu</a:t>
            </a:r>
            <a:r>
              <a:rPr lang="en-US" dirty="0"/>
              <a:t> </a:t>
            </a:r>
            <a:r>
              <a:rPr lang="en-US" dirty="0" err="1"/>
              <a:t>rečenicu</a:t>
            </a:r>
            <a:r>
              <a:rPr lang="en-US" dirty="0"/>
              <a:t> </a:t>
            </a:r>
            <a:r>
              <a:rPr lang="en-US" dirty="0" err="1"/>
              <a:t>sklapa</a:t>
            </a:r>
            <a:r>
              <a:rPr lang="en-US" dirty="0"/>
              <a:t> </a:t>
            </a:r>
            <a:r>
              <a:rPr lang="en-US" dirty="0" err="1"/>
              <a:t>tako</a:t>
            </a:r>
            <a:r>
              <a:rPr lang="en-US" dirty="0"/>
              <a:t> </a:t>
            </a:r>
            <a:r>
              <a:rPr lang="en-US" dirty="0" err="1"/>
              <a:t>što</a:t>
            </a:r>
            <a:r>
              <a:rPr lang="en-US" dirty="0"/>
              <a:t> </a:t>
            </a:r>
            <a:r>
              <a:rPr lang="en-US" dirty="0" err="1"/>
              <a:t>korak</a:t>
            </a:r>
            <a:r>
              <a:rPr lang="en-US" dirty="0"/>
              <a:t> po </a:t>
            </a:r>
            <a:r>
              <a:rPr lang="en-US" dirty="0" err="1"/>
              <a:t>korak</a:t>
            </a:r>
            <a:r>
              <a:rPr lang="en-US" dirty="0"/>
              <a:t> </a:t>
            </a:r>
            <a:r>
              <a:rPr lang="en-US" dirty="0" err="1"/>
              <a:t>bira</a:t>
            </a:r>
            <a:r>
              <a:rPr lang="en-US" dirty="0"/>
              <a:t> </a:t>
            </a:r>
            <a:r>
              <a:rPr lang="en-US" dirty="0" err="1"/>
              <a:t>sledeću</a:t>
            </a:r>
            <a:r>
              <a:rPr lang="en-US" dirty="0"/>
              <a:t> </a:t>
            </a:r>
            <a:r>
              <a:rPr lang="en-US" dirty="0" err="1"/>
              <a:t>reč</a:t>
            </a:r>
            <a:r>
              <a:rPr lang="en-US" dirty="0"/>
              <a:t> po </a:t>
            </a:r>
            <a:r>
              <a:rPr lang="en-US" dirty="0" err="1"/>
              <a:t>verovatnoći</a:t>
            </a:r>
            <a:r>
              <a:rPr lang="en-US" dirty="0"/>
              <a:t>.</a:t>
            </a:r>
          </a:p>
          <a:p>
            <a:r>
              <a:rPr lang="en-US" dirty="0"/>
              <a:t>Model </a:t>
            </a:r>
            <a:r>
              <a:rPr lang="en-US" dirty="0" err="1"/>
              <a:t>nije</a:t>
            </a:r>
            <a:r>
              <a:rPr lang="en-US" dirty="0"/>
              <a:t> </a:t>
            </a:r>
            <a:r>
              <a:rPr lang="en-US" dirty="0" err="1"/>
              <a:t>pravni</a:t>
            </a:r>
            <a:r>
              <a:rPr lang="en-US" dirty="0"/>
              <a:t> </a:t>
            </a:r>
            <a:r>
              <a:rPr lang="en-US" dirty="0" err="1"/>
              <a:t>zaključivač</a:t>
            </a:r>
            <a:r>
              <a:rPr lang="en-US" dirty="0"/>
              <a:t>, </a:t>
            </a:r>
            <a:r>
              <a:rPr lang="en-US" dirty="0" err="1"/>
              <a:t>nego</a:t>
            </a:r>
            <a:r>
              <a:rPr lang="en-US" dirty="0"/>
              <a:t> generator </a:t>
            </a:r>
            <a:r>
              <a:rPr lang="en-US" dirty="0" err="1"/>
              <a:t>pravnog</a:t>
            </a:r>
            <a:r>
              <a:rPr lang="en-US" dirty="0"/>
              <a:t> </a:t>
            </a:r>
            <a:r>
              <a:rPr lang="en-US" dirty="0" err="1"/>
              <a:t>stila</a:t>
            </a:r>
            <a:r>
              <a:rPr lang="en-US" dirty="0"/>
              <a:t> </a:t>
            </a:r>
            <a:r>
              <a:rPr lang="en-US" dirty="0" err="1"/>
              <a:t>teksta</a:t>
            </a:r>
            <a:r>
              <a:rPr lang="en-US" dirty="0"/>
              <a:t>.</a:t>
            </a:r>
          </a:p>
          <a:p>
            <a:r>
              <a:rPr lang="en-US" dirty="0" err="1"/>
              <a:t>Pravni</a:t>
            </a:r>
            <a:r>
              <a:rPr lang="en-US" dirty="0"/>
              <a:t> </a:t>
            </a:r>
            <a:r>
              <a:rPr lang="en-US" dirty="0" err="1"/>
              <a:t>zaključak</a:t>
            </a:r>
            <a:r>
              <a:rPr lang="en-US" dirty="0"/>
              <a:t> (</a:t>
            </a:r>
            <a:r>
              <a:rPr lang="en-US" dirty="0" err="1"/>
              <a:t>kriv</a:t>
            </a:r>
            <a:r>
              <a:rPr lang="en-US" dirty="0"/>
              <a:t>/</a:t>
            </a:r>
            <a:r>
              <a:rPr lang="en-US" dirty="0" err="1"/>
              <a:t>oslobodjen</a:t>
            </a:r>
            <a:r>
              <a:rPr lang="en-US" dirty="0"/>
              <a:t>, </a:t>
            </a:r>
            <a:r>
              <a:rPr lang="en-US" dirty="0" err="1"/>
              <a:t>visina</a:t>
            </a:r>
            <a:r>
              <a:rPr lang="en-US" dirty="0"/>
              <a:t> </a:t>
            </a:r>
            <a:r>
              <a:rPr lang="en-US" dirty="0" err="1"/>
              <a:t>kazne</a:t>
            </a:r>
            <a:r>
              <a:rPr lang="en-US" dirty="0"/>
              <a:t>) </a:t>
            </a:r>
            <a:r>
              <a:rPr lang="en-US" dirty="0" err="1"/>
              <a:t>dolazi</a:t>
            </a:r>
            <a:r>
              <a:rPr lang="en-US" dirty="0"/>
              <a:t> </a:t>
            </a:r>
            <a:r>
              <a:rPr lang="en-US" dirty="0" err="1"/>
              <a:t>iz</a:t>
            </a:r>
            <a:r>
              <a:rPr lang="en-US" dirty="0"/>
              <a:t> rule + CBR dela.</a:t>
            </a:r>
          </a:p>
          <a:p>
            <a:r>
              <a:rPr lang="en-US" dirty="0"/>
              <a:t>Markov se </a:t>
            </a:r>
            <a:r>
              <a:rPr lang="en-US" dirty="0" err="1"/>
              <a:t>ovde</a:t>
            </a:r>
            <a:r>
              <a:rPr lang="en-US" dirty="0"/>
              <a:t> </a:t>
            </a:r>
            <a:r>
              <a:rPr lang="en-US" dirty="0" err="1"/>
              <a:t>koristi</a:t>
            </a:r>
            <a:r>
              <a:rPr lang="en-US" dirty="0"/>
              <a:t> </a:t>
            </a:r>
            <a:r>
              <a:rPr lang="en-US" dirty="0" err="1"/>
              <a:t>ciljano</a:t>
            </a:r>
            <a:r>
              <a:rPr lang="en-US" dirty="0"/>
              <a:t> za </a:t>
            </a:r>
            <a:r>
              <a:rPr lang="en-US" dirty="0" err="1"/>
              <a:t>obrazloženje</a:t>
            </a:r>
            <a:r>
              <a:rPr lang="en-US" dirty="0"/>
              <a:t>/sentencing </a:t>
            </a:r>
            <a:r>
              <a:rPr lang="en-US" dirty="0" err="1"/>
              <a:t>formulacije</a:t>
            </a:r>
            <a:r>
              <a:rPr lang="en-US" dirty="0"/>
              <a:t>, </a:t>
            </a:r>
            <a:r>
              <a:rPr lang="en-US" dirty="0" err="1"/>
              <a:t>što</a:t>
            </a:r>
            <a:r>
              <a:rPr lang="en-US" dirty="0"/>
              <a:t> je dobra </a:t>
            </a:r>
            <a:r>
              <a:rPr lang="en-US" dirty="0" err="1"/>
              <a:t>praksa</a:t>
            </a:r>
            <a:r>
              <a:rPr lang="en-US" dirty="0"/>
              <a:t> da se ne </a:t>
            </a:r>
            <a:r>
              <a:rPr lang="en-US" dirty="0" err="1"/>
              <a:t>haluciniraju</a:t>
            </a:r>
            <a:r>
              <a:rPr lang="en-US" dirty="0"/>
              <a:t> </a:t>
            </a:r>
            <a:r>
              <a:rPr lang="en-US" dirty="0" err="1"/>
              <a:t>činjenice</a:t>
            </a:r>
            <a:r>
              <a:rPr lang="en-US" dirty="0"/>
              <a:t>, ne </a:t>
            </a:r>
            <a:r>
              <a:rPr lang="en-US" dirty="0" err="1"/>
              <a:t>može</a:t>
            </a:r>
            <a:r>
              <a:rPr lang="en-US" dirty="0"/>
              <a:t> da </a:t>
            </a:r>
            <a:r>
              <a:rPr lang="en-US" dirty="0" err="1"/>
              <a:t>izmisli</a:t>
            </a:r>
            <a:r>
              <a:rPr lang="en-US" dirty="0"/>
              <a:t> </a:t>
            </a:r>
            <a:r>
              <a:rPr lang="en-US" dirty="0" err="1"/>
              <a:t>nešto</a:t>
            </a:r>
            <a:r>
              <a:rPr lang="en-US" dirty="0"/>
              <a:t> </a:t>
            </a:r>
            <a:r>
              <a:rPr lang="en-US" dirty="0" err="1"/>
              <a:t>što</a:t>
            </a:r>
            <a:r>
              <a:rPr lang="en-US" dirty="0"/>
              <a:t> </a:t>
            </a:r>
            <a:r>
              <a:rPr lang="en-US" dirty="0" err="1"/>
              <a:t>nikad</a:t>
            </a:r>
            <a:r>
              <a:rPr lang="en-US" dirty="0"/>
              <a:t> </a:t>
            </a:r>
            <a:r>
              <a:rPr lang="en-US" dirty="0" err="1"/>
              <a:t>nije</a:t>
            </a:r>
            <a:r>
              <a:rPr lang="en-US" dirty="0"/>
              <a:t> </a:t>
            </a:r>
            <a:r>
              <a:rPr lang="en-US" dirty="0" err="1"/>
              <a:t>bilo</a:t>
            </a:r>
            <a:r>
              <a:rPr lang="en-US" dirty="0"/>
              <a:t> u </a:t>
            </a:r>
            <a:r>
              <a:rPr lang="en-US" dirty="0" err="1"/>
              <a:t>prethodnim</a:t>
            </a:r>
            <a:r>
              <a:rPr lang="en-US" dirty="0"/>
              <a:t> </a:t>
            </a:r>
            <a:r>
              <a:rPr lang="en-US" dirty="0" err="1"/>
              <a:t>tekstovima</a:t>
            </a:r>
            <a:r>
              <a:rPr lang="en-US" dirty="0"/>
              <a:t>.</a:t>
            </a:r>
          </a:p>
          <a:p>
            <a:endParaRPr lang="en-US" dirty="0"/>
          </a:p>
        </p:txBody>
      </p:sp>
    </p:spTree>
    <p:extLst>
      <p:ext uri="{BB962C8B-B14F-4D97-AF65-F5344CB8AC3E}">
        <p14:creationId xmlns:p14="http://schemas.microsoft.com/office/powerpoint/2010/main" val="2625649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764F08-9840-4E64-A653-41F71CFA27A1}"/>
              </a:ext>
            </a:extLst>
          </p:cNvPr>
          <p:cNvSpPr>
            <a:spLocks noGrp="1"/>
          </p:cNvSpPr>
          <p:nvPr>
            <p:ph idx="1"/>
          </p:nvPr>
        </p:nvSpPr>
        <p:spPr>
          <a:xfrm>
            <a:off x="0" y="1490402"/>
            <a:ext cx="4438134" cy="6165457"/>
          </a:xfrm>
        </p:spPr>
        <p:txBody>
          <a:bodyPr/>
          <a:lstStyle/>
          <a:p>
            <a:r>
              <a:rPr lang="en-US" dirty="0"/>
              <a:t>Model je </a:t>
            </a:r>
            <a:r>
              <a:rPr lang="en-US" dirty="0" err="1"/>
              <a:t>treniran</a:t>
            </a:r>
            <a:r>
              <a:rPr lang="en-US" dirty="0"/>
              <a:t> </a:t>
            </a:r>
            <a:r>
              <a:rPr lang="en-US" dirty="0" err="1"/>
              <a:t>nad</a:t>
            </a:r>
            <a:r>
              <a:rPr lang="en-US" dirty="0"/>
              <a:t> </a:t>
            </a:r>
            <a:r>
              <a:rPr lang="en-US" dirty="0" err="1"/>
              <a:t>lokalnim</a:t>
            </a:r>
            <a:r>
              <a:rPr lang="en-US" dirty="0"/>
              <a:t> </a:t>
            </a:r>
            <a:r>
              <a:rPr lang="en-US" dirty="0" err="1"/>
              <a:t>presudama</a:t>
            </a:r>
            <a:r>
              <a:rPr lang="en-US" dirty="0"/>
              <a:t> </a:t>
            </a:r>
            <a:r>
              <a:rPr lang="en-US" dirty="0" err="1"/>
              <a:t>iz</a:t>
            </a:r>
            <a:r>
              <a:rPr lang="en-US" dirty="0"/>
              <a:t> </a:t>
            </a:r>
            <a:r>
              <a:rPr lang="en-US" dirty="0" err="1"/>
              <a:t>arhive</a:t>
            </a:r>
            <a:r>
              <a:rPr lang="en-US" dirty="0"/>
              <a:t> </a:t>
            </a:r>
            <a:r>
              <a:rPr lang="en-US" dirty="0" err="1"/>
              <a:t>projekta</a:t>
            </a:r>
            <a:r>
              <a:rPr lang="en-US" dirty="0"/>
              <a:t>.</a:t>
            </a:r>
          </a:p>
          <a:p>
            <a:r>
              <a:rPr lang="en-US" dirty="0" err="1"/>
              <a:t>Putanja</a:t>
            </a:r>
            <a:r>
              <a:rPr lang="en-US" dirty="0"/>
              <a:t> archive/</a:t>
            </a:r>
            <a:r>
              <a:rPr lang="en-US" dirty="0" err="1"/>
              <a:t>presude</a:t>
            </a:r>
            <a:r>
              <a:rPr lang="en-US" dirty="0"/>
              <a:t>, </a:t>
            </a:r>
            <a:r>
              <a:rPr lang="en-US" dirty="0" err="1"/>
              <a:t>tamo</a:t>
            </a:r>
            <a:r>
              <a:rPr lang="en-US" dirty="0"/>
              <a:t> se </a:t>
            </a:r>
            <a:r>
              <a:rPr lang="en-US" dirty="0" err="1"/>
              <a:t>nalaze</a:t>
            </a:r>
            <a:r>
              <a:rPr lang="en-US" dirty="0"/>
              <a:t> </a:t>
            </a:r>
            <a:r>
              <a:rPr lang="en-US" dirty="0" err="1"/>
              <a:t>sve</a:t>
            </a:r>
            <a:r>
              <a:rPr lang="en-US" dirty="0"/>
              <a:t> </a:t>
            </a:r>
            <a:r>
              <a:rPr lang="en-US" dirty="0" err="1"/>
              <a:t>presude</a:t>
            </a:r>
            <a:r>
              <a:rPr lang="en-US" dirty="0"/>
              <a:t> u .txt </a:t>
            </a:r>
            <a:r>
              <a:rPr lang="en-US" dirty="0" err="1"/>
              <a:t>formatu</a:t>
            </a:r>
            <a:r>
              <a:rPr lang="en-US" dirty="0"/>
              <a:t>.</a:t>
            </a:r>
          </a:p>
          <a:p>
            <a:endParaRPr lang="en-US" dirty="0"/>
          </a:p>
        </p:txBody>
      </p:sp>
      <p:pic>
        <p:nvPicPr>
          <p:cNvPr id="5" name="Picture 4">
            <a:extLst>
              <a:ext uri="{FF2B5EF4-FFF2-40B4-BE49-F238E27FC236}">
                <a16:creationId xmlns:a16="http://schemas.microsoft.com/office/drawing/2014/main" id="{A604EEC8-E02A-47BD-AC5D-DA25FCEAB1BD}"/>
              </a:ext>
            </a:extLst>
          </p:cNvPr>
          <p:cNvPicPr>
            <a:picLocks noChangeAspect="1"/>
          </p:cNvPicPr>
          <p:nvPr/>
        </p:nvPicPr>
        <p:blipFill>
          <a:blip r:embed="rId2"/>
          <a:stretch>
            <a:fillRect/>
          </a:stretch>
        </p:blipFill>
        <p:spPr>
          <a:xfrm>
            <a:off x="4523305" y="2316251"/>
            <a:ext cx="7668695" cy="4048690"/>
          </a:xfrm>
          <a:prstGeom prst="rect">
            <a:avLst/>
          </a:prstGeom>
        </p:spPr>
      </p:pic>
      <p:pic>
        <p:nvPicPr>
          <p:cNvPr id="7" name="Picture 6">
            <a:extLst>
              <a:ext uri="{FF2B5EF4-FFF2-40B4-BE49-F238E27FC236}">
                <a16:creationId xmlns:a16="http://schemas.microsoft.com/office/drawing/2014/main" id="{CE340CED-446D-4E47-95B1-B1CE0F6C2006}"/>
              </a:ext>
            </a:extLst>
          </p:cNvPr>
          <p:cNvPicPr>
            <a:picLocks noChangeAspect="1"/>
          </p:cNvPicPr>
          <p:nvPr/>
        </p:nvPicPr>
        <p:blipFill>
          <a:blip r:embed="rId3"/>
          <a:stretch>
            <a:fillRect/>
          </a:stretch>
        </p:blipFill>
        <p:spPr>
          <a:xfrm>
            <a:off x="5241126" y="141213"/>
            <a:ext cx="2086266" cy="1933845"/>
          </a:xfrm>
          <a:prstGeom prst="rect">
            <a:avLst/>
          </a:prstGeom>
        </p:spPr>
      </p:pic>
    </p:spTree>
    <p:extLst>
      <p:ext uri="{BB962C8B-B14F-4D97-AF65-F5344CB8AC3E}">
        <p14:creationId xmlns:p14="http://schemas.microsoft.com/office/powerpoint/2010/main" val="5477203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E177B4-320F-4436-AF8F-F68089AA6980}"/>
              </a:ext>
            </a:extLst>
          </p:cNvPr>
          <p:cNvSpPr>
            <a:spLocks noGrp="1"/>
          </p:cNvSpPr>
          <p:nvPr>
            <p:ph idx="1"/>
          </p:nvPr>
        </p:nvSpPr>
        <p:spPr>
          <a:xfrm>
            <a:off x="492454" y="493058"/>
            <a:ext cx="10353762" cy="5190565"/>
          </a:xfrm>
        </p:spPr>
        <p:txBody>
          <a:bodyPr>
            <a:normAutofit/>
          </a:bodyPr>
          <a:lstStyle/>
          <a:p>
            <a:r>
              <a:rPr lang="en-US" dirty="0" err="1"/>
              <a:t>Ako</a:t>
            </a:r>
            <a:r>
              <a:rPr lang="en-US" dirty="0"/>
              <a:t> je, </a:t>
            </a:r>
            <a:r>
              <a:rPr lang="en-US" dirty="0" err="1"/>
              <a:t>na</a:t>
            </a:r>
            <a:r>
              <a:rPr lang="en-US" dirty="0"/>
              <a:t> primer, u </a:t>
            </a:r>
            <a:r>
              <a:rPr lang="en-US" dirty="0" err="1"/>
              <a:t>arhivi</a:t>
            </a:r>
            <a:r>
              <a:rPr lang="en-US" dirty="0"/>
              <a:t> </a:t>
            </a:r>
            <a:r>
              <a:rPr lang="en-US" dirty="0" err="1"/>
              <a:t>mnogo</a:t>
            </a:r>
            <a:r>
              <a:rPr lang="en-US" dirty="0"/>
              <a:t> puta video </a:t>
            </a:r>
            <a:r>
              <a:rPr lang="en-US" dirty="0" err="1"/>
              <a:t>istu</a:t>
            </a:r>
            <a:r>
              <a:rPr lang="en-US" dirty="0"/>
              <a:t> </a:t>
            </a:r>
            <a:r>
              <a:rPr lang="en-US" dirty="0" err="1"/>
              <a:t>pravnu</a:t>
            </a:r>
            <a:r>
              <a:rPr lang="en-US" dirty="0"/>
              <a:t> </a:t>
            </a:r>
            <a:r>
              <a:rPr lang="en-US" dirty="0" err="1"/>
              <a:t>formulaciju</a:t>
            </a:r>
            <a:r>
              <a:rPr lang="en-US" dirty="0"/>
              <a:t>, taj </a:t>
            </a:r>
            <a:r>
              <a:rPr lang="en-US" dirty="0" err="1"/>
              <a:t>nastavak</a:t>
            </a:r>
            <a:r>
              <a:rPr lang="en-US" dirty="0"/>
              <a:t> </a:t>
            </a:r>
            <a:r>
              <a:rPr lang="en-US" dirty="0" err="1"/>
              <a:t>će</a:t>
            </a:r>
            <a:r>
              <a:rPr lang="en-US" dirty="0"/>
              <a:t> </a:t>
            </a:r>
            <a:r>
              <a:rPr lang="en-US" dirty="0" err="1"/>
              <a:t>imati</a:t>
            </a:r>
            <a:r>
              <a:rPr lang="en-US" dirty="0"/>
              <a:t> </a:t>
            </a:r>
            <a:r>
              <a:rPr lang="en-US" dirty="0" err="1"/>
              <a:t>veću</a:t>
            </a:r>
            <a:r>
              <a:rPr lang="en-US" dirty="0"/>
              <a:t> </a:t>
            </a:r>
            <a:r>
              <a:rPr lang="en-US" dirty="0" err="1"/>
              <a:t>verovatnoću</a:t>
            </a:r>
            <a:r>
              <a:rPr lang="en-US" dirty="0"/>
              <a:t> da </a:t>
            </a:r>
            <a:r>
              <a:rPr lang="en-US" dirty="0" err="1"/>
              <a:t>bude</a:t>
            </a:r>
            <a:r>
              <a:rPr lang="en-US" dirty="0"/>
              <a:t> </a:t>
            </a:r>
            <a:r>
              <a:rPr lang="en-US" dirty="0" err="1"/>
              <a:t>izabran</a:t>
            </a:r>
            <a:r>
              <a:rPr lang="en-US" dirty="0"/>
              <a:t> </a:t>
            </a:r>
            <a:r>
              <a:rPr lang="en-US" dirty="0" err="1"/>
              <a:t>tokom</a:t>
            </a:r>
            <a:r>
              <a:rPr lang="en-US" dirty="0"/>
              <a:t> </a:t>
            </a:r>
            <a:r>
              <a:rPr lang="en-US" dirty="0" err="1"/>
              <a:t>generisanja</a:t>
            </a:r>
            <a:r>
              <a:rPr lang="en-US" dirty="0"/>
              <a:t>.</a:t>
            </a:r>
          </a:p>
          <a:p>
            <a:r>
              <a:rPr lang="en-US" dirty="0" err="1"/>
              <a:t>Drugim</a:t>
            </a:r>
            <a:r>
              <a:rPr lang="en-US" dirty="0"/>
              <a:t> </a:t>
            </a:r>
            <a:r>
              <a:rPr lang="en-US" dirty="0" err="1"/>
              <a:t>rečima</a:t>
            </a:r>
            <a:r>
              <a:rPr lang="en-US" dirty="0"/>
              <a:t>, model ne “</a:t>
            </a:r>
            <a:r>
              <a:rPr lang="en-US" dirty="0" err="1"/>
              <a:t>razume</a:t>
            </a:r>
            <a:r>
              <a:rPr lang="en-US" dirty="0"/>
              <a:t>” </a:t>
            </a:r>
            <a:r>
              <a:rPr lang="en-US" dirty="0" err="1"/>
              <a:t>pravo</a:t>
            </a:r>
            <a:r>
              <a:rPr lang="en-US" dirty="0"/>
              <a:t> </a:t>
            </a:r>
            <a:r>
              <a:rPr lang="en-US" dirty="0" err="1"/>
              <a:t>kao</a:t>
            </a:r>
            <a:r>
              <a:rPr lang="en-US" dirty="0"/>
              <a:t> </a:t>
            </a:r>
            <a:r>
              <a:rPr lang="en-US" dirty="0" err="1"/>
              <a:t>čovek</a:t>
            </a:r>
            <a:r>
              <a:rPr lang="en-US" dirty="0"/>
              <a:t>, </a:t>
            </a:r>
            <a:r>
              <a:rPr lang="en-US" dirty="0" err="1"/>
              <a:t>već</a:t>
            </a:r>
            <a:r>
              <a:rPr lang="en-US" dirty="0"/>
              <a:t> </a:t>
            </a:r>
            <a:r>
              <a:rPr lang="en-US" dirty="0" err="1"/>
              <a:t>uči</a:t>
            </a:r>
            <a:r>
              <a:rPr lang="en-US" dirty="0"/>
              <a:t> </a:t>
            </a:r>
            <a:r>
              <a:rPr lang="en-US" dirty="0" err="1"/>
              <a:t>obrasce</a:t>
            </a:r>
            <a:r>
              <a:rPr lang="en-US" dirty="0"/>
              <a:t> </a:t>
            </a:r>
            <a:r>
              <a:rPr lang="en-US" dirty="0" err="1"/>
              <a:t>pisanja</a:t>
            </a:r>
            <a:r>
              <a:rPr lang="en-US" dirty="0"/>
              <a:t> </a:t>
            </a:r>
            <a:r>
              <a:rPr lang="en-US" dirty="0" err="1"/>
              <a:t>i</a:t>
            </a:r>
            <a:r>
              <a:rPr lang="en-US" dirty="0"/>
              <a:t> </a:t>
            </a:r>
            <a:r>
              <a:rPr lang="en-US" dirty="0" err="1"/>
              <a:t>učestalost</a:t>
            </a:r>
            <a:r>
              <a:rPr lang="en-US" dirty="0"/>
              <a:t> </a:t>
            </a:r>
            <a:r>
              <a:rPr lang="en-US" dirty="0" err="1"/>
              <a:t>prelaza</a:t>
            </a:r>
            <a:r>
              <a:rPr lang="en-US" dirty="0"/>
              <a:t> </a:t>
            </a:r>
            <a:r>
              <a:rPr lang="en-US" dirty="0" err="1"/>
              <a:t>između</a:t>
            </a:r>
            <a:r>
              <a:rPr lang="en-US" dirty="0"/>
              <a:t> </a:t>
            </a:r>
            <a:r>
              <a:rPr lang="en-US" dirty="0" err="1"/>
              <a:t>reči</a:t>
            </a:r>
            <a:r>
              <a:rPr lang="en-US" dirty="0"/>
              <a:t>.</a:t>
            </a:r>
          </a:p>
          <a:p>
            <a:r>
              <a:rPr lang="en-US" dirty="0" err="1"/>
              <a:t>Izbor</a:t>
            </a:r>
            <a:r>
              <a:rPr lang="en-US" dirty="0"/>
              <a:t> je </a:t>
            </a:r>
            <a:r>
              <a:rPr lang="en-US" dirty="0" err="1"/>
              <a:t>ponderisan</a:t>
            </a:r>
            <a:r>
              <a:rPr lang="en-US" dirty="0"/>
              <a:t>: </a:t>
            </a:r>
            <a:r>
              <a:rPr lang="en-US" dirty="0" err="1"/>
              <a:t>češći</a:t>
            </a:r>
            <a:r>
              <a:rPr lang="en-US" dirty="0"/>
              <a:t> </a:t>
            </a:r>
            <a:r>
              <a:rPr lang="en-US" dirty="0" err="1"/>
              <a:t>nastavci</a:t>
            </a:r>
            <a:r>
              <a:rPr lang="en-US" dirty="0"/>
              <a:t> </a:t>
            </a:r>
            <a:r>
              <a:rPr lang="en-US" dirty="0" err="1"/>
              <a:t>imaju</a:t>
            </a:r>
            <a:r>
              <a:rPr lang="en-US" dirty="0"/>
              <a:t> </a:t>
            </a:r>
            <a:r>
              <a:rPr lang="en-US" dirty="0" err="1"/>
              <a:t>veću</a:t>
            </a:r>
            <a:r>
              <a:rPr lang="en-US" dirty="0"/>
              <a:t> </a:t>
            </a:r>
            <a:r>
              <a:rPr lang="en-US" dirty="0" err="1"/>
              <a:t>šansu</a:t>
            </a:r>
            <a:r>
              <a:rPr lang="en-US" dirty="0"/>
              <a:t>, pa </a:t>
            </a:r>
            <a:r>
              <a:rPr lang="en-US" dirty="0" err="1"/>
              <a:t>rezultat</a:t>
            </a:r>
            <a:r>
              <a:rPr lang="en-US" dirty="0"/>
              <a:t> </a:t>
            </a:r>
            <a:r>
              <a:rPr lang="en-US" dirty="0" err="1"/>
              <a:t>prirodno</a:t>
            </a:r>
            <a:r>
              <a:rPr lang="en-US" dirty="0"/>
              <a:t> </a:t>
            </a:r>
            <a:r>
              <a:rPr lang="en-US" dirty="0" err="1"/>
              <a:t>liči</a:t>
            </a:r>
            <a:r>
              <a:rPr lang="en-US" dirty="0"/>
              <a:t> </a:t>
            </a:r>
            <a:r>
              <a:rPr lang="en-US" dirty="0" err="1"/>
              <a:t>na</a:t>
            </a:r>
            <a:r>
              <a:rPr lang="en-US" dirty="0"/>
              <a:t> </a:t>
            </a:r>
            <a:r>
              <a:rPr lang="en-US" dirty="0" err="1"/>
              <a:t>stil</a:t>
            </a:r>
            <a:r>
              <a:rPr lang="en-US" dirty="0"/>
              <a:t> </a:t>
            </a:r>
            <a:r>
              <a:rPr lang="en-US" dirty="0" err="1"/>
              <a:t>sudskih</a:t>
            </a:r>
            <a:r>
              <a:rPr lang="en-US" dirty="0"/>
              <a:t> </a:t>
            </a:r>
            <a:r>
              <a:rPr lang="en-US" dirty="0" err="1"/>
              <a:t>odluka</a:t>
            </a:r>
            <a:r>
              <a:rPr lang="en-US" dirty="0"/>
              <a:t> </a:t>
            </a:r>
            <a:r>
              <a:rPr lang="en-US" dirty="0" err="1"/>
              <a:t>iz</a:t>
            </a:r>
            <a:r>
              <a:rPr lang="en-US" dirty="0"/>
              <a:t> </a:t>
            </a:r>
            <a:r>
              <a:rPr lang="en-US" dirty="0" err="1"/>
              <a:t>trening</a:t>
            </a:r>
            <a:r>
              <a:rPr lang="en-US" dirty="0"/>
              <a:t> </a:t>
            </a:r>
            <a:r>
              <a:rPr lang="en-US" dirty="0" err="1"/>
              <a:t>skupa</a:t>
            </a:r>
            <a:endParaRPr lang="en-US" dirty="0"/>
          </a:p>
          <a:p>
            <a:r>
              <a:rPr lang="en-US" dirty="0" err="1"/>
              <a:t>Ako</a:t>
            </a:r>
            <a:r>
              <a:rPr lang="en-US" dirty="0"/>
              <a:t> </a:t>
            </a:r>
            <a:r>
              <a:rPr lang="en-US" dirty="0" err="1"/>
              <a:t>su</a:t>
            </a:r>
            <a:r>
              <a:rPr lang="en-US" dirty="0"/>
              <a:t> </a:t>
            </a:r>
            <a:r>
              <a:rPr lang="en-US" dirty="0" err="1"/>
              <a:t>prve</a:t>
            </a:r>
            <a:r>
              <a:rPr lang="en-US" dirty="0"/>
              <a:t> </a:t>
            </a:r>
            <a:r>
              <a:rPr lang="en-US" dirty="0" err="1"/>
              <a:t>dve</a:t>
            </a:r>
            <a:r>
              <a:rPr lang="en-US" dirty="0"/>
              <a:t> </a:t>
            </a:r>
            <a:r>
              <a:rPr lang="en-US" dirty="0" err="1"/>
              <a:t>reči</a:t>
            </a:r>
            <a:r>
              <a:rPr lang="en-US" dirty="0"/>
              <a:t>: “</a:t>
            </a:r>
            <a:r>
              <a:rPr lang="en-US" dirty="0" err="1"/>
              <a:t>sud</a:t>
            </a:r>
            <a:r>
              <a:rPr lang="en-US" dirty="0"/>
              <a:t> je”, u </a:t>
            </a:r>
            <a:r>
              <a:rPr lang="en-US" dirty="0" err="1"/>
              <a:t>podacima</a:t>
            </a:r>
            <a:r>
              <a:rPr lang="en-US" dirty="0"/>
              <a:t> </a:t>
            </a:r>
            <a:r>
              <a:rPr lang="en-US" dirty="0" err="1"/>
              <a:t>može</a:t>
            </a:r>
            <a:r>
              <a:rPr lang="en-US" dirty="0"/>
              <a:t> da </a:t>
            </a:r>
            <a:r>
              <a:rPr lang="en-US" dirty="0" err="1"/>
              <a:t>stoji</a:t>
            </a:r>
            <a:r>
              <a:rPr lang="en-US" dirty="0"/>
              <a:t>:</a:t>
            </a:r>
          </a:p>
          <a:p>
            <a:pPr marL="414000" lvl="1" indent="0">
              <a:buNone/>
            </a:pPr>
            <a:r>
              <a:rPr lang="en-US" dirty="0"/>
              <a:t>“</a:t>
            </a:r>
            <a:r>
              <a:rPr lang="en-US" dirty="0" err="1"/>
              <a:t>sud</a:t>
            </a:r>
            <a:r>
              <a:rPr lang="en-US" dirty="0"/>
              <a:t> je </a:t>
            </a:r>
            <a:r>
              <a:rPr lang="en-US" dirty="0" err="1"/>
              <a:t>cijenio</a:t>
            </a:r>
            <a:r>
              <a:rPr lang="en-US" dirty="0"/>
              <a:t>” (18 puta)</a:t>
            </a:r>
          </a:p>
          <a:p>
            <a:pPr marL="414000" lvl="1" indent="0">
              <a:buNone/>
            </a:pPr>
            <a:r>
              <a:rPr lang="en-US" dirty="0"/>
              <a:t>“</a:t>
            </a:r>
            <a:r>
              <a:rPr lang="en-US" dirty="0" err="1"/>
              <a:t>sud</a:t>
            </a:r>
            <a:r>
              <a:rPr lang="en-US" dirty="0"/>
              <a:t> je </a:t>
            </a:r>
            <a:r>
              <a:rPr lang="en-US" dirty="0" err="1"/>
              <a:t>utvrdio</a:t>
            </a:r>
            <a:r>
              <a:rPr lang="en-US" dirty="0"/>
              <a:t>” (9 puta)</a:t>
            </a:r>
          </a:p>
          <a:p>
            <a:pPr marL="414000" lvl="1" indent="0">
              <a:buNone/>
            </a:pPr>
            <a:r>
              <a:rPr lang="en-US" dirty="0"/>
              <a:t>“</a:t>
            </a:r>
            <a:r>
              <a:rPr lang="en-US" dirty="0" err="1"/>
              <a:t>sud</a:t>
            </a:r>
            <a:r>
              <a:rPr lang="en-US" dirty="0"/>
              <a:t> je </a:t>
            </a:r>
            <a:r>
              <a:rPr lang="en-US" dirty="0" err="1"/>
              <a:t>našao</a:t>
            </a:r>
            <a:r>
              <a:rPr lang="en-US" dirty="0"/>
              <a:t>” (4 puta)</a:t>
            </a:r>
          </a:p>
          <a:p>
            <a:r>
              <a:rPr lang="en-US" dirty="0"/>
              <a:t>Markov model </a:t>
            </a:r>
            <a:r>
              <a:rPr lang="en-US" dirty="0" err="1"/>
              <a:t>onda</a:t>
            </a:r>
            <a:r>
              <a:rPr lang="en-US" dirty="0"/>
              <a:t> za </a:t>
            </a:r>
            <a:r>
              <a:rPr lang="en-US" dirty="0" err="1"/>
              <a:t>treću</a:t>
            </a:r>
            <a:r>
              <a:rPr lang="en-US" dirty="0"/>
              <a:t> </a:t>
            </a:r>
            <a:r>
              <a:rPr lang="en-US" dirty="0" err="1"/>
              <a:t>reč</a:t>
            </a:r>
            <a:r>
              <a:rPr lang="en-US" dirty="0"/>
              <a:t> </a:t>
            </a:r>
            <a:r>
              <a:rPr lang="en-US" dirty="0" err="1"/>
              <a:t>bira</a:t>
            </a:r>
            <a:r>
              <a:rPr lang="en-US" dirty="0"/>
              <a:t> </a:t>
            </a:r>
            <a:r>
              <a:rPr lang="en-US" dirty="0" err="1"/>
              <a:t>neku</a:t>
            </a:r>
            <a:r>
              <a:rPr lang="en-US" dirty="0"/>
              <a:t> od </a:t>
            </a:r>
            <a:r>
              <a:rPr lang="en-US" dirty="0" err="1"/>
              <a:t>ove</a:t>
            </a:r>
            <a:r>
              <a:rPr lang="en-US" dirty="0"/>
              <a:t> 3, </a:t>
            </a:r>
            <a:r>
              <a:rPr lang="en-US" dirty="0" err="1"/>
              <a:t>ali</a:t>
            </a:r>
            <a:r>
              <a:rPr lang="en-US" dirty="0"/>
              <a:t> </a:t>
            </a:r>
            <a:r>
              <a:rPr lang="en-US" dirty="0" err="1"/>
              <a:t>najčešće</a:t>
            </a:r>
            <a:r>
              <a:rPr lang="en-US" dirty="0"/>
              <a:t> </a:t>
            </a:r>
            <a:r>
              <a:rPr lang="en-US" dirty="0" err="1"/>
              <a:t>bira</a:t>
            </a:r>
            <a:r>
              <a:rPr lang="en-US" dirty="0"/>
              <a:t> “</a:t>
            </a:r>
            <a:r>
              <a:rPr lang="en-US" dirty="0" err="1"/>
              <a:t>cijenio</a:t>
            </a:r>
            <a:r>
              <a:rPr lang="en-US" dirty="0"/>
              <a:t>” </a:t>
            </a:r>
            <a:r>
              <a:rPr lang="en-US" dirty="0" err="1"/>
              <a:t>jer</a:t>
            </a:r>
            <a:r>
              <a:rPr lang="en-US" dirty="0"/>
              <a:t> se </a:t>
            </a:r>
            <a:r>
              <a:rPr lang="en-US" dirty="0" err="1"/>
              <a:t>najviše</a:t>
            </a:r>
            <a:r>
              <a:rPr lang="en-US" dirty="0"/>
              <a:t> puta </a:t>
            </a:r>
            <a:r>
              <a:rPr lang="en-US" dirty="0" err="1"/>
              <a:t>pojavila</a:t>
            </a:r>
            <a:r>
              <a:rPr lang="en-US" dirty="0"/>
              <a:t>.</a:t>
            </a:r>
          </a:p>
          <a:p>
            <a:endParaRPr lang="en-US" dirty="0"/>
          </a:p>
        </p:txBody>
      </p:sp>
    </p:spTree>
    <p:extLst>
      <p:ext uri="{BB962C8B-B14F-4D97-AF65-F5344CB8AC3E}">
        <p14:creationId xmlns:p14="http://schemas.microsoft.com/office/powerpoint/2010/main" val="22271220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FDB1-1A58-38A9-F773-160CE9258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E4581A-CF52-5888-0C4A-428A103D0FFD}"/>
              </a:ext>
            </a:extLst>
          </p:cNvPr>
          <p:cNvSpPr>
            <a:spLocks noGrp="1"/>
          </p:cNvSpPr>
          <p:nvPr>
            <p:ph idx="1"/>
          </p:nvPr>
        </p:nvSpPr>
        <p:spPr>
          <a:xfrm>
            <a:off x="0" y="175564"/>
            <a:ext cx="11785520" cy="4058751"/>
          </a:xfrm>
        </p:spPr>
        <p:txBody>
          <a:bodyPr/>
          <a:lstStyle/>
          <a:p>
            <a:r>
              <a:rPr lang="sr-Latn-RS" dirty="0"/>
              <a:t>Dobijamo rezultate nad našim sučajem, izvršeno ja rasudjivanje po pravilima i po slučajevima nad novom sudskom presudom</a:t>
            </a:r>
            <a:r>
              <a:rPr lang="en-US" dirty="0"/>
              <a:t>.</a:t>
            </a:r>
          </a:p>
        </p:txBody>
      </p:sp>
      <p:pic>
        <p:nvPicPr>
          <p:cNvPr id="4" name="Picture 3">
            <a:extLst>
              <a:ext uri="{FF2B5EF4-FFF2-40B4-BE49-F238E27FC236}">
                <a16:creationId xmlns:a16="http://schemas.microsoft.com/office/drawing/2014/main" id="{315BD996-E8E6-0CBA-018C-20FB5920829F}"/>
              </a:ext>
            </a:extLst>
          </p:cNvPr>
          <p:cNvPicPr>
            <a:picLocks noChangeAspect="1"/>
          </p:cNvPicPr>
          <p:nvPr/>
        </p:nvPicPr>
        <p:blipFill>
          <a:blip r:embed="rId2"/>
          <a:stretch>
            <a:fillRect/>
          </a:stretch>
        </p:blipFill>
        <p:spPr>
          <a:xfrm>
            <a:off x="0" y="1766508"/>
            <a:ext cx="12192000" cy="4161561"/>
          </a:xfrm>
          <a:prstGeom prst="rect">
            <a:avLst/>
          </a:prstGeom>
        </p:spPr>
      </p:pic>
    </p:spTree>
    <p:extLst>
      <p:ext uri="{BB962C8B-B14F-4D97-AF65-F5344CB8AC3E}">
        <p14:creationId xmlns:p14="http://schemas.microsoft.com/office/powerpoint/2010/main" val="153540440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E68F-15E2-0E4F-8C7E-83F8522585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69B3D-132A-9DD9-3FC0-AD0C746EA424}"/>
              </a:ext>
            </a:extLst>
          </p:cNvPr>
          <p:cNvSpPr>
            <a:spLocks noGrp="1"/>
          </p:cNvSpPr>
          <p:nvPr>
            <p:ph idx="1"/>
          </p:nvPr>
        </p:nvSpPr>
        <p:spPr>
          <a:xfrm>
            <a:off x="121134" y="126925"/>
            <a:ext cx="3935299" cy="5057918"/>
          </a:xfrm>
        </p:spPr>
        <p:txBody>
          <a:bodyPr/>
          <a:lstStyle/>
          <a:p>
            <a:r>
              <a:rPr lang="sr-Latn-RS" dirty="0"/>
              <a:t>Dobijamo preporučenu kaznu na osnovu prethodna 2 rasudjivanja, vidimo koji </a:t>
            </a:r>
            <a:r>
              <a:rPr lang="en-US" dirty="0"/>
              <a:t>č</a:t>
            </a:r>
            <a:r>
              <a:rPr lang="sr-Latn-RS" dirty="0"/>
              <a:t>lanovi su primenjeni.</a:t>
            </a:r>
          </a:p>
          <a:p>
            <a:r>
              <a:rPr lang="sr-Latn-RS" dirty="0"/>
              <a:t>Automatski je izgenerisan uvod, činjenicno stanje i obrazloženje i ispod će sudiji biti dozvoljeno da donese finalnu odluku o dužini i tipu presude.</a:t>
            </a:r>
          </a:p>
          <a:p>
            <a:r>
              <a:rPr lang="sr-Latn-RS" dirty="0"/>
              <a:t>Kada sudija donese tu odluku onda će se sačuvati nova presuda nad kojom će moće da se rade iste operacije kao i nad onima koje nisu ručno unešene</a:t>
            </a:r>
            <a:r>
              <a:rPr lang="en-US" dirty="0"/>
              <a:t>.</a:t>
            </a:r>
          </a:p>
        </p:txBody>
      </p:sp>
      <p:pic>
        <p:nvPicPr>
          <p:cNvPr id="4" name="Picture 3">
            <a:extLst>
              <a:ext uri="{FF2B5EF4-FFF2-40B4-BE49-F238E27FC236}">
                <a16:creationId xmlns:a16="http://schemas.microsoft.com/office/drawing/2014/main" id="{0061E62D-F34C-4CDA-B846-9D22AC17DE0A}"/>
              </a:ext>
            </a:extLst>
          </p:cNvPr>
          <p:cNvPicPr>
            <a:picLocks noChangeAspect="1"/>
          </p:cNvPicPr>
          <p:nvPr/>
        </p:nvPicPr>
        <p:blipFill>
          <a:blip r:embed="rId2"/>
          <a:stretch>
            <a:fillRect/>
          </a:stretch>
        </p:blipFill>
        <p:spPr>
          <a:xfrm>
            <a:off x="4170451" y="-63230"/>
            <a:ext cx="8021549" cy="6858000"/>
          </a:xfrm>
          <a:prstGeom prst="rect">
            <a:avLst/>
          </a:prstGeom>
        </p:spPr>
      </p:pic>
    </p:spTree>
    <p:extLst>
      <p:ext uri="{BB962C8B-B14F-4D97-AF65-F5344CB8AC3E}">
        <p14:creationId xmlns:p14="http://schemas.microsoft.com/office/powerpoint/2010/main" val="2474050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F12D-2C09-965E-7411-2E3D375FB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F1A5B-A48F-3D99-B1B2-36D4FBE0E65E}"/>
              </a:ext>
            </a:extLst>
          </p:cNvPr>
          <p:cNvSpPr>
            <a:spLocks noGrp="1"/>
          </p:cNvSpPr>
          <p:nvPr>
            <p:ph idx="1"/>
          </p:nvPr>
        </p:nvSpPr>
        <p:spPr>
          <a:xfrm>
            <a:off x="-5324" y="311518"/>
            <a:ext cx="1995348" cy="6234964"/>
          </a:xfrm>
        </p:spPr>
        <p:txBody>
          <a:bodyPr>
            <a:normAutofit/>
          </a:bodyPr>
          <a:lstStyle/>
          <a:p>
            <a:pPr marL="36900" indent="0">
              <a:buNone/>
            </a:pPr>
            <a:r>
              <a:rPr lang="sr-Latn-RS" dirty="0"/>
              <a:t>Sudija ima opciju da promeni vrstu presude, uslovna, zatvor a može i da oslobodi, takodje može da menja dužinu kazne, i može naknadno da doda novčanu kaznu</a:t>
            </a:r>
            <a:r>
              <a:rPr lang="en-US" dirty="0"/>
              <a:t>.</a:t>
            </a:r>
          </a:p>
        </p:txBody>
      </p:sp>
      <p:pic>
        <p:nvPicPr>
          <p:cNvPr id="5" name="Picture 4">
            <a:extLst>
              <a:ext uri="{FF2B5EF4-FFF2-40B4-BE49-F238E27FC236}">
                <a16:creationId xmlns:a16="http://schemas.microsoft.com/office/drawing/2014/main" id="{C757C5C7-5885-6352-94F1-9242582535CB}"/>
              </a:ext>
            </a:extLst>
          </p:cNvPr>
          <p:cNvPicPr>
            <a:picLocks noChangeAspect="1"/>
          </p:cNvPicPr>
          <p:nvPr/>
        </p:nvPicPr>
        <p:blipFill>
          <a:blip r:embed="rId2"/>
          <a:stretch>
            <a:fillRect/>
          </a:stretch>
        </p:blipFill>
        <p:spPr>
          <a:xfrm>
            <a:off x="1990024" y="109074"/>
            <a:ext cx="10040751" cy="6639852"/>
          </a:xfrm>
          <a:prstGeom prst="rect">
            <a:avLst/>
          </a:prstGeom>
        </p:spPr>
      </p:pic>
    </p:spTree>
    <p:extLst>
      <p:ext uri="{BB962C8B-B14F-4D97-AF65-F5344CB8AC3E}">
        <p14:creationId xmlns:p14="http://schemas.microsoft.com/office/powerpoint/2010/main" val="33026112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1E048-7DA5-A8D7-C42C-89821B23D93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A193807-FDE5-761B-836E-72936728955E}"/>
              </a:ext>
            </a:extLst>
          </p:cNvPr>
          <p:cNvPicPr>
            <a:picLocks noChangeAspect="1"/>
          </p:cNvPicPr>
          <p:nvPr/>
        </p:nvPicPr>
        <p:blipFill>
          <a:blip r:embed="rId2"/>
          <a:stretch>
            <a:fillRect/>
          </a:stretch>
        </p:blipFill>
        <p:spPr>
          <a:xfrm>
            <a:off x="1359336" y="1570423"/>
            <a:ext cx="10193173" cy="2705478"/>
          </a:xfrm>
          <a:prstGeom prst="rect">
            <a:avLst/>
          </a:prstGeom>
        </p:spPr>
      </p:pic>
      <p:pic>
        <p:nvPicPr>
          <p:cNvPr id="5" name="Picture 4">
            <a:extLst>
              <a:ext uri="{FF2B5EF4-FFF2-40B4-BE49-F238E27FC236}">
                <a16:creationId xmlns:a16="http://schemas.microsoft.com/office/drawing/2014/main" id="{AA5298A3-F380-77D8-E5EB-FB5CA9F44C9D}"/>
              </a:ext>
            </a:extLst>
          </p:cNvPr>
          <p:cNvPicPr>
            <a:picLocks noChangeAspect="1"/>
          </p:cNvPicPr>
          <p:nvPr/>
        </p:nvPicPr>
        <p:blipFill>
          <a:blip r:embed="rId3"/>
          <a:stretch>
            <a:fillRect/>
          </a:stretch>
        </p:blipFill>
        <p:spPr>
          <a:xfrm>
            <a:off x="3814523" y="4439647"/>
            <a:ext cx="4363059" cy="933580"/>
          </a:xfrm>
          <a:prstGeom prst="rect">
            <a:avLst/>
          </a:prstGeom>
        </p:spPr>
      </p:pic>
      <p:sp>
        <p:nvSpPr>
          <p:cNvPr id="6" name="Content Placeholder 2">
            <a:extLst>
              <a:ext uri="{FF2B5EF4-FFF2-40B4-BE49-F238E27FC236}">
                <a16:creationId xmlns:a16="http://schemas.microsoft.com/office/drawing/2014/main" id="{261126DA-AB3F-D204-2C29-140853634252}"/>
              </a:ext>
            </a:extLst>
          </p:cNvPr>
          <p:cNvSpPr>
            <a:spLocks noGrp="1"/>
          </p:cNvSpPr>
          <p:nvPr>
            <p:ph idx="1"/>
          </p:nvPr>
        </p:nvSpPr>
        <p:spPr>
          <a:xfrm>
            <a:off x="0" y="612844"/>
            <a:ext cx="10353762" cy="821510"/>
          </a:xfrm>
        </p:spPr>
        <p:txBody>
          <a:bodyPr/>
          <a:lstStyle/>
          <a:p>
            <a:r>
              <a:rPr lang="sr-Latn-RS" dirty="0"/>
              <a:t>Sudija je odlučio da danas bude blag i da smanji kaznu sa 6 meseci na 3 meseca</a:t>
            </a:r>
            <a:r>
              <a:rPr lang="en-US" dirty="0"/>
              <a:t>.</a:t>
            </a:r>
          </a:p>
        </p:txBody>
      </p:sp>
      <p:sp>
        <p:nvSpPr>
          <p:cNvPr id="7" name="Content Placeholder 2">
            <a:extLst>
              <a:ext uri="{FF2B5EF4-FFF2-40B4-BE49-F238E27FC236}">
                <a16:creationId xmlns:a16="http://schemas.microsoft.com/office/drawing/2014/main" id="{BAC27013-E618-4900-95C2-5D09AD0C8663}"/>
              </a:ext>
            </a:extLst>
          </p:cNvPr>
          <p:cNvSpPr txBox="1">
            <a:spLocks/>
          </p:cNvSpPr>
          <p:nvPr/>
        </p:nvSpPr>
        <p:spPr>
          <a:xfrm>
            <a:off x="274909" y="5734196"/>
            <a:ext cx="11277600" cy="821510"/>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Time smo zatvorili petlju: unos -&gt; rasuđivanje -&gt; odluka sudije -&gt; čuvanje -&gt; ponovno rasuđivanje</a:t>
            </a:r>
            <a:r>
              <a:rPr lang="en-US" dirty="0"/>
              <a:t>.</a:t>
            </a:r>
          </a:p>
        </p:txBody>
      </p:sp>
    </p:spTree>
    <p:extLst>
      <p:ext uri="{BB962C8B-B14F-4D97-AF65-F5344CB8AC3E}">
        <p14:creationId xmlns:p14="http://schemas.microsoft.com/office/powerpoint/2010/main" val="31147595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75391-42C2-EF64-6AEB-5EB0DD1703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86A9AE-4243-5833-6C19-7BEB09078575}"/>
              </a:ext>
            </a:extLst>
          </p:cNvPr>
          <p:cNvSpPr>
            <a:spLocks noGrp="1"/>
          </p:cNvSpPr>
          <p:nvPr>
            <p:ph idx="1"/>
          </p:nvPr>
        </p:nvSpPr>
        <p:spPr>
          <a:xfrm>
            <a:off x="0" y="194959"/>
            <a:ext cx="10353762" cy="4058751"/>
          </a:xfrm>
        </p:spPr>
        <p:txBody>
          <a:bodyPr/>
          <a:lstStyle/>
          <a:p>
            <a:r>
              <a:rPr lang="sr-Latn-RS" dirty="0"/>
              <a:t>Novi slučaj</a:t>
            </a:r>
            <a:r>
              <a:rPr lang="en-US" dirty="0"/>
              <a:t> je</a:t>
            </a:r>
            <a:r>
              <a:rPr lang="sr-Latn-RS" dirty="0"/>
              <a:t> vidljiv u bazi slučajeva</a:t>
            </a:r>
            <a:r>
              <a:rPr lang="en-US" dirty="0"/>
              <a:t>.</a:t>
            </a:r>
          </a:p>
        </p:txBody>
      </p:sp>
      <p:pic>
        <p:nvPicPr>
          <p:cNvPr id="6" name="Picture 5">
            <a:extLst>
              <a:ext uri="{FF2B5EF4-FFF2-40B4-BE49-F238E27FC236}">
                <a16:creationId xmlns:a16="http://schemas.microsoft.com/office/drawing/2014/main" id="{D31B2C44-96EB-59FB-2DA0-FFD62A69BC8D}"/>
              </a:ext>
            </a:extLst>
          </p:cNvPr>
          <p:cNvPicPr>
            <a:picLocks noChangeAspect="1"/>
          </p:cNvPicPr>
          <p:nvPr/>
        </p:nvPicPr>
        <p:blipFill>
          <a:blip r:embed="rId2"/>
          <a:stretch>
            <a:fillRect/>
          </a:stretch>
        </p:blipFill>
        <p:spPr>
          <a:xfrm>
            <a:off x="0" y="1221929"/>
            <a:ext cx="12192000" cy="5441112"/>
          </a:xfrm>
          <a:prstGeom prst="rect">
            <a:avLst/>
          </a:prstGeom>
        </p:spPr>
      </p:pic>
    </p:spTree>
    <p:extLst>
      <p:ext uri="{BB962C8B-B14F-4D97-AF65-F5344CB8AC3E}">
        <p14:creationId xmlns:p14="http://schemas.microsoft.com/office/powerpoint/2010/main" val="29726241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7097A-990D-E636-1FCE-1ABA73194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370DF9-1ADC-B3A1-6788-6E878287F979}"/>
              </a:ext>
            </a:extLst>
          </p:cNvPr>
          <p:cNvSpPr>
            <a:spLocks noGrp="1"/>
          </p:cNvSpPr>
          <p:nvPr>
            <p:ph idx="1"/>
          </p:nvPr>
        </p:nvSpPr>
        <p:spPr>
          <a:xfrm>
            <a:off x="5324" y="129012"/>
            <a:ext cx="10353762" cy="4058751"/>
          </a:xfrm>
        </p:spPr>
        <p:txBody>
          <a:bodyPr/>
          <a:lstStyle/>
          <a:p>
            <a:r>
              <a:rPr lang="sr-Latn-RS" dirty="0"/>
              <a:t>Pozivanje rasudjivanja po pravilima nad novo dodatim slučajem</a:t>
            </a:r>
            <a:r>
              <a:rPr lang="en-US" dirty="0"/>
              <a:t>.</a:t>
            </a:r>
          </a:p>
        </p:txBody>
      </p:sp>
      <p:pic>
        <p:nvPicPr>
          <p:cNvPr id="4" name="Picture 3">
            <a:extLst>
              <a:ext uri="{FF2B5EF4-FFF2-40B4-BE49-F238E27FC236}">
                <a16:creationId xmlns:a16="http://schemas.microsoft.com/office/drawing/2014/main" id="{D29DCC12-C679-5091-BBE8-FCD813D7BDDD}"/>
              </a:ext>
            </a:extLst>
          </p:cNvPr>
          <p:cNvPicPr>
            <a:picLocks noChangeAspect="1"/>
          </p:cNvPicPr>
          <p:nvPr/>
        </p:nvPicPr>
        <p:blipFill>
          <a:blip r:embed="rId2"/>
          <a:stretch>
            <a:fillRect/>
          </a:stretch>
        </p:blipFill>
        <p:spPr>
          <a:xfrm>
            <a:off x="-5324" y="1155981"/>
            <a:ext cx="12192000" cy="5573007"/>
          </a:xfrm>
          <a:prstGeom prst="rect">
            <a:avLst/>
          </a:prstGeom>
        </p:spPr>
      </p:pic>
    </p:spTree>
    <p:extLst>
      <p:ext uri="{BB962C8B-B14F-4D97-AF65-F5344CB8AC3E}">
        <p14:creationId xmlns:p14="http://schemas.microsoft.com/office/powerpoint/2010/main" val="8854636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r>
              <a:rPr lang="en-US" dirty="0"/>
              <a:t>Prim</a:t>
            </a:r>
            <a:r>
              <a:rPr lang="sr-Latn-RS" dirty="0"/>
              <a:t>er još jednog novo dodatog slučaja</a:t>
            </a:r>
            <a:r>
              <a:rPr lang="en-US" dirty="0"/>
              <a:t>.</a:t>
            </a:r>
          </a:p>
        </p:txBody>
      </p:sp>
      <p:pic>
        <p:nvPicPr>
          <p:cNvPr id="4" name="Picture 3">
            <a:extLst>
              <a:ext uri="{FF2B5EF4-FFF2-40B4-BE49-F238E27FC236}">
                <a16:creationId xmlns:a16="http://schemas.microsoft.com/office/drawing/2014/main" id="{ED2E6975-8E43-423C-A4D1-9D986EE78E60}"/>
              </a:ext>
            </a:extLst>
          </p:cNvPr>
          <p:cNvPicPr>
            <a:picLocks noChangeAspect="1"/>
          </p:cNvPicPr>
          <p:nvPr/>
        </p:nvPicPr>
        <p:blipFill>
          <a:blip r:embed="rId2"/>
          <a:stretch>
            <a:fillRect/>
          </a:stretch>
        </p:blipFill>
        <p:spPr>
          <a:xfrm>
            <a:off x="0" y="1167854"/>
            <a:ext cx="12192000" cy="541723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r>
              <a:rPr lang="sr-Latn-RS" dirty="0"/>
              <a:t>Novi slučaj je vidljiv u bazi slučajeva</a:t>
            </a:r>
            <a:r>
              <a:rPr lang="en-US" dirty="0"/>
              <a:t>.</a:t>
            </a:r>
          </a:p>
        </p:txBody>
      </p:sp>
      <p:pic>
        <p:nvPicPr>
          <p:cNvPr id="7" name="Picture 6">
            <a:extLst>
              <a:ext uri="{FF2B5EF4-FFF2-40B4-BE49-F238E27FC236}">
                <a16:creationId xmlns:a16="http://schemas.microsoft.com/office/drawing/2014/main" id="{9049AB11-4C93-1AB8-37EA-DA6488B82BD0}"/>
              </a:ext>
            </a:extLst>
          </p:cNvPr>
          <p:cNvPicPr>
            <a:picLocks noChangeAspect="1"/>
          </p:cNvPicPr>
          <p:nvPr/>
        </p:nvPicPr>
        <p:blipFill>
          <a:blip r:embed="rId2"/>
          <a:stretch>
            <a:fillRect/>
          </a:stretch>
        </p:blipFill>
        <p:spPr>
          <a:xfrm>
            <a:off x="0" y="853042"/>
            <a:ext cx="12192000" cy="5151915"/>
          </a:xfrm>
          <a:prstGeom prst="rect">
            <a:avLst/>
          </a:prstGeom>
        </p:spPr>
      </p:pic>
      <p:pic>
        <p:nvPicPr>
          <p:cNvPr id="9" name="Picture 8">
            <a:extLst>
              <a:ext uri="{FF2B5EF4-FFF2-40B4-BE49-F238E27FC236}">
                <a16:creationId xmlns:a16="http://schemas.microsoft.com/office/drawing/2014/main" id="{E010092F-6E5C-3EBF-806C-0CE5A0E28799}"/>
              </a:ext>
            </a:extLst>
          </p:cNvPr>
          <p:cNvPicPr>
            <a:picLocks noChangeAspect="1"/>
          </p:cNvPicPr>
          <p:nvPr/>
        </p:nvPicPr>
        <p:blipFill>
          <a:blip r:embed="rId2"/>
          <a:stretch>
            <a:fillRect/>
          </a:stretch>
        </p:blipFill>
        <p:spPr>
          <a:xfrm>
            <a:off x="0" y="853042"/>
            <a:ext cx="12192000" cy="5151915"/>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r>
              <a:rPr lang="sr-Latn-RS" dirty="0"/>
              <a:t>Može normalno da se pozove rasudjivanje po pravilima nad ovim slučajem</a:t>
            </a:r>
            <a:r>
              <a:rPr lang="en-US" dirty="0"/>
              <a:t>.</a:t>
            </a:r>
          </a:p>
        </p:txBody>
      </p:sp>
      <p:pic>
        <p:nvPicPr>
          <p:cNvPr id="4" name="Picture 3">
            <a:extLst>
              <a:ext uri="{FF2B5EF4-FFF2-40B4-BE49-F238E27FC236}">
                <a16:creationId xmlns:a16="http://schemas.microsoft.com/office/drawing/2014/main" id="{DAEAF56A-619E-E4AD-0C99-93A5C6866E36}"/>
              </a:ext>
            </a:extLst>
          </p:cNvPr>
          <p:cNvPicPr>
            <a:picLocks noChangeAspect="1"/>
          </p:cNvPicPr>
          <p:nvPr/>
        </p:nvPicPr>
        <p:blipFill>
          <a:blip r:embed="rId2"/>
          <a:stretch>
            <a:fillRect/>
          </a:stretch>
        </p:blipFill>
        <p:spPr>
          <a:xfrm>
            <a:off x="0" y="660436"/>
            <a:ext cx="12192000" cy="553712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5D06-C3F2-5F45-6E35-F4B3ED6013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2DEB81-B684-E3AB-F26C-8CD19241F0C8}"/>
              </a:ext>
            </a:extLst>
          </p:cNvPr>
          <p:cNvSpPr>
            <a:spLocks noGrp="1"/>
          </p:cNvSpPr>
          <p:nvPr>
            <p:ph idx="1"/>
          </p:nvPr>
        </p:nvSpPr>
        <p:spPr>
          <a:xfrm>
            <a:off x="0" y="0"/>
            <a:ext cx="10353762" cy="4058751"/>
          </a:xfrm>
        </p:spPr>
        <p:txBody>
          <a:bodyPr/>
          <a:lstStyle/>
          <a:p>
            <a:r>
              <a:rPr lang="sr-Latn-RS" dirty="0"/>
              <a:t>Može normalno da se pozove rasudjivanje po sličnosti nad ovim slučajem</a:t>
            </a:r>
            <a:r>
              <a:rPr lang="en-US" dirty="0"/>
              <a:t>.</a:t>
            </a:r>
          </a:p>
          <a:p>
            <a:endParaRPr lang="en-US" dirty="0"/>
          </a:p>
        </p:txBody>
      </p:sp>
      <p:pic>
        <p:nvPicPr>
          <p:cNvPr id="5" name="Picture 4">
            <a:extLst>
              <a:ext uri="{FF2B5EF4-FFF2-40B4-BE49-F238E27FC236}">
                <a16:creationId xmlns:a16="http://schemas.microsoft.com/office/drawing/2014/main" id="{FC8B870A-2DD2-3AAF-5B88-B10CE393EFF9}"/>
              </a:ext>
            </a:extLst>
          </p:cNvPr>
          <p:cNvPicPr>
            <a:picLocks noChangeAspect="1"/>
          </p:cNvPicPr>
          <p:nvPr/>
        </p:nvPicPr>
        <p:blipFill>
          <a:blip r:embed="rId2"/>
          <a:stretch>
            <a:fillRect/>
          </a:stretch>
        </p:blipFill>
        <p:spPr>
          <a:xfrm>
            <a:off x="28893" y="759246"/>
            <a:ext cx="12192000" cy="5767524"/>
          </a:xfrm>
          <a:prstGeom prst="rect">
            <a:avLst/>
          </a:prstGeom>
        </p:spPr>
      </p:pic>
    </p:spTree>
    <p:extLst>
      <p:ext uri="{BB962C8B-B14F-4D97-AF65-F5344CB8AC3E}">
        <p14:creationId xmlns:p14="http://schemas.microsoft.com/office/powerpoint/2010/main" val="5734284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51BB6-D394-BD1E-FEB1-7E4DEB004843}"/>
              </a:ext>
            </a:extLst>
          </p:cNvPr>
          <p:cNvSpPr>
            <a:spLocks noGrp="1"/>
          </p:cNvSpPr>
          <p:nvPr>
            <p:ph type="title"/>
          </p:nvPr>
        </p:nvSpPr>
        <p:spPr>
          <a:xfrm>
            <a:off x="738697" y="2808051"/>
            <a:ext cx="10353762" cy="970450"/>
          </a:xfrm>
        </p:spPr>
        <p:txBody>
          <a:bodyPr/>
          <a:lstStyle/>
          <a:p>
            <a:r>
              <a:rPr lang="en-US" dirty="0" err="1"/>
              <a:t>Hvala</a:t>
            </a:r>
            <a:r>
              <a:rPr lang="en-US" dirty="0"/>
              <a:t> </a:t>
            </a:r>
            <a:r>
              <a:rPr lang="en-US" dirty="0" err="1"/>
              <a:t>na</a:t>
            </a:r>
            <a:r>
              <a:rPr lang="en-US" dirty="0"/>
              <a:t> pa</a:t>
            </a:r>
            <a:r>
              <a:rPr lang="sr-Latn-RS" dirty="0"/>
              <a:t>žnji!</a:t>
            </a:r>
            <a:endParaRPr lang="en-US" dirty="0"/>
          </a:p>
        </p:txBody>
      </p:sp>
    </p:spTree>
    <p:extLst>
      <p:ext uri="{BB962C8B-B14F-4D97-AF65-F5344CB8AC3E}">
        <p14:creationId xmlns:p14="http://schemas.microsoft.com/office/powerpoint/2010/main" val="42544487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1188</TotalTime>
  <Words>2113</Words>
  <Application>Microsoft Office PowerPoint</Application>
  <PresentationFormat>Widescreen</PresentationFormat>
  <Paragraphs>141</Paragraphs>
  <Slides>62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62</vt:i4>
      </vt:variant>
    </vt:vector>
  </HeadingPairs>
  <TitlesOfParts>
    <vt:vector size="67"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pravilima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Markov Chain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Hvala na pažnji!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25</cp:revision>
  <dcterms:created xsi:type="dcterms:W3CDTF">2026-03-26T22:30:49Z</dcterms:created>
  <dcterms:modified xsi:type="dcterms:W3CDTF">2026-04-21T12:47:32Z</dcterms:modified>
</cp:coreProperties>
</file>