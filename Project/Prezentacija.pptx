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3"/>
  </p:notes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 id="266" r:id="rId14"/>
    <p:sldId id="288" r:id="rId15"/>
    <p:sldId id="283" r:id="rId16"/>
    <p:sldId id="284" r:id="rId17"/>
    <p:sldId id="289" r:id="rId18"/>
    <p:sldId id="269" r:id="rId19"/>
    <p:sldId id="270" r:id="rId20"/>
    <p:sldId id="271" r:id="rId21"/>
    <p:sldId id="272" r:id="rId22"/>
    <p:sldId id="273" r:id="rId23"/>
    <p:sldId id="274" r:id="rId24"/>
    <p:sldId id="275" r:id="rId25"/>
    <p:sldId id="276" r:id="rId26"/>
    <p:sldId id="277" r:id="rId27"/>
    <p:sldId id="278" r:id="rId28"/>
    <p:sldId id="281" r:id="rId29"/>
    <p:sldId id="279" r:id="rId30"/>
    <p:sldId id="280" r:id="rId31"/>
    <p:sldId id="292" r:id="rId32"/>
    <p:sldId id="294" r:id="rId33"/>
    <p:sldId id="293" r:id="rId34"/>
    <p:sldId id="295" r:id="rId35"/>
    <p:sldId id="282" r:id="rId36"/>
    <p:sldId id="285" r:id="rId37"/>
    <p:sldId id="286" r:id="rId38"/>
    <p:sldId id="287" r:id="rId39"/>
    <p:sldId id="290" r:id="rId40"/>
    <p:sldId id="291" r:id="rId41"/>
    <p:sldId id="296" r:id="rId42"/>
    <p:sldId id="297" r:id="rId43"/>
    <p:sldId id="298" r:id="rId44"/>
    <p:sldId id="301" r:id="rId45"/>
    <p:sldId id="305" r:id="rId46"/>
    <p:sldId id="307" r:id="rId47"/>
    <p:sldId id="300" r:id="rId48"/>
    <p:sldId id="302" r:id="rId49"/>
    <p:sldId id="303" r:id="rId50"/>
    <p:sldId id="304" r:id="rId51"/>
    <p:sldId id="306" r:id="rId5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9" d="100"/>
          <a:sy n="79" d="100"/>
        </p:scale>
        <p:origin x="7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C07179-6466-48FF-BFE6-F96C8026954B}" type="datetimeFigureOut">
              <a:rPr lang="en-US" smtClean="0"/>
              <a:t>3/31/2026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C45149-8B50-40F0-876D-D32AF791D166}" type="slidenum">
              <a:rPr lang="en-US" smtClean="0"/>
              <a:t>‹#›</a:t>
            </a:fld>
            <a:endParaRPr lang="en-US"/>
          </a:p>
        </p:txBody>
      </p:sp>
    </p:spTree>
    <p:extLst>
      <p:ext uri="{BB962C8B-B14F-4D97-AF65-F5344CB8AC3E}">
        <p14:creationId xmlns:p14="http://schemas.microsoft.com/office/powerpoint/2010/main" val="16131398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C45149-8B50-40F0-876D-D32AF791D166}" type="slidenum">
              <a:rPr lang="en-US" smtClean="0"/>
              <a:t>7</a:t>
            </a:fld>
            <a:endParaRPr lang="en-US"/>
          </a:p>
        </p:txBody>
      </p:sp>
    </p:spTree>
    <p:extLst>
      <p:ext uri="{BB962C8B-B14F-4D97-AF65-F5344CB8AC3E}">
        <p14:creationId xmlns:p14="http://schemas.microsoft.com/office/powerpoint/2010/main" val="21679728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257E61E-B6C9-4F8D-A749-38ADC6F6D6FB}"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A0479D-50DA-4728-9F81-4E4127FB685F}" type="slidenum">
              <a:rPr lang="en-US" smtClean="0"/>
              <a:t>‹#›</a:t>
            </a:fld>
            <a:endParaRPr lang="en-US"/>
          </a:p>
        </p:txBody>
      </p:sp>
    </p:spTree>
    <p:extLst>
      <p:ext uri="{BB962C8B-B14F-4D97-AF65-F5344CB8AC3E}">
        <p14:creationId xmlns:p14="http://schemas.microsoft.com/office/powerpoint/2010/main" val="1667057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257E61E-B6C9-4F8D-A749-38ADC6F6D6FB}"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A0479D-50DA-4728-9F81-4E4127FB685F}" type="slidenum">
              <a:rPr lang="en-US" smtClean="0"/>
              <a:t>‹#›</a:t>
            </a:fld>
            <a:endParaRPr lang="en-US"/>
          </a:p>
        </p:txBody>
      </p:sp>
    </p:spTree>
    <p:extLst>
      <p:ext uri="{BB962C8B-B14F-4D97-AF65-F5344CB8AC3E}">
        <p14:creationId xmlns:p14="http://schemas.microsoft.com/office/powerpoint/2010/main" val="4156678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257E61E-B6C9-4F8D-A749-38ADC6F6D6FB}"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A0479D-50DA-4728-9F81-4E4127FB685F}" type="slidenum">
              <a:rPr lang="en-US" smtClean="0"/>
              <a:t>‹#›</a:t>
            </a:fld>
            <a:endParaRPr lang="en-US"/>
          </a:p>
        </p:txBody>
      </p:sp>
    </p:spTree>
    <p:extLst>
      <p:ext uri="{BB962C8B-B14F-4D97-AF65-F5344CB8AC3E}">
        <p14:creationId xmlns:p14="http://schemas.microsoft.com/office/powerpoint/2010/main" val="22649274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257E61E-B6C9-4F8D-A749-38ADC6F6D6FB}" type="datetimeFigureOut">
              <a:rPr lang="en-US" smtClean="0"/>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A0479D-50DA-4728-9F81-4E4127FB685F}" type="slidenum">
              <a:rPr lang="en-US" smtClean="0"/>
              <a:t>‹#›</a:t>
            </a:fld>
            <a:endParaRPr lang="en-US"/>
          </a:p>
        </p:txBody>
      </p:sp>
    </p:spTree>
    <p:extLst>
      <p:ext uri="{BB962C8B-B14F-4D97-AF65-F5344CB8AC3E}">
        <p14:creationId xmlns:p14="http://schemas.microsoft.com/office/powerpoint/2010/main" val="37476382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257E61E-B6C9-4F8D-A749-38ADC6F6D6FB}" type="datetimeFigureOut">
              <a:rPr lang="en-US" smtClean="0"/>
              <a:t>3/31/2026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AA0479D-50DA-4728-9F81-4E4127FB685F}" type="slidenum">
              <a:rPr lang="en-US" smtClean="0"/>
              <a:t>‹#›</a:t>
            </a:fld>
            <a:endParaRPr lang="en-US"/>
          </a:p>
        </p:txBody>
      </p:sp>
    </p:spTree>
    <p:extLst>
      <p:ext uri="{BB962C8B-B14F-4D97-AF65-F5344CB8AC3E}">
        <p14:creationId xmlns:p14="http://schemas.microsoft.com/office/powerpoint/2010/main" val="7523931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257E61E-B6C9-4F8D-A749-38ADC6F6D6FB}" type="datetimeFigureOut">
              <a:rPr lang="en-US" smtClean="0"/>
              <a:t>3/31/2026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AA0479D-50DA-4728-9F81-4E4127FB685F}" type="slidenum">
              <a:rPr lang="en-US" smtClean="0"/>
              <a:t>‹#›</a:t>
            </a:fld>
            <a:endParaRPr lang="en-US"/>
          </a:p>
        </p:txBody>
      </p:sp>
    </p:spTree>
    <p:extLst>
      <p:ext uri="{BB962C8B-B14F-4D97-AF65-F5344CB8AC3E}">
        <p14:creationId xmlns:p14="http://schemas.microsoft.com/office/powerpoint/2010/main" val="39672724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257E61E-B6C9-4F8D-A749-38ADC6F6D6FB}" type="datetimeFigureOut">
              <a:rPr lang="en-US" smtClean="0"/>
              <a:t>3/31/2026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AA0479D-50DA-4728-9F81-4E4127FB685F}" type="slidenum">
              <a:rPr lang="en-US" smtClean="0"/>
              <a:t>‹#›</a:t>
            </a:fld>
            <a:endParaRPr lang="en-US"/>
          </a:p>
        </p:txBody>
      </p:sp>
    </p:spTree>
    <p:extLst>
      <p:ext uri="{BB962C8B-B14F-4D97-AF65-F5344CB8AC3E}">
        <p14:creationId xmlns:p14="http://schemas.microsoft.com/office/powerpoint/2010/main" val="18111162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57E61E-B6C9-4F8D-A749-38ADC6F6D6FB}" type="datetimeFigureOut">
              <a:rPr lang="en-US" smtClean="0"/>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A0479D-50DA-4728-9F81-4E4127FB685F}" type="slidenum">
              <a:rPr lang="en-US" smtClean="0"/>
              <a:t>‹#›</a:t>
            </a:fld>
            <a:endParaRPr lang="en-US"/>
          </a:p>
        </p:txBody>
      </p:sp>
    </p:spTree>
    <p:extLst>
      <p:ext uri="{BB962C8B-B14F-4D97-AF65-F5344CB8AC3E}">
        <p14:creationId xmlns:p14="http://schemas.microsoft.com/office/powerpoint/2010/main" val="26890988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57E61E-B6C9-4F8D-A749-38ADC6F6D6FB}" type="datetimeFigureOut">
              <a:rPr lang="en-US" smtClean="0"/>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A0479D-50DA-4728-9F81-4E4127FB685F}" type="slidenum">
              <a:rPr lang="en-US" smtClean="0"/>
              <a:t>‹#›</a:t>
            </a:fld>
            <a:endParaRPr lang="en-US"/>
          </a:p>
        </p:txBody>
      </p:sp>
    </p:spTree>
    <p:extLst>
      <p:ext uri="{BB962C8B-B14F-4D97-AF65-F5344CB8AC3E}">
        <p14:creationId xmlns:p14="http://schemas.microsoft.com/office/powerpoint/2010/main" val="17255558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257E61E-B6C9-4F8D-A749-38ADC6F6D6FB}" type="datetimeFigureOut">
              <a:rPr lang="en-US" smtClean="0"/>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A0479D-50DA-4728-9F81-4E4127FB685F}" type="slidenum">
              <a:rPr lang="en-US" smtClean="0"/>
              <a:t>‹#›</a:t>
            </a:fld>
            <a:endParaRPr lang="en-US"/>
          </a:p>
        </p:txBody>
      </p:sp>
    </p:spTree>
    <p:extLst>
      <p:ext uri="{BB962C8B-B14F-4D97-AF65-F5344CB8AC3E}">
        <p14:creationId xmlns:p14="http://schemas.microsoft.com/office/powerpoint/2010/main" val="31126149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257E61E-B6C9-4F8D-A749-38ADC6F6D6FB}" type="datetimeFigureOut">
              <a:rPr lang="en-US" smtClean="0"/>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A0479D-50DA-4728-9F81-4E4127FB685F}" type="slidenum">
              <a:rPr lang="en-US" smtClean="0"/>
              <a:t>‹#›</a:t>
            </a:fld>
            <a:endParaRPr lang="en-US"/>
          </a:p>
        </p:txBody>
      </p:sp>
    </p:spTree>
    <p:extLst>
      <p:ext uri="{BB962C8B-B14F-4D97-AF65-F5344CB8AC3E}">
        <p14:creationId xmlns:p14="http://schemas.microsoft.com/office/powerpoint/2010/main" val="40924110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257E61E-B6C9-4F8D-A749-38ADC6F6D6FB}" type="datetimeFigureOut">
              <a:rPr lang="en-US" smtClean="0"/>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A0479D-50DA-4728-9F81-4E4127FB685F}" type="slidenum">
              <a:rPr lang="en-US" smtClean="0"/>
              <a:t>‹#›</a:t>
            </a:fld>
            <a:endParaRPr lang="en-US"/>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8235681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257E61E-B6C9-4F8D-A749-38ADC6F6D6FB}" type="datetimeFigureOut">
              <a:rPr lang="en-US" smtClean="0"/>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A0479D-50DA-4728-9F81-4E4127FB685F}" type="slidenum">
              <a:rPr lang="en-US" smtClean="0"/>
              <a:t>‹#›</a:t>
            </a:fld>
            <a:endParaRPr lang="en-US"/>
          </a:p>
        </p:txBody>
      </p:sp>
    </p:spTree>
    <p:extLst>
      <p:ext uri="{BB962C8B-B14F-4D97-AF65-F5344CB8AC3E}">
        <p14:creationId xmlns:p14="http://schemas.microsoft.com/office/powerpoint/2010/main" val="37343436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9257E61E-B6C9-4F8D-A749-38ADC6F6D6FB}" type="datetimeFigureOut">
              <a:rPr lang="en-US" smtClean="0"/>
              <a:t>3/31/2026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AA0479D-50DA-4728-9F81-4E4127FB685F}" type="slidenum">
              <a:rPr lang="en-US" smtClean="0"/>
              <a:t>‹#›</a:t>
            </a:fld>
            <a:endParaRPr lang="en-US"/>
          </a:p>
        </p:txBody>
      </p:sp>
    </p:spTree>
    <p:extLst>
      <p:ext uri="{BB962C8B-B14F-4D97-AF65-F5344CB8AC3E}">
        <p14:creationId xmlns:p14="http://schemas.microsoft.com/office/powerpoint/2010/main" val="32924570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9257E61E-B6C9-4F8D-A749-38ADC6F6D6FB}" type="datetimeFigureOut">
              <a:rPr lang="en-US" smtClean="0"/>
              <a:t>3/31/2026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AA0479D-50DA-4728-9F81-4E4127FB685F}" type="slidenum">
              <a:rPr lang="en-US" smtClean="0"/>
              <a:t>‹#›</a:t>
            </a:fld>
            <a:endParaRPr lang="en-US"/>
          </a:p>
        </p:txBody>
      </p:sp>
    </p:spTree>
    <p:extLst>
      <p:ext uri="{BB962C8B-B14F-4D97-AF65-F5344CB8AC3E}">
        <p14:creationId xmlns:p14="http://schemas.microsoft.com/office/powerpoint/2010/main" val="284948254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257E61E-B6C9-4F8D-A749-38ADC6F6D6FB}"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A0479D-50DA-4728-9F81-4E4127FB685F}" type="slidenum">
              <a:rPr lang="en-US" smtClean="0"/>
              <a:t>‹#›</a:t>
            </a:fld>
            <a:endParaRPr lang="en-US"/>
          </a:p>
        </p:txBody>
      </p:sp>
    </p:spTree>
    <p:extLst>
      <p:ext uri="{BB962C8B-B14F-4D97-AF65-F5344CB8AC3E}">
        <p14:creationId xmlns:p14="http://schemas.microsoft.com/office/powerpoint/2010/main" val="20130098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257E61E-B6C9-4F8D-A749-38ADC6F6D6FB}"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A0479D-50DA-4728-9F81-4E4127FB685F}" type="slidenum">
              <a:rPr lang="en-US" smtClean="0"/>
              <a:t>‹#›</a:t>
            </a:fld>
            <a:endParaRPr lang="en-US"/>
          </a:p>
        </p:txBody>
      </p:sp>
    </p:spTree>
    <p:extLst>
      <p:ext uri="{BB962C8B-B14F-4D97-AF65-F5344CB8AC3E}">
        <p14:creationId xmlns:p14="http://schemas.microsoft.com/office/powerpoint/2010/main" val="5027055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9257E61E-B6C9-4F8D-A749-38ADC6F6D6FB}" type="datetimeFigureOut">
              <a:rPr lang="en-US" smtClean="0"/>
              <a:t>3/31/2026</a:t>
            </a:fld>
            <a:endParaRPr lang="en-US"/>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4AA0479D-50DA-4728-9F81-4E4127FB685F}" type="slidenum">
              <a:rPr lang="en-US" smtClean="0"/>
              <a:t>‹#›</a:t>
            </a:fld>
            <a:endParaRPr lang="en-US"/>
          </a:p>
        </p:txBody>
      </p:sp>
    </p:spTree>
    <p:extLst>
      <p:ext uri="{BB962C8B-B14F-4D97-AF65-F5344CB8AC3E}">
        <p14:creationId xmlns:p14="http://schemas.microsoft.com/office/powerpoint/2010/main" val="2525878955"/>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2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2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3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3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3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 Id="rId5" Type="http://schemas.openxmlformats.org/officeDocument/2006/relationships/image" Target="../media/image67.png"/><Relationship Id="rId4" Type="http://schemas.openxmlformats.org/officeDocument/2006/relationships/image" Target="../media/image66.png"/></Relationships>
</file>

<file path=ppt/slides/_rels/slide3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 Id="rId5" Type="http://schemas.openxmlformats.org/officeDocument/2006/relationships/image" Target="../media/image71.png"/><Relationship Id="rId4" Type="http://schemas.openxmlformats.org/officeDocument/2006/relationships/image" Target="../media/image70.png"/></Relationships>
</file>

<file path=ppt/slides/_rels/slide40.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2.xml"/><Relationship Id="rId5" Type="http://schemas.openxmlformats.org/officeDocument/2006/relationships/image" Target="../media/image79.png"/><Relationship Id="rId4" Type="http://schemas.openxmlformats.org/officeDocument/2006/relationships/image" Target="../media/image78.png"/></Relationships>
</file>

<file path=ppt/slides/_rels/slide45.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2.xml"/><Relationship Id="rId4" Type="http://schemas.openxmlformats.org/officeDocument/2006/relationships/image" Target="../media/image84.png"/></Relationships>
</file>

<file path=ppt/slides/_rels/slide48.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FFDF2-04DF-E404-2AD7-EDCAD8F32912}"/>
              </a:ext>
            </a:extLst>
          </p:cNvPr>
          <p:cNvSpPr>
            <a:spLocks noGrp="1"/>
          </p:cNvSpPr>
          <p:nvPr>
            <p:ph type="ctrTitle"/>
          </p:nvPr>
        </p:nvSpPr>
        <p:spPr/>
        <p:txBody>
          <a:bodyPr/>
          <a:lstStyle/>
          <a:p>
            <a:r>
              <a:rPr lang="en-US" dirty="0"/>
              <a:t>Tim 8</a:t>
            </a:r>
          </a:p>
        </p:txBody>
      </p:sp>
      <p:sp>
        <p:nvSpPr>
          <p:cNvPr id="3" name="Subtitle 2">
            <a:extLst>
              <a:ext uri="{FF2B5EF4-FFF2-40B4-BE49-F238E27FC236}">
                <a16:creationId xmlns:a16="http://schemas.microsoft.com/office/drawing/2014/main" id="{5A68CB41-174C-FE5F-DE70-FD27A515A7DD}"/>
              </a:ext>
            </a:extLst>
          </p:cNvPr>
          <p:cNvSpPr>
            <a:spLocks noGrp="1"/>
          </p:cNvSpPr>
          <p:nvPr>
            <p:ph type="subTitle" idx="1"/>
          </p:nvPr>
        </p:nvSpPr>
        <p:spPr/>
        <p:txBody>
          <a:bodyPr/>
          <a:lstStyle/>
          <a:p>
            <a:r>
              <a:rPr lang="sr-Latn-RS" dirty="0"/>
              <a:t>Uroš Petrašković, Luka Šarić, Stefan Lazarević</a:t>
            </a:r>
            <a:endParaRPr lang="en-US" dirty="0"/>
          </a:p>
        </p:txBody>
      </p:sp>
    </p:spTree>
    <p:extLst>
      <p:ext uri="{BB962C8B-B14F-4D97-AF65-F5344CB8AC3E}">
        <p14:creationId xmlns:p14="http://schemas.microsoft.com/office/powerpoint/2010/main" val="9182010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43FE8-A7F8-9E90-7B84-DE7B91082DAD}"/>
              </a:ext>
            </a:extLst>
          </p:cNvPr>
          <p:cNvSpPr>
            <a:spLocks noGrp="1"/>
          </p:cNvSpPr>
          <p:nvPr>
            <p:ph type="title"/>
          </p:nvPr>
        </p:nvSpPr>
        <p:spPr>
          <a:xfrm>
            <a:off x="913795" y="191311"/>
            <a:ext cx="10353762" cy="970450"/>
          </a:xfrm>
        </p:spPr>
        <p:txBody>
          <a:bodyPr>
            <a:normAutofit fontScale="90000"/>
          </a:bodyPr>
          <a:lstStyle/>
          <a:p>
            <a:r>
              <a:rPr lang="en-US" dirty="0" err="1"/>
              <a:t>Falsifikovanje</a:t>
            </a:r>
            <a:r>
              <a:rPr lang="en-US" dirty="0"/>
              <a:t> </a:t>
            </a:r>
            <a:r>
              <a:rPr lang="en-US" dirty="0" err="1"/>
              <a:t>novca</a:t>
            </a:r>
            <a:r>
              <a:rPr lang="sr-Latn-RS" dirty="0"/>
              <a:t> </a:t>
            </a:r>
            <a:br>
              <a:rPr lang="sr-Latn-RS" dirty="0"/>
            </a:br>
            <a:r>
              <a:rPr lang="en-US" dirty="0" err="1"/>
              <a:t>Član</a:t>
            </a:r>
            <a:r>
              <a:rPr lang="en-US" dirty="0"/>
              <a:t> 258</a:t>
            </a:r>
          </a:p>
        </p:txBody>
      </p:sp>
      <p:sp>
        <p:nvSpPr>
          <p:cNvPr id="3" name="Content Placeholder 2">
            <a:extLst>
              <a:ext uri="{FF2B5EF4-FFF2-40B4-BE49-F238E27FC236}">
                <a16:creationId xmlns:a16="http://schemas.microsoft.com/office/drawing/2014/main" id="{535687F0-24FE-2C26-99F2-C835752DBD18}"/>
              </a:ext>
            </a:extLst>
          </p:cNvPr>
          <p:cNvSpPr>
            <a:spLocks noGrp="1"/>
          </p:cNvSpPr>
          <p:nvPr>
            <p:ph idx="1"/>
          </p:nvPr>
        </p:nvSpPr>
        <p:spPr>
          <a:xfrm>
            <a:off x="913795" y="1332689"/>
            <a:ext cx="10353762" cy="5233481"/>
          </a:xfrm>
        </p:spPr>
        <p:txBody>
          <a:bodyPr/>
          <a:lstStyle/>
          <a:p>
            <a:pPr algn="l"/>
            <a:r>
              <a:rPr lang="en-US" b="0" i="0" dirty="0">
                <a:solidFill>
                  <a:schemeClr val="tx1"/>
                </a:solidFill>
                <a:effectLst/>
                <a:latin typeface="Arial" panose="020B0604020202020204" pitchFamily="34" charset="0"/>
              </a:rPr>
              <a:t>(1) Ko </a:t>
            </a:r>
            <a:r>
              <a:rPr lang="en-US" b="0" i="0" dirty="0" err="1">
                <a:solidFill>
                  <a:schemeClr val="tx1"/>
                </a:solidFill>
                <a:effectLst/>
                <a:latin typeface="Arial" panose="020B0604020202020204" pitchFamily="34" charset="0"/>
              </a:rPr>
              <a:t>napravi</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lažan</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novac</a:t>
            </a:r>
            <a:r>
              <a:rPr lang="en-US" b="0" i="0" dirty="0">
                <a:solidFill>
                  <a:schemeClr val="tx1"/>
                </a:solidFill>
                <a:effectLst/>
                <a:latin typeface="Arial" panose="020B0604020202020204" pitchFamily="34" charset="0"/>
              </a:rPr>
              <a:t> u </a:t>
            </a:r>
            <a:r>
              <a:rPr lang="en-US" b="0" i="0" dirty="0" err="1">
                <a:solidFill>
                  <a:schemeClr val="tx1"/>
                </a:solidFill>
                <a:effectLst/>
                <a:latin typeface="Arial" panose="020B0604020202020204" pitchFamily="34" charset="0"/>
              </a:rPr>
              <a:t>namjeri</a:t>
            </a:r>
            <a:r>
              <a:rPr lang="en-US" b="0" i="0" dirty="0">
                <a:solidFill>
                  <a:schemeClr val="tx1"/>
                </a:solidFill>
                <a:effectLst/>
                <a:latin typeface="Arial" panose="020B0604020202020204" pitchFamily="34" charset="0"/>
              </a:rPr>
              <a:t> da ga </a:t>
            </a:r>
            <a:r>
              <a:rPr lang="en-US" b="0" i="0" dirty="0" err="1">
                <a:solidFill>
                  <a:schemeClr val="tx1"/>
                </a:solidFill>
                <a:effectLst/>
                <a:latin typeface="Arial" panose="020B0604020202020204" pitchFamily="34" charset="0"/>
              </a:rPr>
              <a:t>stavi</a:t>
            </a:r>
            <a:r>
              <a:rPr lang="en-US" b="0" i="0" dirty="0">
                <a:solidFill>
                  <a:schemeClr val="tx1"/>
                </a:solidFill>
                <a:effectLst/>
                <a:latin typeface="Arial" panose="020B0604020202020204" pitchFamily="34" charset="0"/>
              </a:rPr>
              <a:t> u </a:t>
            </a:r>
            <a:r>
              <a:rPr lang="en-US" b="0" i="0" dirty="0" err="1">
                <a:solidFill>
                  <a:schemeClr val="tx1"/>
                </a:solidFill>
                <a:effectLst/>
                <a:latin typeface="Arial" panose="020B0604020202020204" pitchFamily="34" charset="0"/>
              </a:rPr>
              <a:t>opticaj</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kao</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pravi</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ili</a:t>
            </a:r>
            <a:r>
              <a:rPr lang="en-US" b="0" i="0" dirty="0">
                <a:solidFill>
                  <a:schemeClr val="tx1"/>
                </a:solidFill>
                <a:effectLst/>
                <a:latin typeface="Arial" panose="020B0604020202020204" pitchFamily="34" charset="0"/>
              </a:rPr>
              <a:t> ko u </a:t>
            </a:r>
            <a:r>
              <a:rPr lang="en-US" b="0" i="0" dirty="0" err="1">
                <a:solidFill>
                  <a:schemeClr val="tx1"/>
                </a:solidFill>
                <a:effectLst/>
                <a:latin typeface="Arial" panose="020B0604020202020204" pitchFamily="34" charset="0"/>
              </a:rPr>
              <a:t>istoj</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namjeri</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preinači</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pravi</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novac</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kazniće</a:t>
            </a:r>
            <a:r>
              <a:rPr lang="en-US" b="0" i="0" dirty="0">
                <a:solidFill>
                  <a:schemeClr val="tx1"/>
                </a:solidFill>
                <a:effectLst/>
                <a:latin typeface="Arial" panose="020B0604020202020204" pitchFamily="34" charset="0"/>
              </a:rPr>
              <a:t> se </a:t>
            </a:r>
            <a:r>
              <a:rPr lang="en-US" b="0" i="0" dirty="0" err="1">
                <a:solidFill>
                  <a:schemeClr val="tx1"/>
                </a:solidFill>
                <a:effectLst/>
                <a:latin typeface="Arial" panose="020B0604020202020204" pitchFamily="34" charset="0"/>
              </a:rPr>
              <a:t>zatvorom</a:t>
            </a:r>
            <a:r>
              <a:rPr lang="en-US" b="0" i="0" dirty="0">
                <a:solidFill>
                  <a:schemeClr val="tx1"/>
                </a:solidFill>
                <a:effectLst/>
                <a:latin typeface="Arial" panose="020B0604020202020204" pitchFamily="34" charset="0"/>
              </a:rPr>
              <a:t> od </a:t>
            </a:r>
            <a:r>
              <a:rPr lang="en-US" b="0" i="0" dirty="0" err="1">
                <a:solidFill>
                  <a:schemeClr val="tx1"/>
                </a:solidFill>
                <a:effectLst/>
                <a:latin typeface="Arial" panose="020B0604020202020204" pitchFamily="34" charset="0"/>
              </a:rPr>
              <a:t>dvije</a:t>
            </a:r>
            <a:r>
              <a:rPr lang="en-US" b="0" i="0" dirty="0">
                <a:solidFill>
                  <a:schemeClr val="tx1"/>
                </a:solidFill>
                <a:effectLst/>
                <a:latin typeface="Arial" panose="020B0604020202020204" pitchFamily="34" charset="0"/>
              </a:rPr>
              <a:t> do </a:t>
            </a:r>
            <a:r>
              <a:rPr lang="en-US" b="0" i="0" dirty="0" err="1">
                <a:solidFill>
                  <a:schemeClr val="tx1"/>
                </a:solidFill>
                <a:effectLst/>
                <a:latin typeface="Arial" panose="020B0604020202020204" pitchFamily="34" charset="0"/>
              </a:rPr>
              <a:t>dvanaest</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godina</a:t>
            </a:r>
            <a:r>
              <a:rPr lang="en-US" b="0" i="0" dirty="0">
                <a:solidFill>
                  <a:schemeClr val="tx1"/>
                </a:solidFill>
                <a:effectLst/>
                <a:latin typeface="Arial" panose="020B0604020202020204" pitchFamily="34" charset="0"/>
              </a:rPr>
              <a:t>.</a:t>
            </a:r>
          </a:p>
          <a:p>
            <a:pPr algn="l"/>
            <a:r>
              <a:rPr lang="en-US" b="0" i="0" dirty="0">
                <a:solidFill>
                  <a:schemeClr val="tx1"/>
                </a:solidFill>
                <a:effectLst/>
                <a:highlight>
                  <a:srgbClr val="808000"/>
                </a:highlight>
                <a:latin typeface="Arial" panose="020B0604020202020204" pitchFamily="34" charset="0"/>
              </a:rPr>
              <a:t>(2) Ko </a:t>
            </a:r>
            <a:r>
              <a:rPr lang="en-US" b="0" i="0" dirty="0" err="1">
                <a:solidFill>
                  <a:schemeClr val="tx1"/>
                </a:solidFill>
                <a:effectLst/>
                <a:highlight>
                  <a:srgbClr val="808000"/>
                </a:highlight>
                <a:latin typeface="Arial" panose="020B0604020202020204" pitchFamily="34" charset="0"/>
              </a:rPr>
              <a:t>pribavlja</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drži</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ili</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prenosi</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lažan</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novac</a:t>
            </a:r>
            <a:r>
              <a:rPr lang="en-US" b="0" i="0" dirty="0">
                <a:solidFill>
                  <a:schemeClr val="tx1"/>
                </a:solidFill>
                <a:effectLst/>
                <a:highlight>
                  <a:srgbClr val="808000"/>
                </a:highlight>
                <a:latin typeface="Arial" panose="020B0604020202020204" pitchFamily="34" charset="0"/>
              </a:rPr>
              <a:t> u </a:t>
            </a:r>
            <a:r>
              <a:rPr lang="en-US" b="0" i="0" dirty="0" err="1">
                <a:solidFill>
                  <a:schemeClr val="tx1"/>
                </a:solidFill>
                <a:effectLst/>
                <a:highlight>
                  <a:srgbClr val="808000"/>
                </a:highlight>
                <a:latin typeface="Arial" panose="020B0604020202020204" pitchFamily="34" charset="0"/>
              </a:rPr>
              <a:t>namjeri</a:t>
            </a:r>
            <a:r>
              <a:rPr lang="en-US" b="0" i="0" dirty="0">
                <a:solidFill>
                  <a:schemeClr val="tx1"/>
                </a:solidFill>
                <a:effectLst/>
                <a:highlight>
                  <a:srgbClr val="808000"/>
                </a:highlight>
                <a:latin typeface="Arial" panose="020B0604020202020204" pitchFamily="34" charset="0"/>
              </a:rPr>
              <a:t> da ga </a:t>
            </a:r>
            <a:r>
              <a:rPr lang="en-US" b="0" i="0" dirty="0" err="1">
                <a:solidFill>
                  <a:schemeClr val="tx1"/>
                </a:solidFill>
                <a:effectLst/>
                <a:highlight>
                  <a:srgbClr val="808000"/>
                </a:highlight>
                <a:latin typeface="Arial" panose="020B0604020202020204" pitchFamily="34" charset="0"/>
              </a:rPr>
              <a:t>stavi</a:t>
            </a:r>
            <a:r>
              <a:rPr lang="en-US" b="0" i="0" dirty="0">
                <a:solidFill>
                  <a:schemeClr val="tx1"/>
                </a:solidFill>
                <a:effectLst/>
                <a:highlight>
                  <a:srgbClr val="808000"/>
                </a:highlight>
                <a:latin typeface="Arial" panose="020B0604020202020204" pitchFamily="34" charset="0"/>
              </a:rPr>
              <a:t> u </a:t>
            </a:r>
            <a:r>
              <a:rPr lang="en-US" b="0" i="0" dirty="0" err="1">
                <a:solidFill>
                  <a:schemeClr val="tx1"/>
                </a:solidFill>
                <a:effectLst/>
                <a:highlight>
                  <a:srgbClr val="808000"/>
                </a:highlight>
                <a:latin typeface="Arial" panose="020B0604020202020204" pitchFamily="34" charset="0"/>
              </a:rPr>
              <a:t>opticaj</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kao</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pravi</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ili</a:t>
            </a:r>
            <a:r>
              <a:rPr lang="en-US" b="0" i="0" dirty="0">
                <a:solidFill>
                  <a:schemeClr val="tx1"/>
                </a:solidFill>
                <a:effectLst/>
                <a:highlight>
                  <a:srgbClr val="808000"/>
                </a:highlight>
                <a:latin typeface="Arial" panose="020B0604020202020204" pitchFamily="34" charset="0"/>
              </a:rPr>
              <a:t> ko </a:t>
            </a:r>
            <a:r>
              <a:rPr lang="en-US" b="0" i="0" dirty="0" err="1">
                <a:solidFill>
                  <a:schemeClr val="tx1"/>
                </a:solidFill>
                <a:effectLst/>
                <a:highlight>
                  <a:srgbClr val="808000"/>
                </a:highlight>
                <a:latin typeface="Arial" panose="020B0604020202020204" pitchFamily="34" charset="0"/>
              </a:rPr>
              <a:t>lažan</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novac</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stavlja</a:t>
            </a:r>
            <a:r>
              <a:rPr lang="en-US" b="0" i="0" dirty="0">
                <a:solidFill>
                  <a:schemeClr val="tx1"/>
                </a:solidFill>
                <a:effectLst/>
                <a:highlight>
                  <a:srgbClr val="808000"/>
                </a:highlight>
                <a:latin typeface="Arial" panose="020B0604020202020204" pitchFamily="34" charset="0"/>
              </a:rPr>
              <a:t> u </a:t>
            </a:r>
            <a:r>
              <a:rPr lang="en-US" b="0" i="0" dirty="0" err="1">
                <a:solidFill>
                  <a:schemeClr val="tx1"/>
                </a:solidFill>
                <a:effectLst/>
                <a:highlight>
                  <a:srgbClr val="808000"/>
                </a:highlight>
                <a:latin typeface="Arial" panose="020B0604020202020204" pitchFamily="34" charset="0"/>
              </a:rPr>
              <a:t>opticaj</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kazniće</a:t>
            </a:r>
            <a:r>
              <a:rPr lang="en-US" b="0" i="0" dirty="0">
                <a:solidFill>
                  <a:schemeClr val="tx1"/>
                </a:solidFill>
                <a:effectLst/>
                <a:highlight>
                  <a:srgbClr val="808000"/>
                </a:highlight>
                <a:latin typeface="Arial" panose="020B0604020202020204" pitchFamily="34" charset="0"/>
              </a:rPr>
              <a:t> se </a:t>
            </a:r>
            <a:r>
              <a:rPr lang="en-US" b="0" i="0" dirty="0" err="1">
                <a:solidFill>
                  <a:schemeClr val="tx1"/>
                </a:solidFill>
                <a:effectLst/>
                <a:highlight>
                  <a:srgbClr val="808000"/>
                </a:highlight>
                <a:latin typeface="Arial" panose="020B0604020202020204" pitchFamily="34" charset="0"/>
              </a:rPr>
              <a:t>zatvorom</a:t>
            </a:r>
            <a:r>
              <a:rPr lang="en-US" b="0" i="0" dirty="0">
                <a:solidFill>
                  <a:schemeClr val="tx1"/>
                </a:solidFill>
                <a:effectLst/>
                <a:highlight>
                  <a:srgbClr val="808000"/>
                </a:highlight>
                <a:latin typeface="Arial" panose="020B0604020202020204" pitchFamily="34" charset="0"/>
              </a:rPr>
              <a:t> od </a:t>
            </a:r>
            <a:r>
              <a:rPr lang="en-US" b="0" i="0" dirty="0" err="1">
                <a:solidFill>
                  <a:schemeClr val="tx1"/>
                </a:solidFill>
                <a:effectLst/>
                <a:highlight>
                  <a:srgbClr val="808000"/>
                </a:highlight>
                <a:latin typeface="Arial" panose="020B0604020202020204" pitchFamily="34" charset="0"/>
              </a:rPr>
              <a:t>dvije</a:t>
            </a:r>
            <a:r>
              <a:rPr lang="en-US" b="0" i="0" dirty="0">
                <a:solidFill>
                  <a:schemeClr val="tx1"/>
                </a:solidFill>
                <a:effectLst/>
                <a:highlight>
                  <a:srgbClr val="808000"/>
                </a:highlight>
                <a:latin typeface="Arial" panose="020B0604020202020204" pitchFamily="34" charset="0"/>
              </a:rPr>
              <a:t> do </a:t>
            </a:r>
            <a:r>
              <a:rPr lang="en-US" b="0" i="0" dirty="0" err="1">
                <a:solidFill>
                  <a:schemeClr val="tx1"/>
                </a:solidFill>
                <a:effectLst/>
                <a:highlight>
                  <a:srgbClr val="808000"/>
                </a:highlight>
                <a:latin typeface="Arial" panose="020B0604020202020204" pitchFamily="34" charset="0"/>
              </a:rPr>
              <a:t>deset</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godina</a:t>
            </a:r>
            <a:r>
              <a:rPr lang="en-US" b="0" i="0" dirty="0">
                <a:solidFill>
                  <a:schemeClr val="tx1"/>
                </a:solidFill>
                <a:effectLst/>
                <a:highlight>
                  <a:srgbClr val="808000"/>
                </a:highlight>
                <a:latin typeface="Arial" panose="020B0604020202020204" pitchFamily="34" charset="0"/>
              </a:rPr>
              <a:t>.</a:t>
            </a:r>
          </a:p>
          <a:p>
            <a:pPr algn="l"/>
            <a:r>
              <a:rPr lang="en-US" b="0" i="0" dirty="0">
                <a:solidFill>
                  <a:schemeClr val="tx1"/>
                </a:solidFill>
                <a:effectLst/>
                <a:latin typeface="Arial" panose="020B0604020202020204" pitchFamily="34" charset="0"/>
              </a:rPr>
              <a:t>(3) </a:t>
            </a:r>
            <a:r>
              <a:rPr lang="en-US" b="0" i="0" dirty="0" err="1">
                <a:solidFill>
                  <a:schemeClr val="tx1"/>
                </a:solidFill>
                <a:effectLst/>
                <a:latin typeface="Arial" panose="020B0604020202020204" pitchFamily="34" charset="0"/>
              </a:rPr>
              <a:t>Ako</a:t>
            </a:r>
            <a:r>
              <a:rPr lang="en-US" b="0" i="0" dirty="0">
                <a:solidFill>
                  <a:schemeClr val="tx1"/>
                </a:solidFill>
                <a:effectLst/>
                <a:latin typeface="Arial" panose="020B0604020202020204" pitchFamily="34" charset="0"/>
              </a:rPr>
              <a:t> je </a:t>
            </a:r>
            <a:r>
              <a:rPr lang="en-US" b="0" i="0" dirty="0" err="1">
                <a:solidFill>
                  <a:schemeClr val="tx1"/>
                </a:solidFill>
                <a:effectLst/>
                <a:latin typeface="Arial" panose="020B0604020202020204" pitchFamily="34" charset="0"/>
              </a:rPr>
              <a:t>djelom</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iz</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st.</a:t>
            </a:r>
            <a:r>
              <a:rPr lang="en-US" b="0" i="0" dirty="0">
                <a:solidFill>
                  <a:schemeClr val="tx1"/>
                </a:solidFill>
                <a:effectLst/>
                <a:latin typeface="Arial" panose="020B0604020202020204" pitchFamily="34" charset="0"/>
              </a:rPr>
              <a:t> 1 </a:t>
            </a:r>
            <a:r>
              <a:rPr lang="en-US" b="0" i="0" dirty="0" err="1">
                <a:solidFill>
                  <a:schemeClr val="tx1"/>
                </a:solidFill>
                <a:effectLst/>
                <a:latin typeface="Arial" panose="020B0604020202020204" pitchFamily="34" charset="0"/>
              </a:rPr>
              <a:t>i</a:t>
            </a:r>
            <a:r>
              <a:rPr lang="en-US" b="0" i="0" dirty="0">
                <a:solidFill>
                  <a:schemeClr val="tx1"/>
                </a:solidFill>
                <a:effectLst/>
                <a:latin typeface="Arial" panose="020B0604020202020204" pitchFamily="34" charset="0"/>
              </a:rPr>
              <a:t> 2 </a:t>
            </a:r>
            <a:r>
              <a:rPr lang="en-US" b="0" i="0" dirty="0" err="1">
                <a:solidFill>
                  <a:schemeClr val="tx1"/>
                </a:solidFill>
                <a:effectLst/>
                <a:latin typeface="Arial" panose="020B0604020202020204" pitchFamily="34" charset="0"/>
              </a:rPr>
              <a:t>ovog</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člana</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napravljen</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preinačen</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stavljen</a:t>
            </a:r>
            <a:r>
              <a:rPr lang="en-US" b="0" i="0" dirty="0">
                <a:solidFill>
                  <a:schemeClr val="tx1"/>
                </a:solidFill>
                <a:effectLst/>
                <a:latin typeface="Arial" panose="020B0604020202020204" pitchFamily="34" charset="0"/>
              </a:rPr>
              <a:t> u </a:t>
            </a:r>
            <a:r>
              <a:rPr lang="en-US" b="0" i="0" dirty="0" err="1">
                <a:solidFill>
                  <a:schemeClr val="tx1"/>
                </a:solidFill>
                <a:effectLst/>
                <a:latin typeface="Arial" panose="020B0604020202020204" pitchFamily="34" charset="0"/>
              </a:rPr>
              <a:t>promet</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ili</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pribavljen</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lažan</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novac</a:t>
            </a:r>
            <a:r>
              <a:rPr lang="en-US" b="0" i="0" dirty="0">
                <a:solidFill>
                  <a:schemeClr val="tx1"/>
                </a:solidFill>
                <a:effectLst/>
                <a:latin typeface="Arial" panose="020B0604020202020204" pitchFamily="34" charset="0"/>
              </a:rPr>
              <a:t> u </a:t>
            </a:r>
            <a:r>
              <a:rPr lang="en-US" b="0" i="0" dirty="0" err="1">
                <a:solidFill>
                  <a:schemeClr val="tx1"/>
                </a:solidFill>
                <a:effectLst/>
                <a:latin typeface="Arial" panose="020B0604020202020204" pitchFamily="34" charset="0"/>
              </a:rPr>
              <a:t>iznosu</a:t>
            </a:r>
            <a:r>
              <a:rPr lang="en-US" b="0" i="0" dirty="0">
                <a:solidFill>
                  <a:schemeClr val="tx1"/>
                </a:solidFill>
                <a:effectLst/>
                <a:latin typeface="Arial" panose="020B0604020202020204" pitchFamily="34" charset="0"/>
              </a:rPr>
              <a:t> koji </a:t>
            </a:r>
            <a:r>
              <a:rPr lang="en-US" b="0" i="0" dirty="0" err="1">
                <a:solidFill>
                  <a:schemeClr val="tx1"/>
                </a:solidFill>
                <a:effectLst/>
                <a:latin typeface="Arial" panose="020B0604020202020204" pitchFamily="34" charset="0"/>
              </a:rPr>
              <a:t>prelazi</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petnaest</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hiljada</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eura</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odnosno</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odgovarajući</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iznos</a:t>
            </a:r>
            <a:r>
              <a:rPr lang="en-US" b="0" i="0" dirty="0">
                <a:solidFill>
                  <a:schemeClr val="tx1"/>
                </a:solidFill>
                <a:effectLst/>
                <a:latin typeface="Arial" panose="020B0604020202020204" pitchFamily="34" charset="0"/>
              </a:rPr>
              <a:t> u </a:t>
            </a:r>
            <a:r>
              <a:rPr lang="en-US" b="0" i="0" dirty="0" err="1">
                <a:solidFill>
                  <a:schemeClr val="tx1"/>
                </a:solidFill>
                <a:effectLst/>
                <a:latin typeface="Arial" panose="020B0604020202020204" pitchFamily="34" charset="0"/>
              </a:rPr>
              <a:t>stranom</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novcu</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učinilac</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će</a:t>
            </a:r>
            <a:r>
              <a:rPr lang="en-US" b="0" i="0" dirty="0">
                <a:solidFill>
                  <a:schemeClr val="tx1"/>
                </a:solidFill>
                <a:effectLst/>
                <a:latin typeface="Arial" panose="020B0604020202020204" pitchFamily="34" charset="0"/>
              </a:rPr>
              <a:t> se </a:t>
            </a:r>
            <a:r>
              <a:rPr lang="en-US" b="0" i="0" dirty="0" err="1">
                <a:solidFill>
                  <a:schemeClr val="tx1"/>
                </a:solidFill>
                <a:effectLst/>
                <a:latin typeface="Arial" panose="020B0604020202020204" pitchFamily="34" charset="0"/>
              </a:rPr>
              <a:t>kazniti</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zatvorom</a:t>
            </a:r>
            <a:r>
              <a:rPr lang="en-US" b="0" i="0" dirty="0">
                <a:solidFill>
                  <a:schemeClr val="tx1"/>
                </a:solidFill>
                <a:effectLst/>
                <a:latin typeface="Arial" panose="020B0604020202020204" pitchFamily="34" charset="0"/>
              </a:rPr>
              <a:t> od pet do </a:t>
            </a:r>
            <a:r>
              <a:rPr lang="en-US" b="0" i="0" dirty="0" err="1">
                <a:solidFill>
                  <a:schemeClr val="tx1"/>
                </a:solidFill>
                <a:effectLst/>
                <a:latin typeface="Arial" panose="020B0604020202020204" pitchFamily="34" charset="0"/>
              </a:rPr>
              <a:t>petnaest</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godina</a:t>
            </a:r>
            <a:r>
              <a:rPr lang="en-US" b="0" i="0" dirty="0">
                <a:solidFill>
                  <a:schemeClr val="tx1"/>
                </a:solidFill>
                <a:effectLst/>
                <a:latin typeface="Arial" panose="020B0604020202020204" pitchFamily="34" charset="0"/>
              </a:rPr>
              <a:t>.</a:t>
            </a:r>
          </a:p>
          <a:p>
            <a:pPr algn="l"/>
            <a:r>
              <a:rPr lang="en-US" b="0" i="0" dirty="0">
                <a:solidFill>
                  <a:schemeClr val="tx1"/>
                </a:solidFill>
                <a:effectLst/>
                <a:highlight>
                  <a:srgbClr val="808000"/>
                </a:highlight>
                <a:latin typeface="Arial" panose="020B0604020202020204" pitchFamily="34" charset="0"/>
              </a:rPr>
              <a:t>(4) Ko </a:t>
            </a:r>
            <a:r>
              <a:rPr lang="en-US" b="0" i="0" dirty="0" err="1">
                <a:solidFill>
                  <a:schemeClr val="tx1"/>
                </a:solidFill>
                <a:effectLst/>
                <a:highlight>
                  <a:srgbClr val="808000"/>
                </a:highlight>
                <a:latin typeface="Arial" panose="020B0604020202020204" pitchFamily="34" charset="0"/>
              </a:rPr>
              <a:t>lažan</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novac</a:t>
            </a:r>
            <a:r>
              <a:rPr lang="en-US" b="0" i="0" dirty="0">
                <a:solidFill>
                  <a:schemeClr val="tx1"/>
                </a:solidFill>
                <a:effectLst/>
                <a:highlight>
                  <a:srgbClr val="808000"/>
                </a:highlight>
                <a:latin typeface="Arial" panose="020B0604020202020204" pitchFamily="34" charset="0"/>
              </a:rPr>
              <a:t> koji je </a:t>
            </a:r>
            <a:r>
              <a:rPr lang="en-US" b="0" i="0" dirty="0" err="1">
                <a:solidFill>
                  <a:schemeClr val="tx1"/>
                </a:solidFill>
                <a:effectLst/>
                <a:highlight>
                  <a:srgbClr val="808000"/>
                </a:highlight>
                <a:latin typeface="Arial" panose="020B0604020202020204" pitchFamily="34" charset="0"/>
              </a:rPr>
              <a:t>primio</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kao</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pravi</a:t>
            </a:r>
            <a:r>
              <a:rPr lang="en-US" b="0" i="0" dirty="0">
                <a:solidFill>
                  <a:schemeClr val="tx1"/>
                </a:solidFill>
                <a:effectLst/>
                <a:highlight>
                  <a:srgbClr val="808000"/>
                </a:highlight>
                <a:latin typeface="Arial" panose="020B0604020202020204" pitchFamily="34" charset="0"/>
              </a:rPr>
              <a:t>, pa </a:t>
            </a:r>
            <a:r>
              <a:rPr lang="en-US" b="0" i="0" dirty="0" err="1">
                <a:solidFill>
                  <a:schemeClr val="tx1"/>
                </a:solidFill>
                <a:effectLst/>
                <a:highlight>
                  <a:srgbClr val="808000"/>
                </a:highlight>
                <a:latin typeface="Arial" panose="020B0604020202020204" pitchFamily="34" charset="0"/>
              </a:rPr>
              <a:t>saznavši</a:t>
            </a:r>
            <a:r>
              <a:rPr lang="en-US" b="0" i="0" dirty="0">
                <a:solidFill>
                  <a:schemeClr val="tx1"/>
                </a:solidFill>
                <a:effectLst/>
                <a:highlight>
                  <a:srgbClr val="808000"/>
                </a:highlight>
                <a:latin typeface="Arial" panose="020B0604020202020204" pitchFamily="34" charset="0"/>
              </a:rPr>
              <a:t> da je </a:t>
            </a:r>
            <a:r>
              <a:rPr lang="en-US" b="0" i="0" dirty="0" err="1">
                <a:solidFill>
                  <a:schemeClr val="tx1"/>
                </a:solidFill>
                <a:effectLst/>
                <a:highlight>
                  <a:srgbClr val="808000"/>
                </a:highlight>
                <a:latin typeface="Arial" panose="020B0604020202020204" pitchFamily="34" charset="0"/>
              </a:rPr>
              <a:t>lažan</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stavi</a:t>
            </a:r>
            <a:r>
              <a:rPr lang="en-US" b="0" i="0" dirty="0">
                <a:solidFill>
                  <a:schemeClr val="tx1"/>
                </a:solidFill>
                <a:effectLst/>
                <a:highlight>
                  <a:srgbClr val="808000"/>
                </a:highlight>
                <a:latin typeface="Arial" panose="020B0604020202020204" pitchFamily="34" charset="0"/>
              </a:rPr>
              <a:t> u </a:t>
            </a:r>
            <a:r>
              <a:rPr lang="en-US" b="0" i="0" dirty="0" err="1">
                <a:solidFill>
                  <a:schemeClr val="tx1"/>
                </a:solidFill>
                <a:effectLst/>
                <a:highlight>
                  <a:srgbClr val="808000"/>
                </a:highlight>
                <a:latin typeface="Arial" panose="020B0604020202020204" pitchFamily="34" charset="0"/>
              </a:rPr>
              <a:t>opticaj</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ili</a:t>
            </a:r>
            <a:r>
              <a:rPr lang="en-US" b="0" i="0" dirty="0">
                <a:solidFill>
                  <a:schemeClr val="tx1"/>
                </a:solidFill>
                <a:effectLst/>
                <a:highlight>
                  <a:srgbClr val="808000"/>
                </a:highlight>
                <a:latin typeface="Arial" panose="020B0604020202020204" pitchFamily="34" charset="0"/>
              </a:rPr>
              <a:t> ko </a:t>
            </a:r>
            <a:r>
              <a:rPr lang="en-US" b="0" i="0" dirty="0" err="1">
                <a:solidFill>
                  <a:schemeClr val="tx1"/>
                </a:solidFill>
                <a:effectLst/>
                <a:highlight>
                  <a:srgbClr val="808000"/>
                </a:highlight>
                <a:latin typeface="Arial" panose="020B0604020202020204" pitchFamily="34" charset="0"/>
              </a:rPr>
              <a:t>zna</a:t>
            </a:r>
            <a:r>
              <a:rPr lang="en-US" b="0" i="0" dirty="0">
                <a:solidFill>
                  <a:schemeClr val="tx1"/>
                </a:solidFill>
                <a:effectLst/>
                <a:highlight>
                  <a:srgbClr val="808000"/>
                </a:highlight>
                <a:latin typeface="Arial" panose="020B0604020202020204" pitchFamily="34" charset="0"/>
              </a:rPr>
              <a:t> da je </a:t>
            </a:r>
            <a:r>
              <a:rPr lang="en-US" b="0" i="0" dirty="0" err="1">
                <a:solidFill>
                  <a:schemeClr val="tx1"/>
                </a:solidFill>
                <a:effectLst/>
                <a:highlight>
                  <a:srgbClr val="808000"/>
                </a:highlight>
                <a:latin typeface="Arial" panose="020B0604020202020204" pitchFamily="34" charset="0"/>
              </a:rPr>
              <a:t>načinjen</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lažan</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novac</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ili</a:t>
            </a:r>
            <a:r>
              <a:rPr lang="en-US" b="0" i="0" dirty="0">
                <a:solidFill>
                  <a:schemeClr val="tx1"/>
                </a:solidFill>
                <a:effectLst/>
                <a:highlight>
                  <a:srgbClr val="808000"/>
                </a:highlight>
                <a:latin typeface="Arial" panose="020B0604020202020204" pitchFamily="34" charset="0"/>
              </a:rPr>
              <a:t> da je </a:t>
            </a:r>
            <a:r>
              <a:rPr lang="en-US" b="0" i="0" dirty="0" err="1">
                <a:solidFill>
                  <a:schemeClr val="tx1"/>
                </a:solidFill>
                <a:effectLst/>
                <a:highlight>
                  <a:srgbClr val="808000"/>
                </a:highlight>
                <a:latin typeface="Arial" panose="020B0604020202020204" pitchFamily="34" charset="0"/>
              </a:rPr>
              <a:t>lažan</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novac</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stavljen</a:t>
            </a:r>
            <a:r>
              <a:rPr lang="en-US" b="0" i="0" dirty="0">
                <a:solidFill>
                  <a:schemeClr val="tx1"/>
                </a:solidFill>
                <a:effectLst/>
                <a:highlight>
                  <a:srgbClr val="808000"/>
                </a:highlight>
                <a:latin typeface="Arial" panose="020B0604020202020204" pitchFamily="34" charset="0"/>
              </a:rPr>
              <a:t> u </a:t>
            </a:r>
            <a:r>
              <a:rPr lang="en-US" b="0" i="0" dirty="0" err="1">
                <a:solidFill>
                  <a:schemeClr val="tx1"/>
                </a:solidFill>
                <a:effectLst/>
                <a:highlight>
                  <a:srgbClr val="808000"/>
                </a:highlight>
                <a:latin typeface="Arial" panose="020B0604020202020204" pitchFamily="34" charset="0"/>
              </a:rPr>
              <a:t>opticaj</a:t>
            </a:r>
            <a:r>
              <a:rPr lang="en-US" b="0" i="0" dirty="0">
                <a:solidFill>
                  <a:schemeClr val="tx1"/>
                </a:solidFill>
                <a:effectLst/>
                <a:highlight>
                  <a:srgbClr val="808000"/>
                </a:highlight>
                <a:latin typeface="Arial" panose="020B0604020202020204" pitchFamily="34" charset="0"/>
              </a:rPr>
              <a:t>, pa to ne </a:t>
            </a:r>
            <a:r>
              <a:rPr lang="en-US" b="0" i="0" dirty="0" err="1">
                <a:solidFill>
                  <a:schemeClr val="tx1"/>
                </a:solidFill>
                <a:effectLst/>
                <a:highlight>
                  <a:srgbClr val="808000"/>
                </a:highlight>
                <a:latin typeface="Arial" panose="020B0604020202020204" pitchFamily="34" charset="0"/>
              </a:rPr>
              <a:t>prijavi</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kazniće</a:t>
            </a:r>
            <a:r>
              <a:rPr lang="en-US" b="0" i="0" dirty="0">
                <a:solidFill>
                  <a:schemeClr val="tx1"/>
                </a:solidFill>
                <a:effectLst/>
                <a:highlight>
                  <a:srgbClr val="808000"/>
                </a:highlight>
                <a:latin typeface="Arial" panose="020B0604020202020204" pitchFamily="34" charset="0"/>
              </a:rPr>
              <a:t> se </a:t>
            </a:r>
            <a:r>
              <a:rPr lang="en-US" b="0" i="0" dirty="0" err="1">
                <a:solidFill>
                  <a:schemeClr val="tx1"/>
                </a:solidFill>
                <a:effectLst/>
                <a:highlight>
                  <a:srgbClr val="808000"/>
                </a:highlight>
                <a:latin typeface="Arial" panose="020B0604020202020204" pitchFamily="34" charset="0"/>
              </a:rPr>
              <a:t>novčanom</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kaznom</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ili</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zatvorom</a:t>
            </a:r>
            <a:r>
              <a:rPr lang="en-US" b="0" i="0" dirty="0">
                <a:solidFill>
                  <a:schemeClr val="tx1"/>
                </a:solidFill>
                <a:effectLst/>
                <a:highlight>
                  <a:srgbClr val="808000"/>
                </a:highlight>
                <a:latin typeface="Arial" panose="020B0604020202020204" pitchFamily="34" charset="0"/>
              </a:rPr>
              <a:t> do </a:t>
            </a:r>
            <a:r>
              <a:rPr lang="en-US" b="0" i="0" dirty="0" err="1">
                <a:solidFill>
                  <a:schemeClr val="tx1"/>
                </a:solidFill>
                <a:effectLst/>
                <a:highlight>
                  <a:srgbClr val="808000"/>
                </a:highlight>
                <a:latin typeface="Arial" panose="020B0604020202020204" pitchFamily="34" charset="0"/>
              </a:rPr>
              <a:t>jedne</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godine</a:t>
            </a:r>
            <a:r>
              <a:rPr lang="en-US" b="0" i="0" dirty="0">
                <a:solidFill>
                  <a:schemeClr val="tx1"/>
                </a:solidFill>
                <a:effectLst/>
                <a:highlight>
                  <a:srgbClr val="808000"/>
                </a:highlight>
                <a:latin typeface="Arial" panose="020B0604020202020204" pitchFamily="34" charset="0"/>
              </a:rPr>
              <a:t>.</a:t>
            </a:r>
          </a:p>
          <a:p>
            <a:pPr algn="l"/>
            <a:r>
              <a:rPr lang="en-US" b="0" i="0" dirty="0">
                <a:solidFill>
                  <a:schemeClr val="tx1"/>
                </a:solidFill>
                <a:effectLst/>
                <a:latin typeface="Arial" panose="020B0604020202020204" pitchFamily="34" charset="0"/>
              </a:rPr>
              <a:t>(5) </a:t>
            </a:r>
            <a:r>
              <a:rPr lang="en-US" b="0" i="0" dirty="0" err="1">
                <a:solidFill>
                  <a:schemeClr val="tx1"/>
                </a:solidFill>
                <a:effectLst/>
                <a:latin typeface="Arial" panose="020B0604020202020204" pitchFamily="34" charset="0"/>
              </a:rPr>
              <a:t>Lažan</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novac</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oduzeće</a:t>
            </a:r>
            <a:r>
              <a:rPr lang="en-US" b="0" i="0" dirty="0">
                <a:solidFill>
                  <a:schemeClr val="tx1"/>
                </a:solidFill>
                <a:effectLst/>
                <a:latin typeface="Arial" panose="020B0604020202020204" pitchFamily="34" charset="0"/>
              </a:rPr>
              <a:t> se.</a:t>
            </a:r>
          </a:p>
          <a:p>
            <a:pPr algn="l"/>
            <a:r>
              <a:rPr lang="en-US" b="0" i="0" dirty="0">
                <a:solidFill>
                  <a:schemeClr val="tx1"/>
                </a:solidFill>
                <a:effectLst/>
                <a:latin typeface="Arial" panose="020B0604020202020204" pitchFamily="34" charset="0"/>
              </a:rPr>
              <a:t>(6) </a:t>
            </a:r>
            <a:r>
              <a:rPr lang="en-US" b="0" i="0" dirty="0" err="1">
                <a:solidFill>
                  <a:schemeClr val="tx1"/>
                </a:solidFill>
                <a:effectLst/>
                <a:latin typeface="Arial" panose="020B0604020202020204" pitchFamily="34" charset="0"/>
              </a:rPr>
              <a:t>Lažnim</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novcem</a:t>
            </a:r>
            <a:r>
              <a:rPr lang="en-US" b="0" i="0" dirty="0">
                <a:solidFill>
                  <a:schemeClr val="tx1"/>
                </a:solidFill>
                <a:effectLst/>
                <a:latin typeface="Arial" panose="020B0604020202020204" pitchFamily="34" charset="0"/>
              </a:rPr>
              <a:t>, u </a:t>
            </a:r>
            <a:r>
              <a:rPr lang="en-US" b="0" i="0" dirty="0" err="1">
                <a:solidFill>
                  <a:schemeClr val="tx1"/>
                </a:solidFill>
                <a:effectLst/>
                <a:latin typeface="Arial" panose="020B0604020202020204" pitchFamily="34" charset="0"/>
              </a:rPr>
              <a:t>smislu</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ovog</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krivičnog</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djela</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smatra</a:t>
            </a:r>
            <a:r>
              <a:rPr lang="en-US" b="0" i="0" dirty="0">
                <a:solidFill>
                  <a:schemeClr val="tx1"/>
                </a:solidFill>
                <a:effectLst/>
                <a:latin typeface="Arial" panose="020B0604020202020204" pitchFamily="34" charset="0"/>
              </a:rPr>
              <a:t> se </a:t>
            </a:r>
            <a:r>
              <a:rPr lang="en-US" b="0" i="0" dirty="0" err="1">
                <a:solidFill>
                  <a:schemeClr val="tx1"/>
                </a:solidFill>
                <a:effectLst/>
                <a:latin typeface="Arial" panose="020B0604020202020204" pitchFamily="34" charset="0"/>
              </a:rPr>
              <a:t>i</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novac</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izrađen</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na</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način</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i</a:t>
            </a:r>
            <a:r>
              <a:rPr lang="en-US" b="0" i="0" dirty="0">
                <a:solidFill>
                  <a:schemeClr val="tx1"/>
                </a:solidFill>
                <a:effectLst/>
                <a:latin typeface="Arial" panose="020B0604020202020204" pitchFamily="34" charset="0"/>
              </a:rPr>
              <a:t> od </a:t>
            </a:r>
            <a:r>
              <a:rPr lang="en-US" b="0" i="0" dirty="0" err="1">
                <a:solidFill>
                  <a:schemeClr val="tx1"/>
                </a:solidFill>
                <a:effectLst/>
                <a:latin typeface="Arial" panose="020B0604020202020204" pitchFamily="34" charset="0"/>
              </a:rPr>
              <a:t>materijala</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kao</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pravi</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novac</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suprotno</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propisima</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kojima</a:t>
            </a:r>
            <a:r>
              <a:rPr lang="en-US" b="0" i="0" dirty="0">
                <a:solidFill>
                  <a:schemeClr val="tx1"/>
                </a:solidFill>
                <a:effectLst/>
                <a:latin typeface="Arial" panose="020B0604020202020204" pitchFamily="34" charset="0"/>
              </a:rPr>
              <a:t> se </a:t>
            </a:r>
            <a:r>
              <a:rPr lang="en-US" b="0" i="0" dirty="0" err="1">
                <a:solidFill>
                  <a:schemeClr val="tx1"/>
                </a:solidFill>
                <a:effectLst/>
                <a:latin typeface="Arial" panose="020B0604020202020204" pitchFamily="34" charset="0"/>
              </a:rPr>
              <a:t>uređuje</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izrada</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novca</a:t>
            </a:r>
            <a:r>
              <a:rPr lang="en-US" b="0" i="0" dirty="0">
                <a:solidFill>
                  <a:schemeClr val="tx1"/>
                </a:solidFill>
                <a:effectLst/>
                <a:latin typeface="Arial" panose="020B0604020202020204" pitchFamily="34" charset="0"/>
              </a:rPr>
              <a:t>.</a:t>
            </a:r>
          </a:p>
          <a:p>
            <a:endParaRPr lang="en-US" dirty="0"/>
          </a:p>
        </p:txBody>
      </p:sp>
    </p:spTree>
    <p:extLst>
      <p:ext uri="{BB962C8B-B14F-4D97-AF65-F5344CB8AC3E}">
        <p14:creationId xmlns:p14="http://schemas.microsoft.com/office/powerpoint/2010/main" val="24985621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C0DEA-A6EB-3170-138B-F44C7047C048}"/>
              </a:ext>
            </a:extLst>
          </p:cNvPr>
          <p:cNvSpPr>
            <a:spLocks noGrp="1"/>
          </p:cNvSpPr>
          <p:nvPr>
            <p:ph type="title"/>
          </p:nvPr>
        </p:nvSpPr>
        <p:spPr>
          <a:xfrm>
            <a:off x="913795" y="260562"/>
            <a:ext cx="10353762" cy="970450"/>
          </a:xfrm>
        </p:spPr>
        <p:txBody>
          <a:bodyPr>
            <a:normAutofit fontScale="90000"/>
          </a:bodyPr>
          <a:lstStyle/>
          <a:p>
            <a:br>
              <a:rPr lang="en-US" dirty="0"/>
            </a:br>
            <a:r>
              <a:rPr lang="en-US" dirty="0" err="1"/>
              <a:t>Falsifikovanje</a:t>
            </a:r>
            <a:r>
              <a:rPr lang="en-US" dirty="0"/>
              <a:t> </a:t>
            </a:r>
            <a:r>
              <a:rPr lang="en-US" dirty="0" err="1"/>
              <a:t>i</a:t>
            </a:r>
            <a:r>
              <a:rPr lang="en-US" dirty="0"/>
              <a:t> </a:t>
            </a:r>
            <a:r>
              <a:rPr lang="en-US" dirty="0" err="1"/>
              <a:t>zloupotreba</a:t>
            </a:r>
            <a:r>
              <a:rPr lang="en-US" dirty="0"/>
              <a:t> </a:t>
            </a:r>
            <a:r>
              <a:rPr lang="en-US" dirty="0" err="1"/>
              <a:t>kreditnih</a:t>
            </a:r>
            <a:r>
              <a:rPr lang="en-US" dirty="0"/>
              <a:t> </a:t>
            </a:r>
            <a:r>
              <a:rPr lang="en-US" dirty="0" err="1"/>
              <a:t>kartica</a:t>
            </a:r>
            <a:r>
              <a:rPr lang="en-US" dirty="0"/>
              <a:t> </a:t>
            </a:r>
            <a:r>
              <a:rPr lang="en-US" dirty="0" err="1"/>
              <a:t>i</a:t>
            </a:r>
            <a:r>
              <a:rPr lang="en-US" dirty="0"/>
              <a:t> </a:t>
            </a:r>
            <a:r>
              <a:rPr lang="en-US" dirty="0" err="1"/>
              <a:t>kartica</a:t>
            </a:r>
            <a:r>
              <a:rPr lang="en-US" dirty="0"/>
              <a:t> za </a:t>
            </a:r>
            <a:r>
              <a:rPr lang="en-US" dirty="0" err="1"/>
              <a:t>bezgotovinsko</a:t>
            </a:r>
            <a:r>
              <a:rPr lang="en-US" dirty="0"/>
              <a:t> </a:t>
            </a:r>
            <a:r>
              <a:rPr lang="en-US" dirty="0" err="1"/>
              <a:t>plaćanje</a:t>
            </a:r>
            <a:br>
              <a:rPr lang="sr-Latn-RS" dirty="0"/>
            </a:br>
            <a:r>
              <a:rPr lang="sr-Latn-RS" dirty="0"/>
              <a:t>Član 260</a:t>
            </a:r>
            <a:endParaRPr lang="en-US" dirty="0"/>
          </a:p>
        </p:txBody>
      </p:sp>
      <p:sp>
        <p:nvSpPr>
          <p:cNvPr id="3" name="Content Placeholder 2">
            <a:extLst>
              <a:ext uri="{FF2B5EF4-FFF2-40B4-BE49-F238E27FC236}">
                <a16:creationId xmlns:a16="http://schemas.microsoft.com/office/drawing/2014/main" id="{62E923C1-297A-84A8-82FB-21DFF36CA783}"/>
              </a:ext>
            </a:extLst>
          </p:cNvPr>
          <p:cNvSpPr>
            <a:spLocks noGrp="1"/>
          </p:cNvSpPr>
          <p:nvPr>
            <p:ph idx="1"/>
          </p:nvPr>
        </p:nvSpPr>
        <p:spPr>
          <a:xfrm>
            <a:off x="913795" y="2053462"/>
            <a:ext cx="10353762" cy="4058751"/>
          </a:xfrm>
        </p:spPr>
        <p:txBody>
          <a:bodyPr/>
          <a:lstStyle/>
          <a:p>
            <a:pPr algn="l"/>
            <a:r>
              <a:rPr lang="en-US" b="0" i="0" dirty="0">
                <a:solidFill>
                  <a:schemeClr val="tx1"/>
                </a:solidFill>
                <a:effectLst/>
                <a:latin typeface="Arial" panose="020B0604020202020204" pitchFamily="34" charset="0"/>
              </a:rPr>
              <a:t>(1) Ko </a:t>
            </a:r>
            <a:r>
              <a:rPr lang="en-US" b="0" i="0" dirty="0" err="1">
                <a:solidFill>
                  <a:schemeClr val="tx1"/>
                </a:solidFill>
                <a:effectLst/>
                <a:latin typeface="Arial" panose="020B0604020202020204" pitchFamily="34" charset="0"/>
              </a:rPr>
              <a:t>napravi</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lažnu</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platnu</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karticu</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ili</a:t>
            </a:r>
            <a:r>
              <a:rPr lang="en-US" b="0" i="0" dirty="0">
                <a:solidFill>
                  <a:schemeClr val="tx1"/>
                </a:solidFill>
                <a:effectLst/>
                <a:latin typeface="Arial" panose="020B0604020202020204" pitchFamily="34" charset="0"/>
              </a:rPr>
              <a:t> ko </a:t>
            </a:r>
            <a:r>
              <a:rPr lang="en-US" b="0" i="0" dirty="0" err="1">
                <a:solidFill>
                  <a:schemeClr val="tx1"/>
                </a:solidFill>
                <a:effectLst/>
                <a:latin typeface="Arial" panose="020B0604020202020204" pitchFamily="34" charset="0"/>
              </a:rPr>
              <a:t>preinači</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pravu</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platnu</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karticu</a:t>
            </a:r>
            <a:r>
              <a:rPr lang="en-US" b="0" i="0" dirty="0">
                <a:solidFill>
                  <a:schemeClr val="tx1"/>
                </a:solidFill>
                <a:effectLst/>
                <a:latin typeface="Arial" panose="020B0604020202020204" pitchFamily="34" charset="0"/>
              </a:rPr>
              <a:t> u </a:t>
            </a:r>
            <a:r>
              <a:rPr lang="en-US" b="0" i="0" dirty="0" err="1">
                <a:solidFill>
                  <a:schemeClr val="tx1"/>
                </a:solidFill>
                <a:effectLst/>
                <a:latin typeface="Arial" panose="020B0604020202020204" pitchFamily="34" charset="0"/>
              </a:rPr>
              <a:t>namjeri</a:t>
            </a:r>
            <a:r>
              <a:rPr lang="en-US" b="0" i="0" dirty="0">
                <a:solidFill>
                  <a:schemeClr val="tx1"/>
                </a:solidFill>
                <a:effectLst/>
                <a:latin typeface="Arial" panose="020B0604020202020204" pitchFamily="34" charset="0"/>
              </a:rPr>
              <a:t> da je </a:t>
            </a:r>
            <a:r>
              <a:rPr lang="en-US" b="0" i="0" dirty="0" err="1">
                <a:solidFill>
                  <a:schemeClr val="tx1"/>
                </a:solidFill>
                <a:effectLst/>
                <a:latin typeface="Arial" panose="020B0604020202020204" pitchFamily="34" charset="0"/>
              </a:rPr>
              <a:t>upotrijebi</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kao</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pravu</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ili</a:t>
            </a:r>
            <a:r>
              <a:rPr lang="en-US" b="0" i="0" dirty="0">
                <a:solidFill>
                  <a:schemeClr val="tx1"/>
                </a:solidFill>
                <a:effectLst/>
                <a:latin typeface="Arial" panose="020B0604020202020204" pitchFamily="34" charset="0"/>
              </a:rPr>
              <a:t> ko </a:t>
            </a:r>
            <a:r>
              <a:rPr lang="en-US" b="0" i="0" dirty="0" err="1">
                <a:solidFill>
                  <a:schemeClr val="tx1"/>
                </a:solidFill>
                <a:effectLst/>
                <a:latin typeface="Arial" panose="020B0604020202020204" pitchFamily="34" charset="0"/>
              </a:rPr>
              <a:t>takvu</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lažnu</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platnu</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karticu</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ili</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tuđu</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pravu</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platnu</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karticu</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koja</a:t>
            </a:r>
            <a:r>
              <a:rPr lang="en-US" b="0" i="0" dirty="0">
                <a:solidFill>
                  <a:schemeClr val="tx1"/>
                </a:solidFill>
                <a:effectLst/>
                <a:latin typeface="Arial" panose="020B0604020202020204" pitchFamily="34" charset="0"/>
              </a:rPr>
              <a:t> je </a:t>
            </a:r>
            <a:r>
              <a:rPr lang="en-US" b="0" i="0" dirty="0" err="1">
                <a:solidFill>
                  <a:schemeClr val="tx1"/>
                </a:solidFill>
                <a:effectLst/>
                <a:latin typeface="Arial" panose="020B0604020202020204" pitchFamily="34" charset="0"/>
              </a:rPr>
              <a:t>neovlašćeno</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pribavljena</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nabavi</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drži</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ili</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prenese</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radi</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upotrebe</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ili</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takvu</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karticu</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upotrijebi</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kazniće</a:t>
            </a:r>
            <a:r>
              <a:rPr lang="en-US" b="0" i="0" dirty="0">
                <a:solidFill>
                  <a:schemeClr val="tx1"/>
                </a:solidFill>
                <a:effectLst/>
                <a:latin typeface="Arial" panose="020B0604020202020204" pitchFamily="34" charset="0"/>
              </a:rPr>
              <a:t> se </a:t>
            </a:r>
            <a:r>
              <a:rPr lang="en-US" b="0" i="0" dirty="0" err="1">
                <a:solidFill>
                  <a:schemeClr val="tx1"/>
                </a:solidFill>
                <a:effectLst/>
                <a:latin typeface="Arial" panose="020B0604020202020204" pitchFamily="34" charset="0"/>
              </a:rPr>
              <a:t>zatvorom</a:t>
            </a:r>
            <a:r>
              <a:rPr lang="en-US" b="0" i="0" dirty="0">
                <a:solidFill>
                  <a:schemeClr val="tx1"/>
                </a:solidFill>
                <a:effectLst/>
                <a:latin typeface="Arial" panose="020B0604020202020204" pitchFamily="34" charset="0"/>
              </a:rPr>
              <a:t> do tri </a:t>
            </a:r>
            <a:r>
              <a:rPr lang="en-US" b="0" i="0" dirty="0" err="1">
                <a:solidFill>
                  <a:schemeClr val="tx1"/>
                </a:solidFill>
                <a:effectLst/>
                <a:latin typeface="Arial" panose="020B0604020202020204" pitchFamily="34" charset="0"/>
              </a:rPr>
              <a:t>godine</a:t>
            </a:r>
            <a:r>
              <a:rPr lang="en-US" b="0" i="0" dirty="0">
                <a:solidFill>
                  <a:schemeClr val="tx1"/>
                </a:solidFill>
                <a:effectLst/>
                <a:latin typeface="Arial" panose="020B0604020202020204" pitchFamily="34" charset="0"/>
              </a:rPr>
              <a:t>.</a:t>
            </a:r>
          </a:p>
          <a:p>
            <a:pPr algn="l"/>
            <a:r>
              <a:rPr lang="en-US" b="0" i="0" dirty="0">
                <a:solidFill>
                  <a:schemeClr val="tx1"/>
                </a:solidFill>
                <a:effectLst/>
                <a:highlight>
                  <a:srgbClr val="808000"/>
                </a:highlight>
                <a:latin typeface="Arial" panose="020B0604020202020204" pitchFamily="34" charset="0"/>
              </a:rPr>
              <a:t>(2) </a:t>
            </a:r>
            <a:r>
              <a:rPr lang="en-US" b="0" i="0" dirty="0" err="1">
                <a:solidFill>
                  <a:schemeClr val="tx1"/>
                </a:solidFill>
                <a:effectLst/>
                <a:highlight>
                  <a:srgbClr val="808000"/>
                </a:highlight>
                <a:latin typeface="Arial" panose="020B0604020202020204" pitchFamily="34" charset="0"/>
              </a:rPr>
              <a:t>Ako</a:t>
            </a:r>
            <a:r>
              <a:rPr lang="en-US" b="0" i="0" dirty="0">
                <a:solidFill>
                  <a:schemeClr val="tx1"/>
                </a:solidFill>
                <a:effectLst/>
                <a:highlight>
                  <a:srgbClr val="808000"/>
                </a:highlight>
                <a:latin typeface="Arial" panose="020B0604020202020204" pitchFamily="34" charset="0"/>
              </a:rPr>
              <a:t> je </a:t>
            </a:r>
            <a:r>
              <a:rPr lang="en-US" b="0" i="0" dirty="0" err="1">
                <a:solidFill>
                  <a:schemeClr val="tx1"/>
                </a:solidFill>
                <a:effectLst/>
                <a:highlight>
                  <a:srgbClr val="808000"/>
                </a:highlight>
                <a:latin typeface="Arial" panose="020B0604020202020204" pitchFamily="34" charset="0"/>
              </a:rPr>
              <a:t>učinilac</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djela</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iz</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stava</a:t>
            </a:r>
            <a:r>
              <a:rPr lang="en-US" b="0" i="0" dirty="0">
                <a:solidFill>
                  <a:schemeClr val="tx1"/>
                </a:solidFill>
                <a:effectLst/>
                <a:highlight>
                  <a:srgbClr val="808000"/>
                </a:highlight>
                <a:latin typeface="Arial" panose="020B0604020202020204" pitchFamily="34" charset="0"/>
              </a:rPr>
              <a:t> 1 </a:t>
            </a:r>
            <a:r>
              <a:rPr lang="en-US" b="0" i="0" dirty="0" err="1">
                <a:solidFill>
                  <a:schemeClr val="tx1"/>
                </a:solidFill>
                <a:effectLst/>
                <a:highlight>
                  <a:srgbClr val="808000"/>
                </a:highlight>
                <a:latin typeface="Arial" panose="020B0604020202020204" pitchFamily="34" charset="0"/>
              </a:rPr>
              <a:t>ovog</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člana</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upotrebom</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kartice</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pribavio</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protivpravnu</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imovinsku</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korist</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kazniće</a:t>
            </a:r>
            <a:r>
              <a:rPr lang="en-US" b="0" i="0" dirty="0">
                <a:solidFill>
                  <a:schemeClr val="tx1"/>
                </a:solidFill>
                <a:effectLst/>
                <a:highlight>
                  <a:srgbClr val="808000"/>
                </a:highlight>
                <a:latin typeface="Arial" panose="020B0604020202020204" pitchFamily="34" charset="0"/>
              </a:rPr>
              <a:t> se </a:t>
            </a:r>
            <a:r>
              <a:rPr lang="en-US" b="0" i="0" dirty="0" err="1">
                <a:solidFill>
                  <a:schemeClr val="tx1"/>
                </a:solidFill>
                <a:effectLst/>
                <a:highlight>
                  <a:srgbClr val="808000"/>
                </a:highlight>
                <a:latin typeface="Arial" panose="020B0604020202020204" pitchFamily="34" charset="0"/>
              </a:rPr>
              <a:t>zatvorom</a:t>
            </a:r>
            <a:r>
              <a:rPr lang="en-US" b="0" i="0" dirty="0">
                <a:solidFill>
                  <a:schemeClr val="tx1"/>
                </a:solidFill>
                <a:effectLst/>
                <a:highlight>
                  <a:srgbClr val="808000"/>
                </a:highlight>
                <a:latin typeface="Arial" panose="020B0604020202020204" pitchFamily="34" charset="0"/>
              </a:rPr>
              <a:t> od </a:t>
            </a:r>
            <a:r>
              <a:rPr lang="en-US" b="0" i="0" dirty="0" err="1">
                <a:solidFill>
                  <a:schemeClr val="tx1"/>
                </a:solidFill>
                <a:effectLst/>
                <a:highlight>
                  <a:srgbClr val="808000"/>
                </a:highlight>
                <a:latin typeface="Arial" panose="020B0604020202020204" pitchFamily="34" charset="0"/>
              </a:rPr>
              <a:t>šest</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mjeseci</a:t>
            </a:r>
            <a:r>
              <a:rPr lang="en-US" b="0" i="0" dirty="0">
                <a:solidFill>
                  <a:schemeClr val="tx1"/>
                </a:solidFill>
                <a:effectLst/>
                <a:highlight>
                  <a:srgbClr val="808000"/>
                </a:highlight>
                <a:latin typeface="Arial" panose="020B0604020202020204" pitchFamily="34" charset="0"/>
              </a:rPr>
              <a:t> do pet </a:t>
            </a:r>
            <a:r>
              <a:rPr lang="en-US" b="0" i="0" dirty="0" err="1">
                <a:solidFill>
                  <a:schemeClr val="tx1"/>
                </a:solidFill>
                <a:effectLst/>
                <a:highlight>
                  <a:srgbClr val="808000"/>
                </a:highlight>
                <a:latin typeface="Arial" panose="020B0604020202020204" pitchFamily="34" charset="0"/>
              </a:rPr>
              <a:t>godina</a:t>
            </a:r>
            <a:r>
              <a:rPr lang="en-US" b="0" i="0" dirty="0">
                <a:solidFill>
                  <a:schemeClr val="tx1"/>
                </a:solidFill>
                <a:effectLst/>
                <a:highlight>
                  <a:srgbClr val="808000"/>
                </a:highlight>
                <a:latin typeface="Arial" panose="020B0604020202020204" pitchFamily="34" charset="0"/>
              </a:rPr>
              <a:t>.</a:t>
            </a:r>
          </a:p>
          <a:p>
            <a:pPr algn="l"/>
            <a:r>
              <a:rPr lang="en-US" b="0" i="0" dirty="0">
                <a:solidFill>
                  <a:schemeClr val="tx1"/>
                </a:solidFill>
                <a:effectLst/>
                <a:latin typeface="Arial" panose="020B0604020202020204" pitchFamily="34" charset="0"/>
              </a:rPr>
              <a:t>(3) </a:t>
            </a:r>
            <a:r>
              <a:rPr lang="en-US" b="0" i="0" dirty="0" err="1">
                <a:solidFill>
                  <a:schemeClr val="tx1"/>
                </a:solidFill>
                <a:effectLst/>
                <a:latin typeface="Arial" panose="020B0604020202020204" pitchFamily="34" charset="0"/>
              </a:rPr>
              <a:t>Ako</a:t>
            </a:r>
            <a:r>
              <a:rPr lang="en-US" b="0" i="0" dirty="0">
                <a:solidFill>
                  <a:schemeClr val="tx1"/>
                </a:solidFill>
                <a:effectLst/>
                <a:latin typeface="Arial" panose="020B0604020202020204" pitchFamily="34" charset="0"/>
              </a:rPr>
              <a:t> je </a:t>
            </a:r>
            <a:r>
              <a:rPr lang="en-US" b="0" i="0" dirty="0" err="1">
                <a:solidFill>
                  <a:schemeClr val="tx1"/>
                </a:solidFill>
                <a:effectLst/>
                <a:latin typeface="Arial" panose="020B0604020202020204" pitchFamily="34" charset="0"/>
              </a:rPr>
              <a:t>učinilac</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djela</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iz</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stava</a:t>
            </a:r>
            <a:r>
              <a:rPr lang="en-US" b="0" i="0" dirty="0">
                <a:solidFill>
                  <a:schemeClr val="tx1"/>
                </a:solidFill>
                <a:effectLst/>
                <a:latin typeface="Arial" panose="020B0604020202020204" pitchFamily="34" charset="0"/>
              </a:rPr>
              <a:t> 1 </a:t>
            </a:r>
            <a:r>
              <a:rPr lang="en-US" b="0" i="0" dirty="0" err="1">
                <a:solidFill>
                  <a:schemeClr val="tx1"/>
                </a:solidFill>
                <a:effectLst/>
                <a:latin typeface="Arial" panose="020B0604020202020204" pitchFamily="34" charset="0"/>
              </a:rPr>
              <a:t>ovog</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člana</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pribavio</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protivpravnu</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imovinsku</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korist</a:t>
            </a:r>
            <a:r>
              <a:rPr lang="en-US" b="0" i="0" dirty="0">
                <a:solidFill>
                  <a:schemeClr val="tx1"/>
                </a:solidFill>
                <a:effectLst/>
                <a:latin typeface="Arial" panose="020B0604020202020204" pitchFamily="34" charset="0"/>
              </a:rPr>
              <a:t> u </a:t>
            </a:r>
            <a:r>
              <a:rPr lang="en-US" b="0" i="0" dirty="0" err="1">
                <a:solidFill>
                  <a:schemeClr val="tx1"/>
                </a:solidFill>
                <a:effectLst/>
                <a:latin typeface="Arial" panose="020B0604020202020204" pitchFamily="34" charset="0"/>
              </a:rPr>
              <a:t>iznosu</a:t>
            </a:r>
            <a:r>
              <a:rPr lang="en-US" b="0" i="0" dirty="0">
                <a:solidFill>
                  <a:schemeClr val="tx1"/>
                </a:solidFill>
                <a:effectLst/>
                <a:latin typeface="Arial" panose="020B0604020202020204" pitchFamily="34" charset="0"/>
              </a:rPr>
              <a:t> koji </a:t>
            </a:r>
            <a:r>
              <a:rPr lang="en-US" b="0" i="0" dirty="0" err="1">
                <a:solidFill>
                  <a:schemeClr val="tx1"/>
                </a:solidFill>
                <a:effectLst/>
                <a:latin typeface="Arial" panose="020B0604020202020204" pitchFamily="34" charset="0"/>
              </a:rPr>
              <a:t>prelazi</a:t>
            </a:r>
            <a:r>
              <a:rPr lang="en-US" b="0" i="0" dirty="0">
                <a:solidFill>
                  <a:schemeClr val="tx1"/>
                </a:solidFill>
                <a:effectLst/>
                <a:latin typeface="Arial" panose="020B0604020202020204" pitchFamily="34" charset="0"/>
              </a:rPr>
              <a:t> tri </a:t>
            </a:r>
            <a:r>
              <a:rPr lang="en-US" b="0" i="0" dirty="0" err="1">
                <a:solidFill>
                  <a:schemeClr val="tx1"/>
                </a:solidFill>
                <a:effectLst/>
                <a:latin typeface="Arial" panose="020B0604020202020204" pitchFamily="34" charset="0"/>
              </a:rPr>
              <a:t>hiljade</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eura</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kazniće</a:t>
            </a:r>
            <a:r>
              <a:rPr lang="en-US" b="0" i="0" dirty="0">
                <a:solidFill>
                  <a:schemeClr val="tx1"/>
                </a:solidFill>
                <a:effectLst/>
                <a:latin typeface="Arial" panose="020B0604020202020204" pitchFamily="34" charset="0"/>
              </a:rPr>
              <a:t> se </a:t>
            </a:r>
            <a:r>
              <a:rPr lang="en-US" b="0" i="0" dirty="0" err="1">
                <a:solidFill>
                  <a:schemeClr val="tx1"/>
                </a:solidFill>
                <a:effectLst/>
                <a:latin typeface="Arial" panose="020B0604020202020204" pitchFamily="34" charset="0"/>
              </a:rPr>
              <a:t>zatvorom</a:t>
            </a:r>
            <a:r>
              <a:rPr lang="en-US" b="0" i="0" dirty="0">
                <a:solidFill>
                  <a:schemeClr val="tx1"/>
                </a:solidFill>
                <a:effectLst/>
                <a:latin typeface="Arial" panose="020B0604020202020204" pitchFamily="34" charset="0"/>
              </a:rPr>
              <a:t> od </a:t>
            </a:r>
            <a:r>
              <a:rPr lang="en-US" b="0" i="0" dirty="0" err="1">
                <a:solidFill>
                  <a:schemeClr val="tx1"/>
                </a:solidFill>
                <a:effectLst/>
                <a:latin typeface="Arial" panose="020B0604020202020204" pitchFamily="34" charset="0"/>
              </a:rPr>
              <a:t>jedne</a:t>
            </a:r>
            <a:r>
              <a:rPr lang="en-US" b="0" i="0" dirty="0">
                <a:solidFill>
                  <a:schemeClr val="tx1"/>
                </a:solidFill>
                <a:effectLst/>
                <a:latin typeface="Arial" panose="020B0604020202020204" pitchFamily="34" charset="0"/>
              </a:rPr>
              <a:t> do </a:t>
            </a:r>
            <a:r>
              <a:rPr lang="en-US" b="0" i="0" dirty="0" err="1">
                <a:solidFill>
                  <a:schemeClr val="tx1"/>
                </a:solidFill>
                <a:effectLst/>
                <a:latin typeface="Arial" panose="020B0604020202020204" pitchFamily="34" charset="0"/>
              </a:rPr>
              <a:t>osam</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godina</a:t>
            </a:r>
            <a:r>
              <a:rPr lang="en-US" b="0" i="0" dirty="0">
                <a:solidFill>
                  <a:schemeClr val="tx1"/>
                </a:solidFill>
                <a:effectLst/>
                <a:latin typeface="Arial" panose="020B0604020202020204" pitchFamily="34" charset="0"/>
              </a:rPr>
              <a:t>.</a:t>
            </a:r>
          </a:p>
          <a:p>
            <a:pPr algn="l"/>
            <a:r>
              <a:rPr lang="en-US" b="0" i="0" dirty="0">
                <a:solidFill>
                  <a:schemeClr val="tx1"/>
                </a:solidFill>
                <a:effectLst/>
                <a:latin typeface="Arial" panose="020B0604020202020204" pitchFamily="34" charset="0"/>
              </a:rPr>
              <a:t>(4) </a:t>
            </a:r>
            <a:r>
              <a:rPr lang="en-US" b="0" i="0" dirty="0" err="1">
                <a:solidFill>
                  <a:schemeClr val="tx1"/>
                </a:solidFill>
                <a:effectLst/>
                <a:latin typeface="Arial" panose="020B0604020202020204" pitchFamily="34" charset="0"/>
              </a:rPr>
              <a:t>Ako</a:t>
            </a:r>
            <a:r>
              <a:rPr lang="en-US" b="0" i="0" dirty="0">
                <a:solidFill>
                  <a:schemeClr val="tx1"/>
                </a:solidFill>
                <a:effectLst/>
                <a:latin typeface="Arial" panose="020B0604020202020204" pitchFamily="34" charset="0"/>
              </a:rPr>
              <a:t> je </a:t>
            </a:r>
            <a:r>
              <a:rPr lang="en-US" b="0" i="0" dirty="0" err="1">
                <a:solidFill>
                  <a:schemeClr val="tx1"/>
                </a:solidFill>
                <a:effectLst/>
                <a:latin typeface="Arial" panose="020B0604020202020204" pitchFamily="34" charset="0"/>
              </a:rPr>
              <a:t>učinilac</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djela</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iz</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stava</a:t>
            </a:r>
            <a:r>
              <a:rPr lang="en-US" b="0" i="0" dirty="0">
                <a:solidFill>
                  <a:schemeClr val="tx1"/>
                </a:solidFill>
                <a:effectLst/>
                <a:latin typeface="Arial" panose="020B0604020202020204" pitchFamily="34" charset="0"/>
              </a:rPr>
              <a:t> 1 </a:t>
            </a:r>
            <a:r>
              <a:rPr lang="en-US" b="0" i="0" dirty="0" err="1">
                <a:solidFill>
                  <a:schemeClr val="tx1"/>
                </a:solidFill>
                <a:effectLst/>
                <a:latin typeface="Arial" panose="020B0604020202020204" pitchFamily="34" charset="0"/>
              </a:rPr>
              <a:t>ovog</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člana</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pribavio</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protivpravnu</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imovinsku</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korist</a:t>
            </a:r>
            <a:r>
              <a:rPr lang="en-US" b="0" i="0" dirty="0">
                <a:solidFill>
                  <a:schemeClr val="tx1"/>
                </a:solidFill>
                <a:effectLst/>
                <a:latin typeface="Arial" panose="020B0604020202020204" pitchFamily="34" charset="0"/>
              </a:rPr>
              <a:t> u </a:t>
            </a:r>
            <a:r>
              <a:rPr lang="en-US" b="0" i="0" dirty="0" err="1">
                <a:solidFill>
                  <a:schemeClr val="tx1"/>
                </a:solidFill>
                <a:effectLst/>
                <a:latin typeface="Arial" panose="020B0604020202020204" pitchFamily="34" charset="0"/>
              </a:rPr>
              <a:t>iznosu</a:t>
            </a:r>
            <a:r>
              <a:rPr lang="en-US" b="0" i="0" dirty="0">
                <a:solidFill>
                  <a:schemeClr val="tx1"/>
                </a:solidFill>
                <a:effectLst/>
                <a:latin typeface="Arial" panose="020B0604020202020204" pitchFamily="34" charset="0"/>
              </a:rPr>
              <a:t> koji </a:t>
            </a:r>
            <a:r>
              <a:rPr lang="en-US" b="0" i="0" dirty="0" err="1">
                <a:solidFill>
                  <a:schemeClr val="tx1"/>
                </a:solidFill>
                <a:effectLst/>
                <a:latin typeface="Arial" panose="020B0604020202020204" pitchFamily="34" charset="0"/>
              </a:rPr>
              <a:t>prelazi</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trideset</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hiljada</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eura</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kazniće</a:t>
            </a:r>
            <a:r>
              <a:rPr lang="en-US" b="0" i="0" dirty="0">
                <a:solidFill>
                  <a:schemeClr val="tx1"/>
                </a:solidFill>
                <a:effectLst/>
                <a:latin typeface="Arial" panose="020B0604020202020204" pitchFamily="34" charset="0"/>
              </a:rPr>
              <a:t> se </a:t>
            </a:r>
            <a:r>
              <a:rPr lang="en-US" b="0" i="0" dirty="0" err="1">
                <a:solidFill>
                  <a:schemeClr val="tx1"/>
                </a:solidFill>
                <a:effectLst/>
                <a:latin typeface="Arial" panose="020B0604020202020204" pitchFamily="34" charset="0"/>
              </a:rPr>
              <a:t>zatvorom</a:t>
            </a:r>
            <a:r>
              <a:rPr lang="en-US" b="0" i="0" dirty="0">
                <a:solidFill>
                  <a:schemeClr val="tx1"/>
                </a:solidFill>
                <a:effectLst/>
                <a:latin typeface="Arial" panose="020B0604020202020204" pitchFamily="34" charset="0"/>
              </a:rPr>
              <a:t> od </a:t>
            </a:r>
            <a:r>
              <a:rPr lang="en-US" b="0" i="0" dirty="0" err="1">
                <a:solidFill>
                  <a:schemeClr val="tx1"/>
                </a:solidFill>
                <a:effectLst/>
                <a:latin typeface="Arial" panose="020B0604020202020204" pitchFamily="34" charset="0"/>
              </a:rPr>
              <a:t>dvije</a:t>
            </a:r>
            <a:r>
              <a:rPr lang="en-US" b="0" i="0" dirty="0">
                <a:solidFill>
                  <a:schemeClr val="tx1"/>
                </a:solidFill>
                <a:effectLst/>
                <a:latin typeface="Arial" panose="020B0604020202020204" pitchFamily="34" charset="0"/>
              </a:rPr>
              <a:t> do </a:t>
            </a:r>
            <a:r>
              <a:rPr lang="en-US" b="0" i="0" dirty="0" err="1">
                <a:solidFill>
                  <a:schemeClr val="tx1"/>
                </a:solidFill>
                <a:effectLst/>
                <a:latin typeface="Arial" panose="020B0604020202020204" pitchFamily="34" charset="0"/>
              </a:rPr>
              <a:t>deset</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godina</a:t>
            </a:r>
            <a:r>
              <a:rPr lang="en-US" b="0" i="0" dirty="0">
                <a:solidFill>
                  <a:schemeClr val="tx1"/>
                </a:solidFill>
                <a:effectLst/>
                <a:latin typeface="Arial" panose="020B0604020202020204" pitchFamily="34" charset="0"/>
              </a:rPr>
              <a:t>.</a:t>
            </a:r>
          </a:p>
          <a:p>
            <a:endParaRPr lang="en-US" dirty="0"/>
          </a:p>
        </p:txBody>
      </p:sp>
    </p:spTree>
    <p:extLst>
      <p:ext uri="{BB962C8B-B14F-4D97-AF65-F5344CB8AC3E}">
        <p14:creationId xmlns:p14="http://schemas.microsoft.com/office/powerpoint/2010/main" val="29717445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DB07E-CACE-C03D-2177-F4807CD76F04}"/>
              </a:ext>
            </a:extLst>
          </p:cNvPr>
          <p:cNvSpPr>
            <a:spLocks noGrp="1"/>
          </p:cNvSpPr>
          <p:nvPr>
            <p:ph type="title"/>
          </p:nvPr>
        </p:nvSpPr>
        <p:spPr>
          <a:xfrm>
            <a:off x="919119" y="317770"/>
            <a:ext cx="10353762" cy="970450"/>
          </a:xfrm>
        </p:spPr>
        <p:txBody>
          <a:bodyPr/>
          <a:lstStyle/>
          <a:p>
            <a:r>
              <a:rPr lang="en-US" dirty="0" err="1"/>
              <a:t>Glava</a:t>
            </a:r>
            <a:r>
              <a:rPr lang="en-US" dirty="0"/>
              <a:t> 23 u Akoma </a:t>
            </a:r>
            <a:r>
              <a:rPr lang="en-US" dirty="0" err="1"/>
              <a:t>Ntoso</a:t>
            </a:r>
            <a:r>
              <a:rPr lang="en-US" dirty="0"/>
              <a:t> </a:t>
            </a:r>
            <a:r>
              <a:rPr lang="en-US" dirty="0" err="1"/>
              <a:t>formatu</a:t>
            </a:r>
            <a:endParaRPr lang="en-US" dirty="0"/>
          </a:p>
        </p:txBody>
      </p:sp>
      <p:pic>
        <p:nvPicPr>
          <p:cNvPr id="5" name="Picture 4">
            <a:extLst>
              <a:ext uri="{FF2B5EF4-FFF2-40B4-BE49-F238E27FC236}">
                <a16:creationId xmlns:a16="http://schemas.microsoft.com/office/drawing/2014/main" id="{8E44478A-E099-0BFB-DCEF-1ACB51D39F5F}"/>
              </a:ext>
            </a:extLst>
          </p:cNvPr>
          <p:cNvPicPr>
            <a:picLocks noChangeAspect="1"/>
          </p:cNvPicPr>
          <p:nvPr/>
        </p:nvPicPr>
        <p:blipFill>
          <a:blip r:embed="rId2"/>
          <a:stretch>
            <a:fillRect/>
          </a:stretch>
        </p:blipFill>
        <p:spPr>
          <a:xfrm>
            <a:off x="1663430" y="1471999"/>
            <a:ext cx="8358701" cy="4776401"/>
          </a:xfrm>
          <a:prstGeom prst="rect">
            <a:avLst/>
          </a:prstGeom>
        </p:spPr>
      </p:pic>
    </p:spTree>
    <p:extLst>
      <p:ext uri="{BB962C8B-B14F-4D97-AF65-F5344CB8AC3E}">
        <p14:creationId xmlns:p14="http://schemas.microsoft.com/office/powerpoint/2010/main" val="3932831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16BA6-4682-2780-AC59-0EE8544BDFB7}"/>
              </a:ext>
            </a:extLst>
          </p:cNvPr>
          <p:cNvSpPr>
            <a:spLocks noGrp="1"/>
          </p:cNvSpPr>
          <p:nvPr>
            <p:ph type="title"/>
          </p:nvPr>
        </p:nvSpPr>
        <p:spPr>
          <a:xfrm>
            <a:off x="913795" y="96350"/>
            <a:ext cx="10353762" cy="970450"/>
          </a:xfrm>
        </p:spPr>
        <p:txBody>
          <a:bodyPr/>
          <a:lstStyle/>
          <a:p>
            <a:r>
              <a:rPr lang="sr-Latn-RS" dirty="0"/>
              <a:t>Uzeto je 127 </a:t>
            </a:r>
            <a:r>
              <a:rPr lang="en-US" dirty="0" err="1"/>
              <a:t>presud</a:t>
            </a:r>
            <a:r>
              <a:rPr lang="sr-Latn-RS" dirty="0"/>
              <a:t>a</a:t>
            </a:r>
            <a:r>
              <a:rPr lang="en-US" dirty="0"/>
              <a:t> </a:t>
            </a:r>
            <a:r>
              <a:rPr lang="en-US" dirty="0" err="1"/>
              <a:t>sa</a:t>
            </a:r>
            <a:r>
              <a:rPr lang="en-US" dirty="0"/>
              <a:t> </a:t>
            </a:r>
            <a:r>
              <a:rPr lang="en-US" dirty="0" err="1"/>
              <a:t>sajta</a:t>
            </a:r>
            <a:endParaRPr lang="en-US" dirty="0"/>
          </a:p>
        </p:txBody>
      </p:sp>
      <p:sp>
        <p:nvSpPr>
          <p:cNvPr id="3" name="Content Placeholder 2">
            <a:extLst>
              <a:ext uri="{FF2B5EF4-FFF2-40B4-BE49-F238E27FC236}">
                <a16:creationId xmlns:a16="http://schemas.microsoft.com/office/drawing/2014/main" id="{8C1D9FCF-01F5-E429-4935-8C2FC30B39C9}"/>
              </a:ext>
            </a:extLst>
          </p:cNvPr>
          <p:cNvSpPr>
            <a:spLocks noGrp="1"/>
          </p:cNvSpPr>
          <p:nvPr>
            <p:ph idx="1"/>
          </p:nvPr>
        </p:nvSpPr>
        <p:spPr>
          <a:xfrm>
            <a:off x="75145" y="1706757"/>
            <a:ext cx="4007796" cy="4575243"/>
          </a:xfrm>
        </p:spPr>
        <p:txBody>
          <a:bodyPr/>
          <a:lstStyle/>
          <a:p>
            <a:r>
              <a:rPr lang="en-US" dirty="0"/>
              <a:t>Ovo </a:t>
            </a:r>
            <a:r>
              <a:rPr lang="en-US" dirty="0" err="1"/>
              <a:t>osigurava</a:t>
            </a:r>
            <a:r>
              <a:rPr lang="en-US" dirty="0"/>
              <a:t> </a:t>
            </a:r>
            <a:r>
              <a:rPr lang="en-US" dirty="0" err="1"/>
              <a:t>precinije</a:t>
            </a:r>
            <a:r>
              <a:rPr lang="en-US" dirty="0"/>
              <a:t> </a:t>
            </a:r>
            <a:r>
              <a:rPr lang="en-US" dirty="0" err="1"/>
              <a:t>dono</a:t>
            </a:r>
            <a:r>
              <a:rPr lang="sr-Latn-RS" dirty="0"/>
              <a:t>šenje odluka, veci sample size, naravno previše bi bilo da se to radi ručno za 127 presuda</a:t>
            </a:r>
          </a:p>
          <a:p>
            <a:r>
              <a:rPr lang="sr-Latn-RS" dirty="0"/>
              <a:t>Search po Čl. 258 i Čl. 260. i prolazak kroz sve osnove sudove za krivčne presude.</a:t>
            </a:r>
          </a:p>
          <a:p>
            <a:r>
              <a:rPr lang="sr-Latn-RS" dirty="0"/>
              <a:t>Odabir svake presude, njihovo prebacivanje u tekstualne fajlove sa istim imenom.</a:t>
            </a:r>
          </a:p>
          <a:p>
            <a:endParaRPr lang="en-US" dirty="0"/>
          </a:p>
        </p:txBody>
      </p:sp>
      <p:pic>
        <p:nvPicPr>
          <p:cNvPr id="5" name="Picture 4">
            <a:extLst>
              <a:ext uri="{FF2B5EF4-FFF2-40B4-BE49-F238E27FC236}">
                <a16:creationId xmlns:a16="http://schemas.microsoft.com/office/drawing/2014/main" id="{01EC248B-017B-946B-9636-184EDE593BD3}"/>
              </a:ext>
            </a:extLst>
          </p:cNvPr>
          <p:cNvPicPr>
            <a:picLocks noChangeAspect="1"/>
          </p:cNvPicPr>
          <p:nvPr/>
        </p:nvPicPr>
        <p:blipFill>
          <a:blip r:embed="rId2"/>
          <a:stretch>
            <a:fillRect/>
          </a:stretch>
        </p:blipFill>
        <p:spPr>
          <a:xfrm>
            <a:off x="4238581" y="1401370"/>
            <a:ext cx="7878274" cy="4658375"/>
          </a:xfrm>
          <a:prstGeom prst="rect">
            <a:avLst/>
          </a:prstGeom>
        </p:spPr>
      </p:pic>
    </p:spTree>
    <p:extLst>
      <p:ext uri="{BB962C8B-B14F-4D97-AF65-F5344CB8AC3E}">
        <p14:creationId xmlns:p14="http://schemas.microsoft.com/office/powerpoint/2010/main" val="22375517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660C7F-BF3E-8F37-E90F-C29A337437E2}"/>
              </a:ext>
            </a:extLst>
          </p:cNvPr>
          <p:cNvSpPr>
            <a:spLocks noGrp="1"/>
          </p:cNvSpPr>
          <p:nvPr>
            <p:ph idx="1"/>
          </p:nvPr>
        </p:nvSpPr>
        <p:spPr>
          <a:xfrm>
            <a:off x="719242" y="886142"/>
            <a:ext cx="5182205" cy="4058751"/>
          </a:xfrm>
        </p:spPr>
        <p:txBody>
          <a:bodyPr/>
          <a:lstStyle/>
          <a:p>
            <a:r>
              <a:rPr lang="sr-Latn-RS" dirty="0"/>
              <a:t>Svaka presuda kopirana u posebni tekstualni fajl da bi se lakše ti tekstualni fajlovi prevodili u akomnatoso format.</a:t>
            </a:r>
          </a:p>
          <a:p>
            <a:r>
              <a:rPr lang="sr-Latn-RS" dirty="0"/>
              <a:t>Prethodno su sve tekstualne informacije o slučajevima bile nabacane u jedan tekstuali fajl i tu je bilo dosta problema.</a:t>
            </a:r>
          </a:p>
          <a:p>
            <a:r>
              <a:rPr lang="sr-Latn-RS" dirty="0"/>
              <a:t>Onda je odlučeno da će svaki txt fajl postati posebni akoma notoso onda će lako moći da se isprave nedostaci pojedinih fajlova jer kad vidi koji nije dobar zna tačno koji txt fajl da gleda.</a:t>
            </a:r>
          </a:p>
          <a:p>
            <a:endParaRPr lang="en-US" dirty="0"/>
          </a:p>
        </p:txBody>
      </p:sp>
      <p:pic>
        <p:nvPicPr>
          <p:cNvPr id="5" name="Picture 4">
            <a:extLst>
              <a:ext uri="{FF2B5EF4-FFF2-40B4-BE49-F238E27FC236}">
                <a16:creationId xmlns:a16="http://schemas.microsoft.com/office/drawing/2014/main" id="{B48444EC-FA83-CEF8-B64D-F6D76A4AE990}"/>
              </a:ext>
            </a:extLst>
          </p:cNvPr>
          <p:cNvPicPr>
            <a:picLocks noChangeAspect="1"/>
          </p:cNvPicPr>
          <p:nvPr/>
        </p:nvPicPr>
        <p:blipFill>
          <a:blip r:embed="rId2"/>
          <a:stretch>
            <a:fillRect/>
          </a:stretch>
        </p:blipFill>
        <p:spPr>
          <a:xfrm>
            <a:off x="6396145" y="511125"/>
            <a:ext cx="5763429" cy="5563376"/>
          </a:xfrm>
          <a:prstGeom prst="rect">
            <a:avLst/>
          </a:prstGeom>
        </p:spPr>
      </p:pic>
    </p:spTree>
    <p:extLst>
      <p:ext uri="{BB962C8B-B14F-4D97-AF65-F5344CB8AC3E}">
        <p14:creationId xmlns:p14="http://schemas.microsoft.com/office/powerpoint/2010/main" val="258754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5BE0C-DF80-256B-AEF7-84B3F92747F9}"/>
              </a:ext>
            </a:extLst>
          </p:cNvPr>
          <p:cNvSpPr>
            <a:spLocks noGrp="1"/>
          </p:cNvSpPr>
          <p:nvPr>
            <p:ph type="title"/>
          </p:nvPr>
        </p:nvSpPr>
        <p:spPr>
          <a:xfrm>
            <a:off x="919119" y="321012"/>
            <a:ext cx="10353762" cy="970450"/>
          </a:xfrm>
        </p:spPr>
        <p:txBody>
          <a:bodyPr/>
          <a:lstStyle/>
          <a:p>
            <a:r>
              <a:rPr lang="sr-Latn-RS" dirty="0"/>
              <a:t>Skripte za case fajlove</a:t>
            </a:r>
            <a:endParaRPr lang="en-US" dirty="0"/>
          </a:p>
        </p:txBody>
      </p:sp>
      <p:sp>
        <p:nvSpPr>
          <p:cNvPr id="3" name="Content Placeholder 2">
            <a:extLst>
              <a:ext uri="{FF2B5EF4-FFF2-40B4-BE49-F238E27FC236}">
                <a16:creationId xmlns:a16="http://schemas.microsoft.com/office/drawing/2014/main" id="{E6D49561-5F10-79B1-54EC-4AD27828FB58}"/>
              </a:ext>
            </a:extLst>
          </p:cNvPr>
          <p:cNvSpPr>
            <a:spLocks noGrp="1"/>
          </p:cNvSpPr>
          <p:nvPr>
            <p:ph idx="1"/>
          </p:nvPr>
        </p:nvSpPr>
        <p:spPr>
          <a:xfrm>
            <a:off x="1037435" y="1564995"/>
            <a:ext cx="10460658" cy="4058751"/>
          </a:xfrm>
        </p:spPr>
        <p:txBody>
          <a:bodyPr/>
          <a:lstStyle/>
          <a:p>
            <a:r>
              <a:rPr lang="sr-Latn-RS" dirty="0"/>
              <a:t>Uz asistenciju agenta od github kopilota su pravljenje python skripte koje prebacuju textualne fajlove u akomantoso fajlove. </a:t>
            </a:r>
          </a:p>
          <a:p>
            <a:r>
              <a:rPr lang="sr-Latn-RS" dirty="0"/>
              <a:t>Naziv tekstualnih fajlova je u šablonu broj slučaja pa godina i na osnovu toga se dodeljuju imena akoma ntoso fajlovima.</a:t>
            </a:r>
          </a:p>
          <a:p>
            <a:r>
              <a:rPr lang="sr-Latn-RS" dirty="0"/>
              <a:t>Prepoznajemo reči koje se nalaze u fajlovima i onda imamo funkcije koje vraćaju odredjene vrednosti u zavisnosti od pronadjenih reči.</a:t>
            </a:r>
          </a:p>
          <a:p>
            <a:r>
              <a:rPr lang="sr-Latn-RS" dirty="0"/>
              <a:t>Te funkcije su uz pomoć velike količine „trial and error“ dovedene do toga da nema više nepostojećih koje se ne ekstrakuju, svi šabloni za pisanje koji su korisni od raznih sudova su uočeni i pretočeni u regekse</a:t>
            </a:r>
            <a:endParaRPr lang="en-US" dirty="0"/>
          </a:p>
        </p:txBody>
      </p:sp>
    </p:spTree>
    <p:extLst>
      <p:ext uri="{BB962C8B-B14F-4D97-AF65-F5344CB8AC3E}">
        <p14:creationId xmlns:p14="http://schemas.microsoft.com/office/powerpoint/2010/main" val="17626329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D9EA6-43F2-8F82-536E-BC836BB930C0}"/>
              </a:ext>
            </a:extLst>
          </p:cNvPr>
          <p:cNvSpPr>
            <a:spLocks noGrp="1"/>
          </p:cNvSpPr>
          <p:nvPr>
            <p:ph type="title"/>
          </p:nvPr>
        </p:nvSpPr>
        <p:spPr>
          <a:xfrm>
            <a:off x="913795" y="0"/>
            <a:ext cx="10353762" cy="970450"/>
          </a:xfrm>
        </p:spPr>
        <p:txBody>
          <a:bodyPr>
            <a:normAutofit/>
          </a:bodyPr>
          <a:lstStyle/>
          <a:p>
            <a:r>
              <a:rPr lang="sr-Latn-RS" dirty="0"/>
              <a:t>Skripte za case fajlove</a:t>
            </a:r>
            <a:endParaRPr lang="en-US" dirty="0"/>
          </a:p>
        </p:txBody>
      </p:sp>
      <p:pic>
        <p:nvPicPr>
          <p:cNvPr id="7" name="Content Placeholder 6">
            <a:extLst>
              <a:ext uri="{FF2B5EF4-FFF2-40B4-BE49-F238E27FC236}">
                <a16:creationId xmlns:a16="http://schemas.microsoft.com/office/drawing/2014/main" id="{209FF03F-4205-DA15-244C-B65ECFCA6B2C}"/>
              </a:ext>
            </a:extLst>
          </p:cNvPr>
          <p:cNvPicPr>
            <a:picLocks noGrp="1" noChangeAspect="1"/>
          </p:cNvPicPr>
          <p:nvPr>
            <p:ph idx="1"/>
          </p:nvPr>
        </p:nvPicPr>
        <p:blipFill>
          <a:blip r:embed="rId2"/>
          <a:stretch>
            <a:fillRect/>
          </a:stretch>
        </p:blipFill>
        <p:spPr>
          <a:xfrm>
            <a:off x="2208407" y="2810267"/>
            <a:ext cx="8926171" cy="3982006"/>
          </a:xfrm>
        </p:spPr>
      </p:pic>
      <p:sp>
        <p:nvSpPr>
          <p:cNvPr id="8" name="Content Placeholder 2">
            <a:extLst>
              <a:ext uri="{FF2B5EF4-FFF2-40B4-BE49-F238E27FC236}">
                <a16:creationId xmlns:a16="http://schemas.microsoft.com/office/drawing/2014/main" id="{045AF476-9B22-C923-D340-227B737F08F5}"/>
              </a:ext>
            </a:extLst>
          </p:cNvPr>
          <p:cNvSpPr txBox="1">
            <a:spLocks/>
          </p:cNvSpPr>
          <p:nvPr/>
        </p:nvSpPr>
        <p:spPr>
          <a:xfrm>
            <a:off x="-87760" y="416847"/>
            <a:ext cx="2477489" cy="6024306"/>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sr-Latn-RS" dirty="0"/>
              <a:t>Gledamo bračni status </a:t>
            </a:r>
          </a:p>
          <a:p>
            <a:endParaRPr lang="sr-Latn-RS" dirty="0"/>
          </a:p>
          <a:p>
            <a:endParaRPr lang="sr-Latn-RS" dirty="0"/>
          </a:p>
          <a:p>
            <a:endParaRPr lang="sr-Latn-RS" dirty="0"/>
          </a:p>
          <a:p>
            <a:r>
              <a:rPr lang="sr-Latn-RS" dirty="0"/>
              <a:t>Konvertujemo string u float tako sto zamenjujemo tačke sa praznim mestom a zareze sa tačkom da bi dobili tačan iznos eura u floatu.</a:t>
            </a:r>
          </a:p>
          <a:p>
            <a:r>
              <a:rPr lang="sr-Latn-RS" dirty="0"/>
              <a:t>Količina novca je izuzetno bitna u kasnijem rasdjivanju</a:t>
            </a:r>
            <a:endParaRPr lang="en-US" dirty="0"/>
          </a:p>
        </p:txBody>
      </p:sp>
      <p:pic>
        <p:nvPicPr>
          <p:cNvPr id="10" name="Picture 9">
            <a:extLst>
              <a:ext uri="{FF2B5EF4-FFF2-40B4-BE49-F238E27FC236}">
                <a16:creationId xmlns:a16="http://schemas.microsoft.com/office/drawing/2014/main" id="{32552C0F-28DD-7483-B480-DA831AD0EF4C}"/>
              </a:ext>
            </a:extLst>
          </p:cNvPr>
          <p:cNvPicPr>
            <a:picLocks noChangeAspect="1"/>
          </p:cNvPicPr>
          <p:nvPr/>
        </p:nvPicPr>
        <p:blipFill>
          <a:blip r:embed="rId3"/>
          <a:stretch>
            <a:fillRect/>
          </a:stretch>
        </p:blipFill>
        <p:spPr>
          <a:xfrm>
            <a:off x="2279545" y="84310"/>
            <a:ext cx="9989567" cy="2605974"/>
          </a:xfrm>
          <a:prstGeom prst="rect">
            <a:avLst/>
          </a:prstGeom>
        </p:spPr>
      </p:pic>
    </p:spTree>
    <p:extLst>
      <p:ext uri="{BB962C8B-B14F-4D97-AF65-F5344CB8AC3E}">
        <p14:creationId xmlns:p14="http://schemas.microsoft.com/office/powerpoint/2010/main" val="1920531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6E54849-338B-14EC-102F-6D47E4B049F0}"/>
              </a:ext>
            </a:extLst>
          </p:cNvPr>
          <p:cNvPicPr>
            <a:picLocks noChangeAspect="1"/>
          </p:cNvPicPr>
          <p:nvPr/>
        </p:nvPicPr>
        <p:blipFill>
          <a:blip r:embed="rId2"/>
          <a:stretch>
            <a:fillRect/>
          </a:stretch>
        </p:blipFill>
        <p:spPr>
          <a:xfrm>
            <a:off x="3344982" y="0"/>
            <a:ext cx="8926171" cy="1657581"/>
          </a:xfrm>
          <a:prstGeom prst="rect">
            <a:avLst/>
          </a:prstGeom>
        </p:spPr>
      </p:pic>
      <p:pic>
        <p:nvPicPr>
          <p:cNvPr id="7" name="Picture 6">
            <a:extLst>
              <a:ext uri="{FF2B5EF4-FFF2-40B4-BE49-F238E27FC236}">
                <a16:creationId xmlns:a16="http://schemas.microsoft.com/office/drawing/2014/main" id="{7226F091-6A6B-DBBE-E2C6-4BBFB5377142}"/>
              </a:ext>
            </a:extLst>
          </p:cNvPr>
          <p:cNvPicPr>
            <a:picLocks noChangeAspect="1"/>
          </p:cNvPicPr>
          <p:nvPr/>
        </p:nvPicPr>
        <p:blipFill>
          <a:blip r:embed="rId3"/>
          <a:stretch>
            <a:fillRect/>
          </a:stretch>
        </p:blipFill>
        <p:spPr>
          <a:xfrm>
            <a:off x="2951460" y="1623534"/>
            <a:ext cx="9240540" cy="1667108"/>
          </a:xfrm>
          <a:prstGeom prst="rect">
            <a:avLst/>
          </a:prstGeom>
        </p:spPr>
      </p:pic>
      <p:pic>
        <p:nvPicPr>
          <p:cNvPr id="9" name="Picture 8">
            <a:extLst>
              <a:ext uri="{FF2B5EF4-FFF2-40B4-BE49-F238E27FC236}">
                <a16:creationId xmlns:a16="http://schemas.microsoft.com/office/drawing/2014/main" id="{BF38614B-1103-B328-3E32-A57708BDE729}"/>
              </a:ext>
            </a:extLst>
          </p:cNvPr>
          <p:cNvPicPr>
            <a:picLocks noChangeAspect="1"/>
          </p:cNvPicPr>
          <p:nvPr/>
        </p:nvPicPr>
        <p:blipFill>
          <a:blip r:embed="rId4"/>
          <a:stretch>
            <a:fillRect/>
          </a:stretch>
        </p:blipFill>
        <p:spPr>
          <a:xfrm>
            <a:off x="5452801" y="2901237"/>
            <a:ext cx="6739199" cy="3697200"/>
          </a:xfrm>
          <a:prstGeom prst="rect">
            <a:avLst/>
          </a:prstGeom>
        </p:spPr>
      </p:pic>
      <p:sp>
        <p:nvSpPr>
          <p:cNvPr id="10" name="Content Placeholder 2">
            <a:extLst>
              <a:ext uri="{FF2B5EF4-FFF2-40B4-BE49-F238E27FC236}">
                <a16:creationId xmlns:a16="http://schemas.microsoft.com/office/drawing/2014/main" id="{439066A3-1045-D502-7E75-5E6D15FA8D04}"/>
              </a:ext>
            </a:extLst>
          </p:cNvPr>
          <p:cNvSpPr>
            <a:spLocks noGrp="1"/>
          </p:cNvSpPr>
          <p:nvPr>
            <p:ph idx="1"/>
          </p:nvPr>
        </p:nvSpPr>
        <p:spPr>
          <a:xfrm>
            <a:off x="181401" y="250034"/>
            <a:ext cx="2892539" cy="6024306"/>
          </a:xfrm>
        </p:spPr>
        <p:txBody>
          <a:bodyPr>
            <a:normAutofit lnSpcReduction="10000"/>
          </a:bodyPr>
          <a:lstStyle/>
          <a:p>
            <a:r>
              <a:rPr lang="sr-Latn-RS" dirty="0"/>
              <a:t>Tražimo da li je bio samo pokušaj, ili je krivično delo uspešno izvedeno</a:t>
            </a:r>
          </a:p>
          <a:p>
            <a:endParaRPr lang="sr-Latn-RS" dirty="0"/>
          </a:p>
          <a:p>
            <a:r>
              <a:rPr lang="sr-Latn-RS" dirty="0"/>
              <a:t>Da li postoji saućesnik</a:t>
            </a:r>
          </a:p>
          <a:p>
            <a:endParaRPr lang="sr-Latn-RS" dirty="0"/>
          </a:p>
          <a:p>
            <a:endParaRPr lang="sr-Latn-RS" dirty="0"/>
          </a:p>
          <a:p>
            <a:endParaRPr lang="sr-Latn-RS" dirty="0"/>
          </a:p>
          <a:p>
            <a:r>
              <a:rPr lang="sr-Latn-RS" dirty="0"/>
              <a:t>Na osnovu teksta kazne tražimo u kojoj jedinici je kazna izrečena u teskstualnom obliku i onda to konvertujemo u broj</a:t>
            </a:r>
            <a:endParaRPr lang="en-US" dirty="0"/>
          </a:p>
        </p:txBody>
      </p:sp>
    </p:spTree>
    <p:extLst>
      <p:ext uri="{BB962C8B-B14F-4D97-AF65-F5344CB8AC3E}">
        <p14:creationId xmlns:p14="http://schemas.microsoft.com/office/powerpoint/2010/main" val="10403035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0C19039-1404-97B1-AEA2-95B89810D40D}"/>
              </a:ext>
            </a:extLst>
          </p:cNvPr>
          <p:cNvPicPr>
            <a:picLocks noChangeAspect="1"/>
          </p:cNvPicPr>
          <p:nvPr/>
        </p:nvPicPr>
        <p:blipFill>
          <a:blip r:embed="rId2"/>
          <a:stretch>
            <a:fillRect/>
          </a:stretch>
        </p:blipFill>
        <p:spPr>
          <a:xfrm>
            <a:off x="1855933" y="265865"/>
            <a:ext cx="10336067" cy="5982535"/>
          </a:xfrm>
          <a:prstGeom prst="rect">
            <a:avLst/>
          </a:prstGeom>
        </p:spPr>
      </p:pic>
      <p:sp>
        <p:nvSpPr>
          <p:cNvPr id="6" name="Content Placeholder 2">
            <a:extLst>
              <a:ext uri="{FF2B5EF4-FFF2-40B4-BE49-F238E27FC236}">
                <a16:creationId xmlns:a16="http://schemas.microsoft.com/office/drawing/2014/main" id="{3706AA5D-C51A-D745-AECC-0DE13CC5D27A}"/>
              </a:ext>
            </a:extLst>
          </p:cNvPr>
          <p:cNvSpPr txBox="1">
            <a:spLocks/>
          </p:cNvSpPr>
          <p:nvPr/>
        </p:nvSpPr>
        <p:spPr>
          <a:xfrm>
            <a:off x="-145915" y="488170"/>
            <a:ext cx="2477489" cy="6024306"/>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sr-Latn-RS" dirty="0"/>
              <a:t>Gomila paterna za ekstraktovanje Imena i prezimena zapiničara.</a:t>
            </a:r>
          </a:p>
          <a:p>
            <a:r>
              <a:rPr lang="sr-Latn-RS" dirty="0"/>
              <a:t>Tu je bilo dosta nepoznatih vrednosti dok nisu dodati svi ovi regeksi koji ih mogu pokupiti iz baš svakog akoma ntoso fajla.</a:t>
            </a:r>
            <a:endParaRPr lang="en-US" dirty="0"/>
          </a:p>
        </p:txBody>
      </p:sp>
    </p:spTree>
    <p:extLst>
      <p:ext uri="{BB962C8B-B14F-4D97-AF65-F5344CB8AC3E}">
        <p14:creationId xmlns:p14="http://schemas.microsoft.com/office/powerpoint/2010/main" val="20551002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7250D-F2C6-18CD-0268-57FB1EFC6461}"/>
            </a:ext>
          </a:extLst>
        </p:cNvPr>
        <p:cNvGrpSpPr/>
        <p:nvPr/>
      </p:nvGrpSpPr>
      <p:grpSpPr>
        <a:xfrm>
          <a:off x="0" y="0"/>
          <a:ext cx="0" cy="0"/>
          <a:chOff x="0" y="0"/>
          <a:chExt cx="0" cy="0"/>
        </a:xfrm>
      </p:grpSpPr>
      <p:sp>
        <p:nvSpPr>
          <p:cNvPr id="6" name="Content Placeholder 2">
            <a:extLst>
              <a:ext uri="{FF2B5EF4-FFF2-40B4-BE49-F238E27FC236}">
                <a16:creationId xmlns:a16="http://schemas.microsoft.com/office/drawing/2014/main" id="{9D24A009-9FB4-50C4-0C5F-07027E774D76}"/>
              </a:ext>
            </a:extLst>
          </p:cNvPr>
          <p:cNvSpPr txBox="1">
            <a:spLocks/>
          </p:cNvSpPr>
          <p:nvPr/>
        </p:nvSpPr>
        <p:spPr>
          <a:xfrm>
            <a:off x="-145915" y="488170"/>
            <a:ext cx="2610819" cy="6024306"/>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sr-Latn-RS" dirty="0"/>
              <a:t>Razni patterni za dokaze poput imena banaka izveštaja, fotodokumentacije i svega ostalog.</a:t>
            </a:r>
            <a:endParaRPr lang="en-US" dirty="0"/>
          </a:p>
        </p:txBody>
      </p:sp>
      <p:pic>
        <p:nvPicPr>
          <p:cNvPr id="3" name="Picture 2">
            <a:extLst>
              <a:ext uri="{FF2B5EF4-FFF2-40B4-BE49-F238E27FC236}">
                <a16:creationId xmlns:a16="http://schemas.microsoft.com/office/drawing/2014/main" id="{B85ACDC2-0F89-9D84-EB1D-F17BF3552475}"/>
              </a:ext>
            </a:extLst>
          </p:cNvPr>
          <p:cNvPicPr>
            <a:picLocks noChangeAspect="1"/>
          </p:cNvPicPr>
          <p:nvPr/>
        </p:nvPicPr>
        <p:blipFill>
          <a:blip r:embed="rId2"/>
          <a:stretch>
            <a:fillRect/>
          </a:stretch>
        </p:blipFill>
        <p:spPr>
          <a:xfrm>
            <a:off x="2331574" y="158663"/>
            <a:ext cx="10012172" cy="6211167"/>
          </a:xfrm>
          <a:prstGeom prst="rect">
            <a:avLst/>
          </a:prstGeom>
        </p:spPr>
      </p:pic>
    </p:spTree>
    <p:extLst>
      <p:ext uri="{BB962C8B-B14F-4D97-AF65-F5344CB8AC3E}">
        <p14:creationId xmlns:p14="http://schemas.microsoft.com/office/powerpoint/2010/main" val="12015123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8A65BA-8662-F8DE-8D7E-41C7AFBCC1F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D25F2AEF-8766-A4DF-0AE1-C0F8CBA5DE47}"/>
              </a:ext>
            </a:extLst>
          </p:cNvPr>
          <p:cNvPicPr>
            <a:picLocks noChangeAspect="1"/>
          </p:cNvPicPr>
          <p:nvPr/>
        </p:nvPicPr>
        <p:blipFill>
          <a:blip r:embed="rId2"/>
          <a:stretch>
            <a:fillRect/>
          </a:stretch>
        </p:blipFill>
        <p:spPr>
          <a:xfrm>
            <a:off x="284939" y="795131"/>
            <a:ext cx="11574490" cy="2257740"/>
          </a:xfrm>
          <a:prstGeom prst="rect">
            <a:avLst/>
          </a:prstGeom>
        </p:spPr>
      </p:pic>
      <p:pic>
        <p:nvPicPr>
          <p:cNvPr id="7" name="Picture 6">
            <a:extLst>
              <a:ext uri="{FF2B5EF4-FFF2-40B4-BE49-F238E27FC236}">
                <a16:creationId xmlns:a16="http://schemas.microsoft.com/office/drawing/2014/main" id="{5024037E-6C80-8B5D-6FFF-FEC6DCC1D86B}"/>
              </a:ext>
            </a:extLst>
          </p:cNvPr>
          <p:cNvPicPr>
            <a:picLocks noChangeAspect="1"/>
          </p:cNvPicPr>
          <p:nvPr/>
        </p:nvPicPr>
        <p:blipFill>
          <a:blip r:embed="rId3"/>
          <a:stretch>
            <a:fillRect/>
          </a:stretch>
        </p:blipFill>
        <p:spPr>
          <a:xfrm>
            <a:off x="284939" y="3503699"/>
            <a:ext cx="11526859" cy="2791215"/>
          </a:xfrm>
          <a:prstGeom prst="rect">
            <a:avLst/>
          </a:prstGeom>
        </p:spPr>
      </p:pic>
      <p:sp>
        <p:nvSpPr>
          <p:cNvPr id="8" name="Content Placeholder 2">
            <a:extLst>
              <a:ext uri="{FF2B5EF4-FFF2-40B4-BE49-F238E27FC236}">
                <a16:creationId xmlns:a16="http://schemas.microsoft.com/office/drawing/2014/main" id="{EFA308E2-27B5-D626-97B5-E52274625761}"/>
              </a:ext>
            </a:extLst>
          </p:cNvPr>
          <p:cNvSpPr>
            <a:spLocks noGrp="1"/>
          </p:cNvSpPr>
          <p:nvPr>
            <p:ph idx="1"/>
          </p:nvPr>
        </p:nvSpPr>
        <p:spPr>
          <a:xfrm>
            <a:off x="148679" y="416847"/>
            <a:ext cx="11894642" cy="5196013"/>
          </a:xfrm>
        </p:spPr>
        <p:txBody>
          <a:bodyPr>
            <a:normAutofit/>
          </a:bodyPr>
          <a:lstStyle/>
          <a:p>
            <a:r>
              <a:rPr lang="sr-Latn-RS" dirty="0"/>
              <a:t>Pronalazak kazne</a:t>
            </a:r>
          </a:p>
          <a:p>
            <a:endParaRPr lang="sr-Latn-RS" dirty="0"/>
          </a:p>
          <a:p>
            <a:endParaRPr lang="sr-Latn-RS" dirty="0"/>
          </a:p>
          <a:p>
            <a:endParaRPr lang="sr-Latn-RS" dirty="0"/>
          </a:p>
          <a:p>
            <a:endParaRPr lang="sr-Latn-RS" dirty="0"/>
          </a:p>
          <a:p>
            <a:endParaRPr lang="sr-Latn-RS" dirty="0"/>
          </a:p>
          <a:p>
            <a:r>
              <a:rPr lang="sr-Latn-RS" dirty="0"/>
              <a:t>Pronalazak tipa presude, oslobodjen, uslovna ili osudjen</a:t>
            </a:r>
            <a:endParaRPr lang="en-US" dirty="0"/>
          </a:p>
        </p:txBody>
      </p:sp>
    </p:spTree>
    <p:extLst>
      <p:ext uri="{BB962C8B-B14F-4D97-AF65-F5344CB8AC3E}">
        <p14:creationId xmlns:p14="http://schemas.microsoft.com/office/powerpoint/2010/main" val="20880436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D42E50-2858-A14E-7D13-EC7EE2F67F82}"/>
              </a:ext>
            </a:extLst>
          </p:cNvPr>
          <p:cNvSpPr>
            <a:spLocks noGrp="1"/>
          </p:cNvSpPr>
          <p:nvPr>
            <p:ph idx="1"/>
          </p:nvPr>
        </p:nvSpPr>
        <p:spPr>
          <a:xfrm>
            <a:off x="338997" y="1732449"/>
            <a:ext cx="10353762" cy="4058751"/>
          </a:xfrm>
        </p:spPr>
        <p:txBody>
          <a:bodyPr/>
          <a:lstStyle/>
          <a:p>
            <a:r>
              <a:rPr lang="sr-Latn-RS" dirty="0"/>
              <a:t>Razni nivoi obrazovanja</a:t>
            </a:r>
            <a:endParaRPr lang="en-US" dirty="0"/>
          </a:p>
        </p:txBody>
      </p:sp>
      <p:pic>
        <p:nvPicPr>
          <p:cNvPr id="5" name="Picture 4">
            <a:extLst>
              <a:ext uri="{FF2B5EF4-FFF2-40B4-BE49-F238E27FC236}">
                <a16:creationId xmlns:a16="http://schemas.microsoft.com/office/drawing/2014/main" id="{23C7545F-9D3D-EA4A-BD2C-FC48E4DD4615}"/>
              </a:ext>
            </a:extLst>
          </p:cNvPr>
          <p:cNvPicPr>
            <a:picLocks noChangeAspect="1"/>
          </p:cNvPicPr>
          <p:nvPr/>
        </p:nvPicPr>
        <p:blipFill>
          <a:blip r:embed="rId2"/>
          <a:stretch>
            <a:fillRect/>
          </a:stretch>
        </p:blipFill>
        <p:spPr>
          <a:xfrm>
            <a:off x="3831833" y="105248"/>
            <a:ext cx="8049748" cy="6277851"/>
          </a:xfrm>
          <a:prstGeom prst="rect">
            <a:avLst/>
          </a:prstGeom>
        </p:spPr>
      </p:pic>
    </p:spTree>
    <p:extLst>
      <p:ext uri="{BB962C8B-B14F-4D97-AF65-F5344CB8AC3E}">
        <p14:creationId xmlns:p14="http://schemas.microsoft.com/office/powerpoint/2010/main" val="35133975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583EE-3536-1EA9-3FB1-B31666869E0F}"/>
              </a:ext>
            </a:extLst>
          </p:cNvPr>
          <p:cNvSpPr>
            <a:spLocks noGrp="1"/>
          </p:cNvSpPr>
          <p:nvPr>
            <p:ph type="title"/>
          </p:nvPr>
        </p:nvSpPr>
        <p:spPr>
          <a:xfrm>
            <a:off x="913795" y="0"/>
            <a:ext cx="10353762" cy="970450"/>
          </a:xfrm>
        </p:spPr>
        <p:txBody>
          <a:bodyPr/>
          <a:lstStyle/>
          <a:p>
            <a:r>
              <a:rPr lang="sr-Latn-RS" dirty="0"/>
              <a:t>UI aplikacije</a:t>
            </a:r>
            <a:endParaRPr lang="en-US" dirty="0"/>
          </a:p>
        </p:txBody>
      </p:sp>
      <p:sp>
        <p:nvSpPr>
          <p:cNvPr id="3" name="Content Placeholder 2">
            <a:extLst>
              <a:ext uri="{FF2B5EF4-FFF2-40B4-BE49-F238E27FC236}">
                <a16:creationId xmlns:a16="http://schemas.microsoft.com/office/drawing/2014/main" id="{A97DC6F2-AB76-41E7-523C-4256E3518FE7}"/>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53B3F15C-A064-4C65-D83C-4AFF0C6592BE}"/>
              </a:ext>
            </a:extLst>
          </p:cNvPr>
          <p:cNvPicPr>
            <a:picLocks noChangeAspect="1"/>
          </p:cNvPicPr>
          <p:nvPr/>
        </p:nvPicPr>
        <p:blipFill>
          <a:blip r:embed="rId2"/>
          <a:stretch>
            <a:fillRect/>
          </a:stretch>
        </p:blipFill>
        <p:spPr>
          <a:xfrm>
            <a:off x="-5324" y="785171"/>
            <a:ext cx="12192000" cy="6025116"/>
          </a:xfrm>
          <a:prstGeom prst="rect">
            <a:avLst/>
          </a:prstGeom>
        </p:spPr>
      </p:pic>
    </p:spTree>
    <p:extLst>
      <p:ext uri="{BB962C8B-B14F-4D97-AF65-F5344CB8AC3E}">
        <p14:creationId xmlns:p14="http://schemas.microsoft.com/office/powerpoint/2010/main" val="33157777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11FCD-05FF-08F4-73DE-83189D4C312F}"/>
              </a:ext>
            </a:extLst>
          </p:cNvPr>
          <p:cNvSpPr>
            <a:spLocks noGrp="1"/>
          </p:cNvSpPr>
          <p:nvPr>
            <p:ph type="title"/>
          </p:nvPr>
        </p:nvSpPr>
        <p:spPr>
          <a:xfrm>
            <a:off x="913795" y="96350"/>
            <a:ext cx="10353762" cy="970450"/>
          </a:xfrm>
        </p:spPr>
        <p:txBody>
          <a:bodyPr/>
          <a:lstStyle/>
          <a:p>
            <a:r>
              <a:rPr lang="sr-Latn-RS" dirty="0"/>
              <a:t>Mogućnost navigacije do traženog člana </a:t>
            </a:r>
            <a:endParaRPr lang="en-US" dirty="0"/>
          </a:p>
        </p:txBody>
      </p:sp>
      <p:sp>
        <p:nvSpPr>
          <p:cNvPr id="3" name="Content Placeholder 2">
            <a:extLst>
              <a:ext uri="{FF2B5EF4-FFF2-40B4-BE49-F238E27FC236}">
                <a16:creationId xmlns:a16="http://schemas.microsoft.com/office/drawing/2014/main" id="{B79E51C4-2A74-50C8-E102-F6C48355A845}"/>
              </a:ext>
            </a:extLst>
          </p:cNvPr>
          <p:cNvSpPr>
            <a:spLocks noGrp="1"/>
          </p:cNvSpPr>
          <p:nvPr>
            <p:ph idx="1"/>
          </p:nvPr>
        </p:nvSpPr>
        <p:spPr>
          <a:xfrm>
            <a:off x="913795" y="1732449"/>
            <a:ext cx="3171822" cy="4058751"/>
          </a:xfrm>
        </p:spPr>
        <p:txBody>
          <a:bodyPr/>
          <a:lstStyle/>
          <a:p>
            <a:r>
              <a:rPr lang="sr-Latn-RS" dirty="0"/>
              <a:t>Pristiskom na 258.4 skačemo na 258 stav i član 4 u glavi 23 koji postaje highlightovan, a pritiskom na 258 se zasija cela glava </a:t>
            </a:r>
            <a:endParaRPr lang="en-US" dirty="0"/>
          </a:p>
        </p:txBody>
      </p:sp>
      <p:pic>
        <p:nvPicPr>
          <p:cNvPr id="5" name="Picture 4">
            <a:extLst>
              <a:ext uri="{FF2B5EF4-FFF2-40B4-BE49-F238E27FC236}">
                <a16:creationId xmlns:a16="http://schemas.microsoft.com/office/drawing/2014/main" id="{D7BA8BAC-D900-4A84-2665-7E569FA3837D}"/>
              </a:ext>
            </a:extLst>
          </p:cNvPr>
          <p:cNvPicPr>
            <a:picLocks noChangeAspect="1"/>
          </p:cNvPicPr>
          <p:nvPr/>
        </p:nvPicPr>
        <p:blipFill>
          <a:blip r:embed="rId2"/>
          <a:stretch>
            <a:fillRect/>
          </a:stretch>
        </p:blipFill>
        <p:spPr>
          <a:xfrm>
            <a:off x="1178207" y="4692901"/>
            <a:ext cx="2467319" cy="1028844"/>
          </a:xfrm>
          <a:prstGeom prst="rect">
            <a:avLst/>
          </a:prstGeom>
        </p:spPr>
      </p:pic>
      <p:pic>
        <p:nvPicPr>
          <p:cNvPr id="7" name="Picture 6">
            <a:extLst>
              <a:ext uri="{FF2B5EF4-FFF2-40B4-BE49-F238E27FC236}">
                <a16:creationId xmlns:a16="http://schemas.microsoft.com/office/drawing/2014/main" id="{C11B61BF-7DEB-31BD-F4B4-6317908CB908}"/>
              </a:ext>
            </a:extLst>
          </p:cNvPr>
          <p:cNvPicPr>
            <a:picLocks noChangeAspect="1"/>
          </p:cNvPicPr>
          <p:nvPr/>
        </p:nvPicPr>
        <p:blipFill>
          <a:blip r:embed="rId3"/>
          <a:stretch>
            <a:fillRect/>
          </a:stretch>
        </p:blipFill>
        <p:spPr>
          <a:xfrm>
            <a:off x="4183103" y="1255432"/>
            <a:ext cx="4686954" cy="5506218"/>
          </a:xfrm>
          <a:prstGeom prst="rect">
            <a:avLst/>
          </a:prstGeom>
        </p:spPr>
      </p:pic>
      <p:pic>
        <p:nvPicPr>
          <p:cNvPr id="9" name="Picture 8">
            <a:extLst>
              <a:ext uri="{FF2B5EF4-FFF2-40B4-BE49-F238E27FC236}">
                <a16:creationId xmlns:a16="http://schemas.microsoft.com/office/drawing/2014/main" id="{BDD26B50-28A3-4E75-B0D4-A5016EEFABBF}"/>
              </a:ext>
            </a:extLst>
          </p:cNvPr>
          <p:cNvPicPr>
            <a:picLocks noChangeAspect="1"/>
          </p:cNvPicPr>
          <p:nvPr/>
        </p:nvPicPr>
        <p:blipFill>
          <a:blip r:embed="rId4"/>
          <a:stretch>
            <a:fillRect/>
          </a:stretch>
        </p:blipFill>
        <p:spPr>
          <a:xfrm>
            <a:off x="9310148" y="1351782"/>
            <a:ext cx="2799321" cy="5019472"/>
          </a:xfrm>
          <a:prstGeom prst="rect">
            <a:avLst/>
          </a:prstGeom>
        </p:spPr>
      </p:pic>
    </p:spTree>
    <p:extLst>
      <p:ext uri="{BB962C8B-B14F-4D97-AF65-F5344CB8AC3E}">
        <p14:creationId xmlns:p14="http://schemas.microsoft.com/office/powerpoint/2010/main" val="8013195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7562F44-23D7-AC9B-ADAC-A83E25DFA34B}"/>
              </a:ext>
            </a:extLst>
          </p:cNvPr>
          <p:cNvPicPr>
            <a:picLocks noGrp="1" noChangeAspect="1"/>
          </p:cNvPicPr>
          <p:nvPr>
            <p:ph idx="1"/>
          </p:nvPr>
        </p:nvPicPr>
        <p:blipFill>
          <a:blip r:embed="rId2"/>
          <a:stretch>
            <a:fillRect/>
          </a:stretch>
        </p:blipFill>
        <p:spPr>
          <a:xfrm>
            <a:off x="6830699" y="0"/>
            <a:ext cx="4251077" cy="6522577"/>
          </a:xfrm>
        </p:spPr>
      </p:pic>
      <p:sp>
        <p:nvSpPr>
          <p:cNvPr id="6" name="Content Placeholder 2">
            <a:extLst>
              <a:ext uri="{FF2B5EF4-FFF2-40B4-BE49-F238E27FC236}">
                <a16:creationId xmlns:a16="http://schemas.microsoft.com/office/drawing/2014/main" id="{1ECADBD5-1DFA-F240-7E20-D1AC2DF3356F}"/>
              </a:ext>
            </a:extLst>
          </p:cNvPr>
          <p:cNvSpPr txBox="1">
            <a:spLocks/>
          </p:cNvSpPr>
          <p:nvPr/>
        </p:nvSpPr>
        <p:spPr>
          <a:xfrm>
            <a:off x="387842" y="2729971"/>
            <a:ext cx="317182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sr-Latn-RS" dirty="0"/>
              <a:t>Pristiskom na 260.2 skačemo na 260 stav i član 2 u glavi 23 koji postaje highlightovan</a:t>
            </a:r>
            <a:endParaRPr lang="en-US" dirty="0"/>
          </a:p>
        </p:txBody>
      </p:sp>
      <p:pic>
        <p:nvPicPr>
          <p:cNvPr id="8" name="Picture 7">
            <a:extLst>
              <a:ext uri="{FF2B5EF4-FFF2-40B4-BE49-F238E27FC236}">
                <a16:creationId xmlns:a16="http://schemas.microsoft.com/office/drawing/2014/main" id="{4C1A55AC-6F9C-21AA-B6CF-8908E27333CE}"/>
              </a:ext>
            </a:extLst>
          </p:cNvPr>
          <p:cNvPicPr>
            <a:picLocks noChangeAspect="1"/>
          </p:cNvPicPr>
          <p:nvPr/>
        </p:nvPicPr>
        <p:blipFill>
          <a:blip r:embed="rId3"/>
          <a:stretch>
            <a:fillRect/>
          </a:stretch>
        </p:blipFill>
        <p:spPr>
          <a:xfrm>
            <a:off x="3833920" y="2938394"/>
            <a:ext cx="2448267" cy="981212"/>
          </a:xfrm>
          <a:prstGeom prst="rect">
            <a:avLst/>
          </a:prstGeom>
        </p:spPr>
      </p:pic>
    </p:spTree>
    <p:extLst>
      <p:ext uri="{BB962C8B-B14F-4D97-AF65-F5344CB8AC3E}">
        <p14:creationId xmlns:p14="http://schemas.microsoft.com/office/powerpoint/2010/main" val="8871752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B8423-8914-C41F-2931-09793CAFF6C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F5C6116-91C9-49A7-42B1-9AF1F920EBC3}"/>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BC901015-850C-323E-5347-97CE2A3F7A9F}"/>
              </a:ext>
            </a:extLst>
          </p:cNvPr>
          <p:cNvPicPr>
            <a:picLocks noChangeAspect="1"/>
          </p:cNvPicPr>
          <p:nvPr/>
        </p:nvPicPr>
        <p:blipFill>
          <a:blip r:embed="rId2"/>
          <a:stretch>
            <a:fillRect/>
          </a:stretch>
        </p:blipFill>
        <p:spPr>
          <a:xfrm>
            <a:off x="0" y="429329"/>
            <a:ext cx="12192000" cy="5999341"/>
          </a:xfrm>
          <a:prstGeom prst="rect">
            <a:avLst/>
          </a:prstGeom>
        </p:spPr>
      </p:pic>
    </p:spTree>
    <p:extLst>
      <p:ext uri="{BB962C8B-B14F-4D97-AF65-F5344CB8AC3E}">
        <p14:creationId xmlns:p14="http://schemas.microsoft.com/office/powerpoint/2010/main" val="27869372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0BCAD-62EC-A70D-86C4-2A319723A9AF}"/>
              </a:ext>
            </a:extLst>
          </p:cNvPr>
          <p:cNvSpPr>
            <a:spLocks noGrp="1"/>
          </p:cNvSpPr>
          <p:nvPr>
            <p:ph type="title"/>
          </p:nvPr>
        </p:nvSpPr>
        <p:spPr>
          <a:xfrm>
            <a:off x="0" y="813881"/>
            <a:ext cx="3609567" cy="970450"/>
          </a:xfrm>
        </p:spPr>
        <p:txBody>
          <a:bodyPr>
            <a:normAutofit fontScale="90000"/>
          </a:bodyPr>
          <a:lstStyle/>
          <a:p>
            <a:r>
              <a:rPr lang="sr-Latn-RS" dirty="0"/>
              <a:t>Prikazivanje u Legal Rule ML formatu</a:t>
            </a:r>
            <a:endParaRPr lang="en-US" dirty="0"/>
          </a:p>
        </p:txBody>
      </p:sp>
      <p:pic>
        <p:nvPicPr>
          <p:cNvPr id="11" name="Picture 10">
            <a:extLst>
              <a:ext uri="{FF2B5EF4-FFF2-40B4-BE49-F238E27FC236}">
                <a16:creationId xmlns:a16="http://schemas.microsoft.com/office/drawing/2014/main" id="{D0909FD1-264A-B7DA-441E-5C60711845DB}"/>
              </a:ext>
            </a:extLst>
          </p:cNvPr>
          <p:cNvPicPr>
            <a:picLocks noChangeAspect="1"/>
          </p:cNvPicPr>
          <p:nvPr/>
        </p:nvPicPr>
        <p:blipFill>
          <a:blip r:embed="rId2"/>
          <a:stretch>
            <a:fillRect/>
          </a:stretch>
        </p:blipFill>
        <p:spPr>
          <a:xfrm>
            <a:off x="3584884" y="351995"/>
            <a:ext cx="8154538" cy="6154009"/>
          </a:xfrm>
          <a:prstGeom prst="rect">
            <a:avLst/>
          </a:prstGeom>
        </p:spPr>
      </p:pic>
      <p:sp>
        <p:nvSpPr>
          <p:cNvPr id="12" name="Content Placeholder 10">
            <a:extLst>
              <a:ext uri="{FF2B5EF4-FFF2-40B4-BE49-F238E27FC236}">
                <a16:creationId xmlns:a16="http://schemas.microsoft.com/office/drawing/2014/main" id="{BADD71E2-EC37-BC37-0D21-11653CCBAA05}"/>
              </a:ext>
            </a:extLst>
          </p:cNvPr>
          <p:cNvSpPr>
            <a:spLocks noGrp="1"/>
          </p:cNvSpPr>
          <p:nvPr>
            <p:ph idx="1"/>
          </p:nvPr>
        </p:nvSpPr>
        <p:spPr>
          <a:xfrm>
            <a:off x="452578" y="3064212"/>
            <a:ext cx="2854826" cy="1896894"/>
          </a:xfrm>
        </p:spPr>
        <p:txBody>
          <a:bodyPr>
            <a:normAutofit/>
          </a:bodyPr>
          <a:lstStyle/>
          <a:p>
            <a:r>
              <a:rPr lang="sr-Latn-RS" dirty="0"/>
              <a:t>Glava 23 u legal rule ml formatu, počevši od člana 258 stava 1</a:t>
            </a:r>
            <a:endParaRPr lang="en-US" dirty="0"/>
          </a:p>
        </p:txBody>
      </p:sp>
    </p:spTree>
    <p:extLst>
      <p:ext uri="{BB962C8B-B14F-4D97-AF65-F5344CB8AC3E}">
        <p14:creationId xmlns:p14="http://schemas.microsoft.com/office/powerpoint/2010/main" val="38775701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012EFD-B768-338B-15DB-81182D65B04C}"/>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286CA346-BA59-03FC-FA0D-F566EA17B3C3}"/>
              </a:ext>
            </a:extLst>
          </p:cNvPr>
          <p:cNvPicPr>
            <a:picLocks noChangeAspect="1"/>
          </p:cNvPicPr>
          <p:nvPr/>
        </p:nvPicPr>
        <p:blipFill>
          <a:blip r:embed="rId2"/>
          <a:stretch>
            <a:fillRect/>
          </a:stretch>
        </p:blipFill>
        <p:spPr>
          <a:xfrm>
            <a:off x="1865459" y="790206"/>
            <a:ext cx="10326541" cy="5277587"/>
          </a:xfrm>
          <a:prstGeom prst="rect">
            <a:avLst/>
          </a:prstGeom>
        </p:spPr>
      </p:pic>
      <p:sp>
        <p:nvSpPr>
          <p:cNvPr id="11" name="Content Placeholder 10">
            <a:extLst>
              <a:ext uri="{FF2B5EF4-FFF2-40B4-BE49-F238E27FC236}">
                <a16:creationId xmlns:a16="http://schemas.microsoft.com/office/drawing/2014/main" id="{E2944251-57D6-41FF-E193-D68AF6D653DB}"/>
              </a:ext>
            </a:extLst>
          </p:cNvPr>
          <p:cNvSpPr>
            <a:spLocks noGrp="1"/>
          </p:cNvSpPr>
          <p:nvPr>
            <p:ph idx="1"/>
          </p:nvPr>
        </p:nvSpPr>
        <p:spPr>
          <a:xfrm>
            <a:off x="-128711" y="4581728"/>
            <a:ext cx="1994170" cy="1896894"/>
          </a:xfrm>
        </p:spPr>
        <p:txBody>
          <a:bodyPr/>
          <a:lstStyle/>
          <a:p>
            <a:r>
              <a:rPr lang="sr-Latn-RS" dirty="0"/>
              <a:t>Kazna od 2 do 12 godina</a:t>
            </a:r>
            <a:endParaRPr lang="en-US" dirty="0"/>
          </a:p>
        </p:txBody>
      </p:sp>
    </p:spTree>
    <p:extLst>
      <p:ext uri="{BB962C8B-B14F-4D97-AF65-F5344CB8AC3E}">
        <p14:creationId xmlns:p14="http://schemas.microsoft.com/office/powerpoint/2010/main" val="33692473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0A011-DD4B-780E-B99A-508E3F9DC036}"/>
              </a:ext>
            </a:extLst>
          </p:cNvPr>
          <p:cNvSpPr>
            <a:spLocks noGrp="1"/>
          </p:cNvSpPr>
          <p:nvPr>
            <p:ph type="title"/>
          </p:nvPr>
        </p:nvSpPr>
        <p:spPr>
          <a:xfrm>
            <a:off x="913795" y="269131"/>
            <a:ext cx="10353762" cy="970450"/>
          </a:xfrm>
        </p:spPr>
        <p:txBody>
          <a:bodyPr/>
          <a:lstStyle/>
          <a:p>
            <a:r>
              <a:rPr lang="sr-Latn-RS" dirty="0"/>
              <a:t>Rasudjivanje po pravilima</a:t>
            </a:r>
            <a:endParaRPr lang="en-US" dirty="0"/>
          </a:p>
        </p:txBody>
      </p:sp>
      <p:sp>
        <p:nvSpPr>
          <p:cNvPr id="3" name="Content Placeholder 2">
            <a:extLst>
              <a:ext uri="{FF2B5EF4-FFF2-40B4-BE49-F238E27FC236}">
                <a16:creationId xmlns:a16="http://schemas.microsoft.com/office/drawing/2014/main" id="{D912BE01-469C-F9E6-3B1E-ED4D3F381B6D}"/>
              </a:ext>
            </a:extLst>
          </p:cNvPr>
          <p:cNvSpPr>
            <a:spLocks noGrp="1"/>
          </p:cNvSpPr>
          <p:nvPr>
            <p:ph idx="1"/>
          </p:nvPr>
        </p:nvSpPr>
        <p:spPr>
          <a:xfrm>
            <a:off x="913795" y="1384338"/>
            <a:ext cx="10353762" cy="4058751"/>
          </a:xfrm>
        </p:spPr>
        <p:txBody>
          <a:bodyPr/>
          <a:lstStyle/>
          <a:p>
            <a:r>
              <a:rPr lang="sr-Latn-RS" dirty="0"/>
              <a:t>Korišćen je alat dr device.</a:t>
            </a:r>
          </a:p>
          <a:p>
            <a:r>
              <a:rPr lang="sr-Latn-RS" dirty="0"/>
              <a:t>Ukupno postoje 22 pravila rasudjivanja.</a:t>
            </a:r>
          </a:p>
          <a:p>
            <a:endParaRPr lang="en-US" dirty="0"/>
          </a:p>
        </p:txBody>
      </p:sp>
      <p:pic>
        <p:nvPicPr>
          <p:cNvPr id="9" name="Picture 8">
            <a:extLst>
              <a:ext uri="{FF2B5EF4-FFF2-40B4-BE49-F238E27FC236}">
                <a16:creationId xmlns:a16="http://schemas.microsoft.com/office/drawing/2014/main" id="{8AC52C75-96C2-E83C-A1EF-34DE49C5A4AE}"/>
              </a:ext>
            </a:extLst>
          </p:cNvPr>
          <p:cNvPicPr>
            <a:picLocks noChangeAspect="1"/>
          </p:cNvPicPr>
          <p:nvPr/>
        </p:nvPicPr>
        <p:blipFill>
          <a:blip r:embed="rId2"/>
          <a:stretch>
            <a:fillRect/>
          </a:stretch>
        </p:blipFill>
        <p:spPr>
          <a:xfrm>
            <a:off x="5960659" y="2714792"/>
            <a:ext cx="6220693" cy="3229426"/>
          </a:xfrm>
          <a:prstGeom prst="rect">
            <a:avLst/>
          </a:prstGeom>
        </p:spPr>
      </p:pic>
      <p:pic>
        <p:nvPicPr>
          <p:cNvPr id="11" name="Picture 10">
            <a:extLst>
              <a:ext uri="{FF2B5EF4-FFF2-40B4-BE49-F238E27FC236}">
                <a16:creationId xmlns:a16="http://schemas.microsoft.com/office/drawing/2014/main" id="{4E93C05C-3D34-EBEA-941A-97D1FD2BD56D}"/>
              </a:ext>
            </a:extLst>
          </p:cNvPr>
          <p:cNvPicPr>
            <a:picLocks noChangeAspect="1"/>
          </p:cNvPicPr>
          <p:nvPr/>
        </p:nvPicPr>
        <p:blipFill>
          <a:blip r:embed="rId3"/>
          <a:stretch>
            <a:fillRect/>
          </a:stretch>
        </p:blipFill>
        <p:spPr>
          <a:xfrm>
            <a:off x="0" y="2714792"/>
            <a:ext cx="5725324" cy="2743583"/>
          </a:xfrm>
          <a:prstGeom prst="rect">
            <a:avLst/>
          </a:prstGeom>
        </p:spPr>
      </p:pic>
    </p:spTree>
    <p:extLst>
      <p:ext uri="{BB962C8B-B14F-4D97-AF65-F5344CB8AC3E}">
        <p14:creationId xmlns:p14="http://schemas.microsoft.com/office/powerpoint/2010/main" val="11109142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45D1EE-C6FC-E779-107C-C728B7EE7820}"/>
              </a:ext>
            </a:extLst>
          </p:cNvPr>
          <p:cNvSpPr>
            <a:spLocks noGrp="1"/>
          </p:cNvSpPr>
          <p:nvPr>
            <p:ph idx="1"/>
          </p:nvPr>
        </p:nvSpPr>
        <p:spPr>
          <a:xfrm>
            <a:off x="592782" y="749956"/>
            <a:ext cx="10353762" cy="1108028"/>
          </a:xfrm>
        </p:spPr>
        <p:txBody>
          <a:bodyPr/>
          <a:lstStyle/>
          <a:p>
            <a:r>
              <a:rPr lang="sr-Latn-RS" dirty="0"/>
              <a:t>Priznanje kao olakšavajuća okolonst</a:t>
            </a:r>
            <a:endParaRPr lang="en-US" dirty="0"/>
          </a:p>
        </p:txBody>
      </p:sp>
      <p:pic>
        <p:nvPicPr>
          <p:cNvPr id="5" name="Picture 4">
            <a:extLst>
              <a:ext uri="{FF2B5EF4-FFF2-40B4-BE49-F238E27FC236}">
                <a16:creationId xmlns:a16="http://schemas.microsoft.com/office/drawing/2014/main" id="{911F5195-48D2-59F4-FE77-C7DD698FB7CE}"/>
              </a:ext>
            </a:extLst>
          </p:cNvPr>
          <p:cNvPicPr>
            <a:picLocks noChangeAspect="1"/>
          </p:cNvPicPr>
          <p:nvPr/>
        </p:nvPicPr>
        <p:blipFill>
          <a:blip r:embed="rId2"/>
          <a:stretch>
            <a:fillRect/>
          </a:stretch>
        </p:blipFill>
        <p:spPr>
          <a:xfrm>
            <a:off x="5335455" y="141746"/>
            <a:ext cx="6735115" cy="3038899"/>
          </a:xfrm>
          <a:prstGeom prst="rect">
            <a:avLst/>
          </a:prstGeom>
        </p:spPr>
      </p:pic>
      <p:pic>
        <p:nvPicPr>
          <p:cNvPr id="7" name="Picture 6">
            <a:extLst>
              <a:ext uri="{FF2B5EF4-FFF2-40B4-BE49-F238E27FC236}">
                <a16:creationId xmlns:a16="http://schemas.microsoft.com/office/drawing/2014/main" id="{F83033B2-FD12-A84C-04D3-DA8F1B03C7E9}"/>
              </a:ext>
            </a:extLst>
          </p:cNvPr>
          <p:cNvPicPr>
            <a:picLocks noChangeAspect="1"/>
          </p:cNvPicPr>
          <p:nvPr/>
        </p:nvPicPr>
        <p:blipFill>
          <a:blip r:embed="rId3"/>
          <a:stretch>
            <a:fillRect/>
          </a:stretch>
        </p:blipFill>
        <p:spPr>
          <a:xfrm>
            <a:off x="4830560" y="3429000"/>
            <a:ext cx="7240010" cy="2343477"/>
          </a:xfrm>
          <a:prstGeom prst="rect">
            <a:avLst/>
          </a:prstGeom>
        </p:spPr>
      </p:pic>
      <p:sp>
        <p:nvSpPr>
          <p:cNvPr id="8" name="Content Placeholder 2">
            <a:extLst>
              <a:ext uri="{FF2B5EF4-FFF2-40B4-BE49-F238E27FC236}">
                <a16:creationId xmlns:a16="http://schemas.microsoft.com/office/drawing/2014/main" id="{2300C324-8A6E-930E-8F14-45F3FAD428B5}"/>
              </a:ext>
            </a:extLst>
          </p:cNvPr>
          <p:cNvSpPr txBox="1">
            <a:spLocks/>
          </p:cNvSpPr>
          <p:nvPr/>
        </p:nvSpPr>
        <p:spPr>
          <a:xfrm>
            <a:off x="592782" y="4197647"/>
            <a:ext cx="10353762" cy="1108028"/>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sr-Latn-RS" dirty="0"/>
              <a:t>Prvi put osudjivan</a:t>
            </a:r>
            <a:endParaRPr lang="en-US" dirty="0"/>
          </a:p>
        </p:txBody>
      </p:sp>
    </p:spTree>
    <p:extLst>
      <p:ext uri="{BB962C8B-B14F-4D97-AF65-F5344CB8AC3E}">
        <p14:creationId xmlns:p14="http://schemas.microsoft.com/office/powerpoint/2010/main" val="40223488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1EB91C-F966-2727-151D-1E895ED07A7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1E758F-385F-F807-86ED-CECED798BDE0}"/>
              </a:ext>
            </a:extLst>
          </p:cNvPr>
          <p:cNvSpPr>
            <a:spLocks noGrp="1"/>
          </p:cNvSpPr>
          <p:nvPr>
            <p:ph idx="1"/>
          </p:nvPr>
        </p:nvSpPr>
        <p:spPr>
          <a:xfrm>
            <a:off x="592782" y="749956"/>
            <a:ext cx="10353762" cy="1108028"/>
          </a:xfrm>
        </p:spPr>
        <p:txBody>
          <a:bodyPr/>
          <a:lstStyle/>
          <a:p>
            <a:r>
              <a:rPr lang="sr-Latn-RS" dirty="0"/>
              <a:t>Kajanje kao olakšavajuća okolonst</a:t>
            </a:r>
            <a:endParaRPr lang="en-US" dirty="0"/>
          </a:p>
        </p:txBody>
      </p:sp>
      <p:sp>
        <p:nvSpPr>
          <p:cNvPr id="8" name="Content Placeholder 2">
            <a:extLst>
              <a:ext uri="{FF2B5EF4-FFF2-40B4-BE49-F238E27FC236}">
                <a16:creationId xmlns:a16="http://schemas.microsoft.com/office/drawing/2014/main" id="{A56DB17B-9668-FC72-ABF1-EC9D641C4DCA}"/>
              </a:ext>
            </a:extLst>
          </p:cNvPr>
          <p:cNvSpPr txBox="1">
            <a:spLocks/>
          </p:cNvSpPr>
          <p:nvPr/>
        </p:nvSpPr>
        <p:spPr>
          <a:xfrm>
            <a:off x="592782" y="5373857"/>
            <a:ext cx="10353762" cy="1108028"/>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sr-Latn-RS" dirty="0"/>
              <a:t>Saradjuje sa istragom</a:t>
            </a:r>
            <a:endParaRPr lang="en-US" dirty="0"/>
          </a:p>
        </p:txBody>
      </p:sp>
      <p:pic>
        <p:nvPicPr>
          <p:cNvPr id="4" name="Picture 3">
            <a:extLst>
              <a:ext uri="{FF2B5EF4-FFF2-40B4-BE49-F238E27FC236}">
                <a16:creationId xmlns:a16="http://schemas.microsoft.com/office/drawing/2014/main" id="{10384E57-D420-76B8-BB96-554A10492F26}"/>
              </a:ext>
            </a:extLst>
          </p:cNvPr>
          <p:cNvPicPr>
            <a:picLocks noChangeAspect="1"/>
          </p:cNvPicPr>
          <p:nvPr/>
        </p:nvPicPr>
        <p:blipFill>
          <a:blip r:embed="rId2"/>
          <a:stretch>
            <a:fillRect/>
          </a:stretch>
        </p:blipFill>
        <p:spPr>
          <a:xfrm>
            <a:off x="4847200" y="53502"/>
            <a:ext cx="7344800" cy="2429214"/>
          </a:xfrm>
          <a:prstGeom prst="rect">
            <a:avLst/>
          </a:prstGeom>
        </p:spPr>
      </p:pic>
      <p:pic>
        <p:nvPicPr>
          <p:cNvPr id="9" name="Picture 8">
            <a:extLst>
              <a:ext uri="{FF2B5EF4-FFF2-40B4-BE49-F238E27FC236}">
                <a16:creationId xmlns:a16="http://schemas.microsoft.com/office/drawing/2014/main" id="{B6E9EC58-00DD-A9EA-E0C5-42A387A2C69A}"/>
              </a:ext>
            </a:extLst>
          </p:cNvPr>
          <p:cNvPicPr>
            <a:picLocks noChangeAspect="1"/>
          </p:cNvPicPr>
          <p:nvPr/>
        </p:nvPicPr>
        <p:blipFill>
          <a:blip r:embed="rId3"/>
          <a:stretch>
            <a:fillRect/>
          </a:stretch>
        </p:blipFill>
        <p:spPr>
          <a:xfrm>
            <a:off x="4675726" y="2554438"/>
            <a:ext cx="7516274" cy="2105319"/>
          </a:xfrm>
          <a:prstGeom prst="rect">
            <a:avLst/>
          </a:prstGeom>
        </p:spPr>
      </p:pic>
      <p:pic>
        <p:nvPicPr>
          <p:cNvPr id="11" name="Picture 10">
            <a:extLst>
              <a:ext uri="{FF2B5EF4-FFF2-40B4-BE49-F238E27FC236}">
                <a16:creationId xmlns:a16="http://schemas.microsoft.com/office/drawing/2014/main" id="{2D738E6A-E47A-0213-7290-FE738EBDC89C}"/>
              </a:ext>
            </a:extLst>
          </p:cNvPr>
          <p:cNvPicPr>
            <a:picLocks noChangeAspect="1"/>
          </p:cNvPicPr>
          <p:nvPr/>
        </p:nvPicPr>
        <p:blipFill>
          <a:blip r:embed="rId4"/>
          <a:stretch>
            <a:fillRect/>
          </a:stretch>
        </p:blipFill>
        <p:spPr>
          <a:xfrm>
            <a:off x="4586912" y="4697114"/>
            <a:ext cx="7611537" cy="2095792"/>
          </a:xfrm>
          <a:prstGeom prst="rect">
            <a:avLst/>
          </a:prstGeom>
        </p:spPr>
      </p:pic>
      <p:sp>
        <p:nvSpPr>
          <p:cNvPr id="14" name="Content Placeholder 2">
            <a:extLst>
              <a:ext uri="{FF2B5EF4-FFF2-40B4-BE49-F238E27FC236}">
                <a16:creationId xmlns:a16="http://schemas.microsoft.com/office/drawing/2014/main" id="{28C1CF7F-05EF-38A2-E76C-150854E2E686}"/>
              </a:ext>
            </a:extLst>
          </p:cNvPr>
          <p:cNvSpPr txBox="1">
            <a:spLocks/>
          </p:cNvSpPr>
          <p:nvPr/>
        </p:nvSpPr>
        <p:spPr>
          <a:xfrm>
            <a:off x="592782" y="2874986"/>
            <a:ext cx="10353762" cy="1108028"/>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sr-Latn-RS" dirty="0"/>
              <a:t>Prodične okolnosti (ima decu)</a:t>
            </a:r>
            <a:endParaRPr lang="en-US" dirty="0"/>
          </a:p>
        </p:txBody>
      </p:sp>
    </p:spTree>
    <p:extLst>
      <p:ext uri="{BB962C8B-B14F-4D97-AF65-F5344CB8AC3E}">
        <p14:creationId xmlns:p14="http://schemas.microsoft.com/office/powerpoint/2010/main" val="41528577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565A42-C49F-449E-A4BD-556D92F8203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12698B-F502-AD8F-F2B7-ECFD91A94460}"/>
              </a:ext>
            </a:extLst>
          </p:cNvPr>
          <p:cNvSpPr>
            <a:spLocks noGrp="1"/>
          </p:cNvSpPr>
          <p:nvPr>
            <p:ph idx="1"/>
          </p:nvPr>
        </p:nvSpPr>
        <p:spPr>
          <a:xfrm>
            <a:off x="164764" y="458672"/>
            <a:ext cx="4221804" cy="1108028"/>
          </a:xfrm>
        </p:spPr>
        <p:txBody>
          <a:bodyPr/>
          <a:lstStyle/>
          <a:p>
            <a:r>
              <a:rPr lang="sr-Latn-RS" dirty="0"/>
              <a:t>Prethodno osudjivan kao otežavajuća okolnost</a:t>
            </a:r>
            <a:endParaRPr lang="en-US" dirty="0"/>
          </a:p>
        </p:txBody>
      </p:sp>
      <p:sp>
        <p:nvSpPr>
          <p:cNvPr id="8" name="Content Placeholder 2">
            <a:extLst>
              <a:ext uri="{FF2B5EF4-FFF2-40B4-BE49-F238E27FC236}">
                <a16:creationId xmlns:a16="http://schemas.microsoft.com/office/drawing/2014/main" id="{0A887ACF-8148-8D1E-2CCD-46B46090D38E}"/>
              </a:ext>
            </a:extLst>
          </p:cNvPr>
          <p:cNvSpPr txBox="1">
            <a:spLocks/>
          </p:cNvSpPr>
          <p:nvPr/>
        </p:nvSpPr>
        <p:spPr>
          <a:xfrm>
            <a:off x="164764" y="4477277"/>
            <a:ext cx="4396646" cy="1922787"/>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sr-Latn-RS" dirty="0"/>
              <a:t>Ako optuženi ima otežavajuće okolnosti onda smanjenje kazne nije dozvoljeno, tako da ako je mininalna kazna 6 meseci i postoje otežavajuće okolnosti neće ići ispod 6 meseci</a:t>
            </a:r>
            <a:endParaRPr lang="en-US" dirty="0"/>
          </a:p>
        </p:txBody>
      </p:sp>
      <p:sp>
        <p:nvSpPr>
          <p:cNvPr id="14" name="Content Placeholder 2">
            <a:extLst>
              <a:ext uri="{FF2B5EF4-FFF2-40B4-BE49-F238E27FC236}">
                <a16:creationId xmlns:a16="http://schemas.microsoft.com/office/drawing/2014/main" id="{1FDAFCF6-0EA8-D7EF-BDA9-1C193D54578C}"/>
              </a:ext>
            </a:extLst>
          </p:cNvPr>
          <p:cNvSpPr txBox="1">
            <a:spLocks/>
          </p:cNvSpPr>
          <p:nvPr/>
        </p:nvSpPr>
        <p:spPr>
          <a:xfrm>
            <a:off x="48638" y="2696701"/>
            <a:ext cx="10353762" cy="1108028"/>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endParaRPr lang="en-US" dirty="0"/>
          </a:p>
        </p:txBody>
      </p:sp>
      <p:pic>
        <p:nvPicPr>
          <p:cNvPr id="5" name="Picture 4">
            <a:extLst>
              <a:ext uri="{FF2B5EF4-FFF2-40B4-BE49-F238E27FC236}">
                <a16:creationId xmlns:a16="http://schemas.microsoft.com/office/drawing/2014/main" id="{ED43FE8D-18F2-D597-CFFA-9B998435D588}"/>
              </a:ext>
            </a:extLst>
          </p:cNvPr>
          <p:cNvPicPr>
            <a:picLocks noChangeAspect="1"/>
          </p:cNvPicPr>
          <p:nvPr/>
        </p:nvPicPr>
        <p:blipFill>
          <a:blip r:embed="rId2"/>
          <a:stretch>
            <a:fillRect/>
          </a:stretch>
        </p:blipFill>
        <p:spPr>
          <a:xfrm>
            <a:off x="4561410" y="65094"/>
            <a:ext cx="7630590" cy="2067213"/>
          </a:xfrm>
          <a:prstGeom prst="rect">
            <a:avLst/>
          </a:prstGeom>
        </p:spPr>
      </p:pic>
      <p:pic>
        <p:nvPicPr>
          <p:cNvPr id="7" name="Picture 6">
            <a:extLst>
              <a:ext uri="{FF2B5EF4-FFF2-40B4-BE49-F238E27FC236}">
                <a16:creationId xmlns:a16="http://schemas.microsoft.com/office/drawing/2014/main" id="{D13C55F7-7308-A6B4-BDBA-3FE58133D216}"/>
              </a:ext>
            </a:extLst>
          </p:cNvPr>
          <p:cNvPicPr>
            <a:picLocks noChangeAspect="1"/>
          </p:cNvPicPr>
          <p:nvPr/>
        </p:nvPicPr>
        <p:blipFill>
          <a:blip r:embed="rId3"/>
          <a:stretch>
            <a:fillRect/>
          </a:stretch>
        </p:blipFill>
        <p:spPr>
          <a:xfrm>
            <a:off x="4436561" y="2221871"/>
            <a:ext cx="7706801" cy="2057687"/>
          </a:xfrm>
          <a:prstGeom prst="rect">
            <a:avLst/>
          </a:prstGeom>
        </p:spPr>
      </p:pic>
      <p:sp>
        <p:nvSpPr>
          <p:cNvPr id="10" name="Content Placeholder 2">
            <a:extLst>
              <a:ext uri="{FF2B5EF4-FFF2-40B4-BE49-F238E27FC236}">
                <a16:creationId xmlns:a16="http://schemas.microsoft.com/office/drawing/2014/main" id="{15082C03-39C7-5094-A256-5C730C8880C3}"/>
              </a:ext>
            </a:extLst>
          </p:cNvPr>
          <p:cNvSpPr txBox="1">
            <a:spLocks/>
          </p:cNvSpPr>
          <p:nvPr/>
        </p:nvSpPr>
        <p:spPr>
          <a:xfrm>
            <a:off x="164764" y="2679776"/>
            <a:ext cx="10353762" cy="1108028"/>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sr-Latn-RS" dirty="0"/>
              <a:t>Organizovani kriminal</a:t>
            </a:r>
            <a:endParaRPr lang="en-US" dirty="0"/>
          </a:p>
        </p:txBody>
      </p:sp>
      <p:pic>
        <p:nvPicPr>
          <p:cNvPr id="13" name="Picture 12">
            <a:extLst>
              <a:ext uri="{FF2B5EF4-FFF2-40B4-BE49-F238E27FC236}">
                <a16:creationId xmlns:a16="http://schemas.microsoft.com/office/drawing/2014/main" id="{15521134-BF70-063F-1231-D435F398EECF}"/>
              </a:ext>
            </a:extLst>
          </p:cNvPr>
          <p:cNvPicPr>
            <a:picLocks noChangeAspect="1"/>
          </p:cNvPicPr>
          <p:nvPr/>
        </p:nvPicPr>
        <p:blipFill>
          <a:blip r:embed="rId4"/>
          <a:stretch>
            <a:fillRect/>
          </a:stretch>
        </p:blipFill>
        <p:spPr>
          <a:xfrm>
            <a:off x="4561410" y="4472953"/>
            <a:ext cx="7287642" cy="2133898"/>
          </a:xfrm>
          <a:prstGeom prst="rect">
            <a:avLst/>
          </a:prstGeom>
        </p:spPr>
      </p:pic>
    </p:spTree>
    <p:extLst>
      <p:ext uri="{BB962C8B-B14F-4D97-AF65-F5344CB8AC3E}">
        <p14:creationId xmlns:p14="http://schemas.microsoft.com/office/powerpoint/2010/main" val="11903943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1BD8F-B32E-0609-44F2-765769B308E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392609-EFFE-987A-14A7-E7E95AB31F4E}"/>
              </a:ext>
            </a:extLst>
          </p:cNvPr>
          <p:cNvSpPr>
            <a:spLocks noGrp="1"/>
          </p:cNvSpPr>
          <p:nvPr>
            <p:ph idx="1"/>
          </p:nvPr>
        </p:nvSpPr>
        <p:spPr>
          <a:xfrm>
            <a:off x="164764" y="458671"/>
            <a:ext cx="4221804" cy="1673635"/>
          </a:xfrm>
        </p:spPr>
        <p:txBody>
          <a:bodyPr>
            <a:normAutofit/>
          </a:bodyPr>
          <a:lstStyle/>
          <a:p>
            <a:r>
              <a:rPr lang="sr-Latn-RS" dirty="0"/>
              <a:t>Ako ima olakšavajuće može smanjivanje kazne, što vidimo u praksi da je skoro uvek manje od minimalne kazne, verovatno baš zbog toga</a:t>
            </a:r>
            <a:endParaRPr lang="en-US" dirty="0"/>
          </a:p>
        </p:txBody>
      </p:sp>
      <p:sp>
        <p:nvSpPr>
          <p:cNvPr id="14" name="Content Placeholder 2">
            <a:extLst>
              <a:ext uri="{FF2B5EF4-FFF2-40B4-BE49-F238E27FC236}">
                <a16:creationId xmlns:a16="http://schemas.microsoft.com/office/drawing/2014/main" id="{A5D11ABE-5EC1-A6BA-2C46-03680748DA4E}"/>
              </a:ext>
            </a:extLst>
          </p:cNvPr>
          <p:cNvSpPr txBox="1">
            <a:spLocks/>
          </p:cNvSpPr>
          <p:nvPr/>
        </p:nvSpPr>
        <p:spPr>
          <a:xfrm>
            <a:off x="48638" y="2696701"/>
            <a:ext cx="10353762" cy="1108028"/>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endParaRPr lang="en-US" dirty="0"/>
          </a:p>
        </p:txBody>
      </p:sp>
      <p:sp>
        <p:nvSpPr>
          <p:cNvPr id="10" name="Content Placeholder 2">
            <a:extLst>
              <a:ext uri="{FF2B5EF4-FFF2-40B4-BE49-F238E27FC236}">
                <a16:creationId xmlns:a16="http://schemas.microsoft.com/office/drawing/2014/main" id="{F9E916B9-A14D-D869-22BF-CE95624D7E23}"/>
              </a:ext>
            </a:extLst>
          </p:cNvPr>
          <p:cNvSpPr txBox="1">
            <a:spLocks/>
          </p:cNvSpPr>
          <p:nvPr/>
        </p:nvSpPr>
        <p:spPr>
          <a:xfrm>
            <a:off x="102843" y="3768148"/>
            <a:ext cx="4459429" cy="1108028"/>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sr-Latn-RS" dirty="0"/>
              <a:t>Maksimalne i minimalne kazne u mesecima</a:t>
            </a:r>
            <a:endParaRPr lang="en-US" dirty="0"/>
          </a:p>
        </p:txBody>
      </p:sp>
      <p:pic>
        <p:nvPicPr>
          <p:cNvPr id="4" name="Picture 3">
            <a:extLst>
              <a:ext uri="{FF2B5EF4-FFF2-40B4-BE49-F238E27FC236}">
                <a16:creationId xmlns:a16="http://schemas.microsoft.com/office/drawing/2014/main" id="{314BEA78-BB0A-EDD6-B844-EFD770F75044}"/>
              </a:ext>
            </a:extLst>
          </p:cNvPr>
          <p:cNvPicPr>
            <a:picLocks noChangeAspect="1"/>
          </p:cNvPicPr>
          <p:nvPr/>
        </p:nvPicPr>
        <p:blipFill>
          <a:blip r:embed="rId2"/>
          <a:stretch>
            <a:fillRect/>
          </a:stretch>
        </p:blipFill>
        <p:spPr>
          <a:xfrm>
            <a:off x="4815805" y="331830"/>
            <a:ext cx="7211431" cy="1800476"/>
          </a:xfrm>
          <a:prstGeom prst="rect">
            <a:avLst/>
          </a:prstGeom>
        </p:spPr>
      </p:pic>
      <p:pic>
        <p:nvPicPr>
          <p:cNvPr id="9" name="Picture 8">
            <a:extLst>
              <a:ext uri="{FF2B5EF4-FFF2-40B4-BE49-F238E27FC236}">
                <a16:creationId xmlns:a16="http://schemas.microsoft.com/office/drawing/2014/main" id="{2D42A2D4-6FFC-CDC2-12EA-BC16EC9FEFF3}"/>
              </a:ext>
            </a:extLst>
          </p:cNvPr>
          <p:cNvPicPr>
            <a:picLocks noChangeAspect="1"/>
          </p:cNvPicPr>
          <p:nvPr/>
        </p:nvPicPr>
        <p:blipFill>
          <a:blip r:embed="rId3"/>
          <a:stretch>
            <a:fillRect/>
          </a:stretch>
        </p:blipFill>
        <p:spPr>
          <a:xfrm>
            <a:off x="4753883" y="2649739"/>
            <a:ext cx="7335274" cy="2991267"/>
          </a:xfrm>
          <a:prstGeom prst="rect">
            <a:avLst/>
          </a:prstGeom>
        </p:spPr>
      </p:pic>
    </p:spTree>
    <p:extLst>
      <p:ext uri="{BB962C8B-B14F-4D97-AF65-F5344CB8AC3E}">
        <p14:creationId xmlns:p14="http://schemas.microsoft.com/office/powerpoint/2010/main" val="22352019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108B0-9D52-2A77-CF1E-69F7D3EFF071}"/>
              </a:ext>
            </a:extLst>
          </p:cNvPr>
          <p:cNvSpPr>
            <a:spLocks noGrp="1"/>
          </p:cNvSpPr>
          <p:nvPr>
            <p:ph type="title"/>
          </p:nvPr>
        </p:nvSpPr>
        <p:spPr>
          <a:xfrm>
            <a:off x="913795" y="96350"/>
            <a:ext cx="10353762" cy="970450"/>
          </a:xfrm>
        </p:spPr>
        <p:txBody>
          <a:bodyPr/>
          <a:lstStyle/>
          <a:p>
            <a:r>
              <a:rPr lang="sr-Latn-RS" dirty="0"/>
              <a:t>Rezonovanje po praivlima</a:t>
            </a:r>
            <a:endParaRPr lang="en-US" dirty="0"/>
          </a:p>
        </p:txBody>
      </p:sp>
      <p:sp>
        <p:nvSpPr>
          <p:cNvPr id="3" name="Content Placeholder 2">
            <a:extLst>
              <a:ext uri="{FF2B5EF4-FFF2-40B4-BE49-F238E27FC236}">
                <a16:creationId xmlns:a16="http://schemas.microsoft.com/office/drawing/2014/main" id="{D0B0FF68-AFA0-9210-6DF0-0A1A89476CF1}"/>
              </a:ext>
            </a:extLst>
          </p:cNvPr>
          <p:cNvSpPr>
            <a:spLocks noGrp="1"/>
          </p:cNvSpPr>
          <p:nvPr>
            <p:ph idx="1"/>
          </p:nvPr>
        </p:nvSpPr>
        <p:spPr/>
        <p:txBody>
          <a:bodyPr/>
          <a:lstStyle/>
          <a:p>
            <a:endParaRPr lang="en-US"/>
          </a:p>
        </p:txBody>
      </p:sp>
      <p:pic>
        <p:nvPicPr>
          <p:cNvPr id="7" name="Picture 6">
            <a:extLst>
              <a:ext uri="{FF2B5EF4-FFF2-40B4-BE49-F238E27FC236}">
                <a16:creationId xmlns:a16="http://schemas.microsoft.com/office/drawing/2014/main" id="{974FE44F-53EE-3E7F-913D-CCF4491533DA}"/>
              </a:ext>
            </a:extLst>
          </p:cNvPr>
          <p:cNvPicPr>
            <a:picLocks noChangeAspect="1"/>
          </p:cNvPicPr>
          <p:nvPr/>
        </p:nvPicPr>
        <p:blipFill>
          <a:blip r:embed="rId2"/>
          <a:stretch>
            <a:fillRect/>
          </a:stretch>
        </p:blipFill>
        <p:spPr>
          <a:xfrm>
            <a:off x="0" y="1151631"/>
            <a:ext cx="12192000" cy="4885477"/>
          </a:xfrm>
          <a:prstGeom prst="rect">
            <a:avLst/>
          </a:prstGeom>
        </p:spPr>
      </p:pic>
    </p:spTree>
    <p:extLst>
      <p:ext uri="{BB962C8B-B14F-4D97-AF65-F5344CB8AC3E}">
        <p14:creationId xmlns:p14="http://schemas.microsoft.com/office/powerpoint/2010/main" val="1122719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DAAD0D1A-A923-84FB-F02E-9FEA444A5843}"/>
              </a:ext>
            </a:extLst>
          </p:cNvPr>
          <p:cNvPicPr>
            <a:picLocks noChangeAspect="1"/>
          </p:cNvPicPr>
          <p:nvPr/>
        </p:nvPicPr>
        <p:blipFill>
          <a:blip r:embed="rId2"/>
          <a:stretch>
            <a:fillRect/>
          </a:stretch>
        </p:blipFill>
        <p:spPr>
          <a:xfrm>
            <a:off x="0" y="634449"/>
            <a:ext cx="12192000" cy="5589102"/>
          </a:xfrm>
          <a:prstGeom prst="rect">
            <a:avLst/>
          </a:prstGeom>
        </p:spPr>
      </p:pic>
    </p:spTree>
    <p:extLst>
      <p:ext uri="{BB962C8B-B14F-4D97-AF65-F5344CB8AC3E}">
        <p14:creationId xmlns:p14="http://schemas.microsoft.com/office/powerpoint/2010/main" val="30885652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BED63A-4D8C-DEB2-BB83-37D7DB28E845}"/>
              </a:ext>
            </a:extLst>
          </p:cNvPr>
          <p:cNvSpPr>
            <a:spLocks noGrp="1"/>
          </p:cNvSpPr>
          <p:nvPr>
            <p:ph idx="1"/>
          </p:nvPr>
        </p:nvSpPr>
        <p:spPr>
          <a:xfrm>
            <a:off x="378773" y="458125"/>
            <a:ext cx="4241865" cy="4058751"/>
          </a:xfrm>
        </p:spPr>
        <p:txBody>
          <a:bodyPr/>
          <a:lstStyle/>
          <a:p>
            <a:r>
              <a:rPr lang="sr-Latn-RS" dirty="0"/>
              <a:t>Vidimo da je na ovom konkretnom slučaju primenjeno 5 pravila, član zakona, postojanje olakšavajućih okolnosti, koje dozvoljava smanjenje kazne koje daje minimalnu i maksimlanu kaznu </a:t>
            </a:r>
            <a:endParaRPr lang="en-US" dirty="0"/>
          </a:p>
        </p:txBody>
      </p:sp>
      <p:pic>
        <p:nvPicPr>
          <p:cNvPr id="7" name="Picture 6">
            <a:extLst>
              <a:ext uri="{FF2B5EF4-FFF2-40B4-BE49-F238E27FC236}">
                <a16:creationId xmlns:a16="http://schemas.microsoft.com/office/drawing/2014/main" id="{FF0D1245-8463-FCAD-DF2F-1EB931311515}"/>
              </a:ext>
            </a:extLst>
          </p:cNvPr>
          <p:cNvPicPr>
            <a:picLocks noChangeAspect="1"/>
          </p:cNvPicPr>
          <p:nvPr/>
        </p:nvPicPr>
        <p:blipFill>
          <a:blip r:embed="rId2"/>
          <a:stretch>
            <a:fillRect/>
          </a:stretch>
        </p:blipFill>
        <p:spPr>
          <a:xfrm>
            <a:off x="5914145" y="458125"/>
            <a:ext cx="5344271" cy="2038635"/>
          </a:xfrm>
          <a:prstGeom prst="rect">
            <a:avLst/>
          </a:prstGeom>
        </p:spPr>
      </p:pic>
      <p:sp>
        <p:nvSpPr>
          <p:cNvPr id="10" name="Content Placeholder 2">
            <a:extLst>
              <a:ext uri="{FF2B5EF4-FFF2-40B4-BE49-F238E27FC236}">
                <a16:creationId xmlns:a16="http://schemas.microsoft.com/office/drawing/2014/main" id="{E677A708-93F4-5747-ABD4-FFC1C2E97451}"/>
              </a:ext>
            </a:extLst>
          </p:cNvPr>
          <p:cNvSpPr txBox="1">
            <a:spLocks/>
          </p:cNvSpPr>
          <p:nvPr/>
        </p:nvSpPr>
        <p:spPr>
          <a:xfrm>
            <a:off x="258799" y="2964619"/>
            <a:ext cx="10999617"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sr-Latn-RS" dirty="0"/>
              <a:t>To smanjenje kazne je zapravo član 45 krivičnog zakonika, nije nam bilo zašto je kazna skoro svugde manja od minimalne kazne i ispostavilo se da se u velikom broju slučajeva gde imaju olakšavajuće okolnosti pominje ovaj član. </a:t>
            </a:r>
            <a:endParaRPr lang="en-US" dirty="0"/>
          </a:p>
        </p:txBody>
      </p:sp>
      <p:pic>
        <p:nvPicPr>
          <p:cNvPr id="12" name="Picture 11">
            <a:extLst>
              <a:ext uri="{FF2B5EF4-FFF2-40B4-BE49-F238E27FC236}">
                <a16:creationId xmlns:a16="http://schemas.microsoft.com/office/drawing/2014/main" id="{1D3F5B90-C172-76F4-1760-FF9350391628}"/>
              </a:ext>
            </a:extLst>
          </p:cNvPr>
          <p:cNvPicPr>
            <a:picLocks noChangeAspect="1"/>
          </p:cNvPicPr>
          <p:nvPr/>
        </p:nvPicPr>
        <p:blipFill>
          <a:blip r:embed="rId3"/>
          <a:stretch>
            <a:fillRect/>
          </a:stretch>
        </p:blipFill>
        <p:spPr>
          <a:xfrm>
            <a:off x="1331980" y="4255390"/>
            <a:ext cx="9164329" cy="2257740"/>
          </a:xfrm>
          <a:prstGeom prst="rect">
            <a:avLst/>
          </a:prstGeom>
        </p:spPr>
      </p:pic>
    </p:spTree>
    <p:extLst>
      <p:ext uri="{BB962C8B-B14F-4D97-AF65-F5344CB8AC3E}">
        <p14:creationId xmlns:p14="http://schemas.microsoft.com/office/powerpoint/2010/main" val="13555520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9DCF5E-542B-F346-3A93-48B6C30D2B3F}"/>
              </a:ext>
            </a:extLst>
          </p:cNvPr>
          <p:cNvSpPr>
            <a:spLocks noGrp="1"/>
          </p:cNvSpPr>
          <p:nvPr>
            <p:ph idx="1"/>
          </p:nvPr>
        </p:nvSpPr>
        <p:spPr>
          <a:xfrm>
            <a:off x="991616" y="1109879"/>
            <a:ext cx="10353762" cy="4058751"/>
          </a:xfrm>
        </p:spPr>
        <p:txBody>
          <a:bodyPr/>
          <a:lstStyle/>
          <a:p>
            <a:r>
              <a:rPr lang="sr-Latn-RS" dirty="0"/>
              <a:t>Ovde vidimo taćne granice za ublažavanje kazni nakon što se primeni ćlan 45 stav 3 o olakšavajućim okolnostima</a:t>
            </a:r>
            <a:endParaRPr lang="en-US" dirty="0"/>
          </a:p>
        </p:txBody>
      </p:sp>
      <p:pic>
        <p:nvPicPr>
          <p:cNvPr id="5" name="Picture 4">
            <a:extLst>
              <a:ext uri="{FF2B5EF4-FFF2-40B4-BE49-F238E27FC236}">
                <a16:creationId xmlns:a16="http://schemas.microsoft.com/office/drawing/2014/main" id="{F3EA8517-B4DC-7F2B-5018-B4110C1F95C4}"/>
              </a:ext>
            </a:extLst>
          </p:cNvPr>
          <p:cNvPicPr>
            <a:picLocks noChangeAspect="1"/>
          </p:cNvPicPr>
          <p:nvPr/>
        </p:nvPicPr>
        <p:blipFill>
          <a:blip r:embed="rId2"/>
          <a:stretch>
            <a:fillRect/>
          </a:stretch>
        </p:blipFill>
        <p:spPr>
          <a:xfrm>
            <a:off x="0" y="2090791"/>
            <a:ext cx="12192000" cy="3843737"/>
          </a:xfrm>
          <a:prstGeom prst="rect">
            <a:avLst/>
          </a:prstGeom>
        </p:spPr>
      </p:pic>
    </p:spTree>
    <p:extLst>
      <p:ext uri="{BB962C8B-B14F-4D97-AF65-F5344CB8AC3E}">
        <p14:creationId xmlns:p14="http://schemas.microsoft.com/office/powerpoint/2010/main" val="29091538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D65590-1272-85B0-8A7E-15D4BBB6E635}"/>
              </a:ext>
            </a:extLst>
          </p:cNvPr>
          <p:cNvSpPr>
            <a:spLocks noGrp="1"/>
          </p:cNvSpPr>
          <p:nvPr>
            <p:ph idx="1"/>
          </p:nvPr>
        </p:nvSpPr>
        <p:spPr>
          <a:xfrm>
            <a:off x="621966" y="516492"/>
            <a:ext cx="10353762" cy="4058751"/>
          </a:xfrm>
        </p:spPr>
        <p:txBody>
          <a:bodyPr/>
          <a:lstStyle/>
          <a:p>
            <a:r>
              <a:rPr lang="sr-Latn-RS" dirty="0"/>
              <a:t>Vidimo kada je neko bio ranije osudjivan da mu će te otežavajuca okolnost doneti do dosta teže kazne, preporučena 2 godine i 9 meseci a izrečena 2 godine, iako ima olakšavajuće okolnosti činjenica da je prethodno osudjivan igra veoma veliku ulogu</a:t>
            </a:r>
            <a:endParaRPr lang="en-US" dirty="0"/>
          </a:p>
        </p:txBody>
      </p:sp>
      <p:pic>
        <p:nvPicPr>
          <p:cNvPr id="5" name="Picture 4">
            <a:extLst>
              <a:ext uri="{FF2B5EF4-FFF2-40B4-BE49-F238E27FC236}">
                <a16:creationId xmlns:a16="http://schemas.microsoft.com/office/drawing/2014/main" id="{7620BF96-51A8-4ACD-8A34-DC2C5138426E}"/>
              </a:ext>
            </a:extLst>
          </p:cNvPr>
          <p:cNvPicPr>
            <a:picLocks noChangeAspect="1"/>
          </p:cNvPicPr>
          <p:nvPr/>
        </p:nvPicPr>
        <p:blipFill>
          <a:blip r:embed="rId2"/>
          <a:stretch>
            <a:fillRect/>
          </a:stretch>
        </p:blipFill>
        <p:spPr>
          <a:xfrm>
            <a:off x="0" y="1970549"/>
            <a:ext cx="12192000" cy="4531694"/>
          </a:xfrm>
          <a:prstGeom prst="rect">
            <a:avLst/>
          </a:prstGeom>
        </p:spPr>
      </p:pic>
    </p:spTree>
    <p:extLst>
      <p:ext uri="{BB962C8B-B14F-4D97-AF65-F5344CB8AC3E}">
        <p14:creationId xmlns:p14="http://schemas.microsoft.com/office/powerpoint/2010/main" val="1707808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E219D36-AB74-9741-FAD6-9AF2692174F3}"/>
              </a:ext>
            </a:extLst>
          </p:cNvPr>
          <p:cNvPicPr>
            <a:picLocks noChangeAspect="1"/>
          </p:cNvPicPr>
          <p:nvPr/>
        </p:nvPicPr>
        <p:blipFill>
          <a:blip r:embed="rId2"/>
          <a:stretch>
            <a:fillRect/>
          </a:stretch>
        </p:blipFill>
        <p:spPr>
          <a:xfrm>
            <a:off x="4890531" y="151100"/>
            <a:ext cx="6516009" cy="2857899"/>
          </a:xfrm>
          <a:prstGeom prst="rect">
            <a:avLst/>
          </a:prstGeom>
        </p:spPr>
      </p:pic>
      <p:pic>
        <p:nvPicPr>
          <p:cNvPr id="7" name="Picture 6">
            <a:extLst>
              <a:ext uri="{FF2B5EF4-FFF2-40B4-BE49-F238E27FC236}">
                <a16:creationId xmlns:a16="http://schemas.microsoft.com/office/drawing/2014/main" id="{21EF54ED-256F-64AD-DB29-779A4476601F}"/>
              </a:ext>
            </a:extLst>
          </p:cNvPr>
          <p:cNvPicPr>
            <a:picLocks noChangeAspect="1"/>
          </p:cNvPicPr>
          <p:nvPr/>
        </p:nvPicPr>
        <p:blipFill>
          <a:blip r:embed="rId3"/>
          <a:stretch>
            <a:fillRect/>
          </a:stretch>
        </p:blipFill>
        <p:spPr>
          <a:xfrm>
            <a:off x="4890531" y="3281484"/>
            <a:ext cx="5553850" cy="2610214"/>
          </a:xfrm>
          <a:prstGeom prst="rect">
            <a:avLst/>
          </a:prstGeom>
        </p:spPr>
      </p:pic>
      <p:sp>
        <p:nvSpPr>
          <p:cNvPr id="8" name="Content Placeholder 2">
            <a:extLst>
              <a:ext uri="{FF2B5EF4-FFF2-40B4-BE49-F238E27FC236}">
                <a16:creationId xmlns:a16="http://schemas.microsoft.com/office/drawing/2014/main" id="{C4E6D763-3D98-D2E8-4E52-EF8A56D6B07D}"/>
              </a:ext>
            </a:extLst>
          </p:cNvPr>
          <p:cNvSpPr>
            <a:spLocks noGrp="1"/>
          </p:cNvSpPr>
          <p:nvPr>
            <p:ph idx="1"/>
          </p:nvPr>
        </p:nvSpPr>
        <p:spPr>
          <a:xfrm>
            <a:off x="485779" y="321940"/>
            <a:ext cx="3969489" cy="2265618"/>
          </a:xfrm>
        </p:spPr>
        <p:txBody>
          <a:bodyPr/>
          <a:lstStyle/>
          <a:p>
            <a:r>
              <a:rPr lang="sr-Latn-RS" dirty="0"/>
              <a:t>7 pronadjenih dokaza za konkretni slučaj</a:t>
            </a:r>
          </a:p>
          <a:p>
            <a:endParaRPr lang="sr-Latn-RS" dirty="0"/>
          </a:p>
          <a:p>
            <a:endParaRPr lang="sr-Latn-RS" dirty="0"/>
          </a:p>
          <a:p>
            <a:endParaRPr lang="sr-Latn-RS" dirty="0"/>
          </a:p>
          <a:p>
            <a:endParaRPr lang="sr-Latn-RS" dirty="0"/>
          </a:p>
          <a:p>
            <a:endParaRPr lang="en-US" dirty="0"/>
          </a:p>
        </p:txBody>
      </p:sp>
      <p:sp>
        <p:nvSpPr>
          <p:cNvPr id="9" name="Content Placeholder 2">
            <a:extLst>
              <a:ext uri="{FF2B5EF4-FFF2-40B4-BE49-F238E27FC236}">
                <a16:creationId xmlns:a16="http://schemas.microsoft.com/office/drawing/2014/main" id="{14611208-64BE-8E79-45A6-C42FA8E82C88}"/>
              </a:ext>
            </a:extLst>
          </p:cNvPr>
          <p:cNvSpPr txBox="1">
            <a:spLocks/>
          </p:cNvSpPr>
          <p:nvPr/>
        </p:nvSpPr>
        <p:spPr>
          <a:xfrm>
            <a:off x="15609" y="3281484"/>
            <a:ext cx="4439659" cy="2265618"/>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sr-Latn-RS" dirty="0"/>
              <a:t>Iako ima olakšavajućie okolnosti smanjenje kazne je zabranjeno zbog postojanja otežavajucih okolnosti, tako da kazna neće moći da ide ispod minimalne i verovatno će biti veća od minmalne</a:t>
            </a:r>
          </a:p>
          <a:p>
            <a:endParaRPr lang="sr-Latn-RS" dirty="0"/>
          </a:p>
          <a:p>
            <a:endParaRPr lang="sr-Latn-RS" dirty="0"/>
          </a:p>
          <a:p>
            <a:endParaRPr lang="sr-Latn-RS" dirty="0"/>
          </a:p>
          <a:p>
            <a:endParaRPr lang="en-US" dirty="0"/>
          </a:p>
        </p:txBody>
      </p:sp>
    </p:spTree>
    <p:extLst>
      <p:ext uri="{BB962C8B-B14F-4D97-AF65-F5344CB8AC3E}">
        <p14:creationId xmlns:p14="http://schemas.microsoft.com/office/powerpoint/2010/main" val="33529619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B42A68-55AE-24C5-6D6E-1FAB50635277}"/>
              </a:ext>
            </a:extLst>
          </p:cNvPr>
          <p:cNvSpPr>
            <a:spLocks noGrp="1"/>
          </p:cNvSpPr>
          <p:nvPr>
            <p:ph idx="1"/>
          </p:nvPr>
        </p:nvSpPr>
        <p:spPr>
          <a:xfrm>
            <a:off x="193948" y="1712994"/>
            <a:ext cx="3308009" cy="4058751"/>
          </a:xfrm>
        </p:spPr>
        <p:txBody>
          <a:bodyPr/>
          <a:lstStyle/>
          <a:p>
            <a:r>
              <a:rPr lang="sr-Latn-RS" dirty="0"/>
              <a:t>Koristimo razne jcolibri pakete</a:t>
            </a:r>
            <a:endParaRPr lang="en-US" dirty="0"/>
          </a:p>
        </p:txBody>
      </p:sp>
      <p:sp>
        <p:nvSpPr>
          <p:cNvPr id="4" name="Title 1">
            <a:extLst>
              <a:ext uri="{FF2B5EF4-FFF2-40B4-BE49-F238E27FC236}">
                <a16:creationId xmlns:a16="http://schemas.microsoft.com/office/drawing/2014/main" id="{DC2A72D1-F0C5-578D-8F37-A784E7743A6D}"/>
              </a:ext>
            </a:extLst>
          </p:cNvPr>
          <p:cNvSpPr>
            <a:spLocks noGrp="1"/>
          </p:cNvSpPr>
          <p:nvPr>
            <p:ph type="title"/>
          </p:nvPr>
        </p:nvSpPr>
        <p:spPr>
          <a:xfrm>
            <a:off x="913882" y="181583"/>
            <a:ext cx="10353675" cy="969963"/>
          </a:xfrm>
        </p:spPr>
        <p:txBody>
          <a:bodyPr/>
          <a:lstStyle/>
          <a:p>
            <a:r>
              <a:rPr lang="sr-Latn-RS" dirty="0"/>
              <a:t>Rasudjivanje po sličnosti</a:t>
            </a:r>
            <a:endParaRPr lang="en-US" dirty="0"/>
          </a:p>
        </p:txBody>
      </p:sp>
      <p:pic>
        <p:nvPicPr>
          <p:cNvPr id="6" name="Picture 5">
            <a:extLst>
              <a:ext uri="{FF2B5EF4-FFF2-40B4-BE49-F238E27FC236}">
                <a16:creationId xmlns:a16="http://schemas.microsoft.com/office/drawing/2014/main" id="{BE8236EA-96E6-6983-5C2F-3500FB835C53}"/>
              </a:ext>
            </a:extLst>
          </p:cNvPr>
          <p:cNvPicPr>
            <a:picLocks noChangeAspect="1"/>
          </p:cNvPicPr>
          <p:nvPr/>
        </p:nvPicPr>
        <p:blipFill>
          <a:blip r:embed="rId2"/>
          <a:stretch>
            <a:fillRect/>
          </a:stretch>
        </p:blipFill>
        <p:spPr>
          <a:xfrm>
            <a:off x="3713960" y="1066800"/>
            <a:ext cx="8402223" cy="5496692"/>
          </a:xfrm>
          <a:prstGeom prst="rect">
            <a:avLst/>
          </a:prstGeom>
        </p:spPr>
      </p:pic>
    </p:spTree>
    <p:extLst>
      <p:ext uri="{BB962C8B-B14F-4D97-AF65-F5344CB8AC3E}">
        <p14:creationId xmlns:p14="http://schemas.microsoft.com/office/powerpoint/2010/main" val="27239775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33851-D4FC-F99F-1705-EC618928BD1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94C58F3-1D62-CE35-A9F9-BBA33A5510E7}"/>
              </a:ext>
            </a:extLst>
          </p:cNvPr>
          <p:cNvSpPr>
            <a:spLocks noGrp="1"/>
          </p:cNvSpPr>
          <p:nvPr>
            <p:ph idx="1"/>
          </p:nvPr>
        </p:nvSpPr>
        <p:spPr>
          <a:xfrm>
            <a:off x="84307" y="2537132"/>
            <a:ext cx="3339830" cy="2187714"/>
          </a:xfrm>
        </p:spPr>
        <p:txBody>
          <a:bodyPr/>
          <a:lstStyle/>
          <a:p>
            <a:r>
              <a:rPr lang="sr-Latn-RS" dirty="0"/>
              <a:t>Sličnost oslobodjenog i osudjenog je jako mala, dok je oslobodjen i uslovni sličniji</a:t>
            </a:r>
            <a:endParaRPr lang="en-US" dirty="0"/>
          </a:p>
        </p:txBody>
      </p:sp>
      <p:pic>
        <p:nvPicPr>
          <p:cNvPr id="10" name="Picture 9">
            <a:extLst>
              <a:ext uri="{FF2B5EF4-FFF2-40B4-BE49-F238E27FC236}">
                <a16:creationId xmlns:a16="http://schemas.microsoft.com/office/drawing/2014/main" id="{86CA5363-83F1-0475-6148-35EA94E379C9}"/>
              </a:ext>
            </a:extLst>
          </p:cNvPr>
          <p:cNvPicPr>
            <a:picLocks noChangeAspect="1"/>
          </p:cNvPicPr>
          <p:nvPr/>
        </p:nvPicPr>
        <p:blipFill>
          <a:blip r:embed="rId2"/>
          <a:stretch>
            <a:fillRect/>
          </a:stretch>
        </p:blipFill>
        <p:spPr>
          <a:xfrm>
            <a:off x="3580197" y="2537132"/>
            <a:ext cx="8611802" cy="1171739"/>
          </a:xfrm>
          <a:prstGeom prst="rect">
            <a:avLst/>
          </a:prstGeom>
        </p:spPr>
      </p:pic>
      <p:pic>
        <p:nvPicPr>
          <p:cNvPr id="12" name="Picture 11">
            <a:extLst>
              <a:ext uri="{FF2B5EF4-FFF2-40B4-BE49-F238E27FC236}">
                <a16:creationId xmlns:a16="http://schemas.microsoft.com/office/drawing/2014/main" id="{B5E00E13-E2E4-CFDE-92EF-8599F7A2F598}"/>
              </a:ext>
            </a:extLst>
          </p:cNvPr>
          <p:cNvPicPr>
            <a:picLocks noChangeAspect="1"/>
          </p:cNvPicPr>
          <p:nvPr/>
        </p:nvPicPr>
        <p:blipFill>
          <a:blip r:embed="rId3"/>
          <a:stretch>
            <a:fillRect/>
          </a:stretch>
        </p:blipFill>
        <p:spPr>
          <a:xfrm>
            <a:off x="2789512" y="0"/>
            <a:ext cx="9402487" cy="1657581"/>
          </a:xfrm>
          <a:prstGeom prst="rect">
            <a:avLst/>
          </a:prstGeom>
        </p:spPr>
      </p:pic>
      <p:sp>
        <p:nvSpPr>
          <p:cNvPr id="13" name="Content Placeholder 2">
            <a:extLst>
              <a:ext uri="{FF2B5EF4-FFF2-40B4-BE49-F238E27FC236}">
                <a16:creationId xmlns:a16="http://schemas.microsoft.com/office/drawing/2014/main" id="{9C0BD280-0E3C-C942-69D8-1064D842C05B}"/>
              </a:ext>
            </a:extLst>
          </p:cNvPr>
          <p:cNvSpPr txBox="1">
            <a:spLocks/>
          </p:cNvSpPr>
          <p:nvPr/>
        </p:nvSpPr>
        <p:spPr>
          <a:xfrm>
            <a:off x="-71336" y="0"/>
            <a:ext cx="2703776" cy="2276272"/>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sr-Latn-RS" dirty="0"/>
              <a:t>Da i ne su sušta suprotnost, potpuno se razlikuju, znači sličnost 0, kada nešto nismo sigurni tj. Nepoznato je onda je 0.3</a:t>
            </a:r>
            <a:endParaRPr lang="en-US" dirty="0"/>
          </a:p>
        </p:txBody>
      </p:sp>
      <p:pic>
        <p:nvPicPr>
          <p:cNvPr id="15" name="Picture 14">
            <a:extLst>
              <a:ext uri="{FF2B5EF4-FFF2-40B4-BE49-F238E27FC236}">
                <a16:creationId xmlns:a16="http://schemas.microsoft.com/office/drawing/2014/main" id="{4376FB8F-73D1-6579-61BB-0C006EC93E7A}"/>
              </a:ext>
            </a:extLst>
          </p:cNvPr>
          <p:cNvPicPr>
            <a:picLocks noChangeAspect="1"/>
          </p:cNvPicPr>
          <p:nvPr/>
        </p:nvPicPr>
        <p:blipFill>
          <a:blip r:embed="rId4"/>
          <a:stretch>
            <a:fillRect/>
          </a:stretch>
        </p:blipFill>
        <p:spPr>
          <a:xfrm>
            <a:off x="3424137" y="4588422"/>
            <a:ext cx="8526065" cy="704948"/>
          </a:xfrm>
          <a:prstGeom prst="rect">
            <a:avLst/>
          </a:prstGeom>
        </p:spPr>
      </p:pic>
      <p:sp>
        <p:nvSpPr>
          <p:cNvPr id="16" name="Content Placeholder 2">
            <a:extLst>
              <a:ext uri="{FF2B5EF4-FFF2-40B4-BE49-F238E27FC236}">
                <a16:creationId xmlns:a16="http://schemas.microsoft.com/office/drawing/2014/main" id="{F3715A1B-ECEB-043F-578D-34B833969AB5}"/>
              </a:ext>
            </a:extLst>
          </p:cNvPr>
          <p:cNvSpPr txBox="1">
            <a:spLocks/>
          </p:cNvSpPr>
          <p:nvPr/>
        </p:nvSpPr>
        <p:spPr>
          <a:xfrm>
            <a:off x="0" y="4304323"/>
            <a:ext cx="3339830" cy="2187714"/>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sr-Latn-RS" dirty="0"/>
              <a:t>Penzioner da bude zaposlen je retko, student da bude nezaposlen je često, a student da bude penzioner se veoma retko dešava</a:t>
            </a:r>
            <a:endParaRPr lang="en-US" dirty="0"/>
          </a:p>
        </p:txBody>
      </p:sp>
    </p:spTree>
    <p:extLst>
      <p:ext uri="{BB962C8B-B14F-4D97-AF65-F5344CB8AC3E}">
        <p14:creationId xmlns:p14="http://schemas.microsoft.com/office/powerpoint/2010/main" val="8676048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CC00270-CD4F-A33B-E844-9B9E11B8F92C}"/>
              </a:ext>
            </a:extLst>
          </p:cNvPr>
          <p:cNvPicPr>
            <a:picLocks noChangeAspect="1"/>
          </p:cNvPicPr>
          <p:nvPr/>
        </p:nvPicPr>
        <p:blipFill>
          <a:blip r:embed="rId2"/>
          <a:stretch>
            <a:fillRect/>
          </a:stretch>
        </p:blipFill>
        <p:spPr>
          <a:xfrm>
            <a:off x="3462659" y="786138"/>
            <a:ext cx="8621328" cy="1162212"/>
          </a:xfrm>
          <a:prstGeom prst="rect">
            <a:avLst/>
          </a:prstGeom>
        </p:spPr>
      </p:pic>
      <p:pic>
        <p:nvPicPr>
          <p:cNvPr id="7" name="Picture 6">
            <a:extLst>
              <a:ext uri="{FF2B5EF4-FFF2-40B4-BE49-F238E27FC236}">
                <a16:creationId xmlns:a16="http://schemas.microsoft.com/office/drawing/2014/main" id="{36A3A387-4FC0-5037-3BBB-1F313E3C36F4}"/>
              </a:ext>
            </a:extLst>
          </p:cNvPr>
          <p:cNvPicPr>
            <a:picLocks noChangeAspect="1"/>
          </p:cNvPicPr>
          <p:nvPr/>
        </p:nvPicPr>
        <p:blipFill>
          <a:blip r:embed="rId3"/>
          <a:stretch>
            <a:fillRect/>
          </a:stretch>
        </p:blipFill>
        <p:spPr>
          <a:xfrm>
            <a:off x="3367396" y="81190"/>
            <a:ext cx="8716591" cy="704948"/>
          </a:xfrm>
          <a:prstGeom prst="rect">
            <a:avLst/>
          </a:prstGeom>
        </p:spPr>
      </p:pic>
      <p:sp>
        <p:nvSpPr>
          <p:cNvPr id="8" name="Content Placeholder 2">
            <a:extLst>
              <a:ext uri="{FF2B5EF4-FFF2-40B4-BE49-F238E27FC236}">
                <a16:creationId xmlns:a16="http://schemas.microsoft.com/office/drawing/2014/main" id="{6B21ADC5-3386-FC08-9318-DC632B3702FA}"/>
              </a:ext>
            </a:extLst>
          </p:cNvPr>
          <p:cNvSpPr>
            <a:spLocks noGrp="1"/>
          </p:cNvSpPr>
          <p:nvPr>
            <p:ph idx="1"/>
          </p:nvPr>
        </p:nvSpPr>
        <p:spPr>
          <a:xfrm>
            <a:off x="-132943" y="273996"/>
            <a:ext cx="3339830" cy="1690885"/>
          </a:xfrm>
        </p:spPr>
        <p:txBody>
          <a:bodyPr/>
          <a:lstStyle/>
          <a:p>
            <a:r>
              <a:rPr lang="sr-Latn-RS" dirty="0"/>
              <a:t>Sličnost medjusobnih članova jednih sa drugima</a:t>
            </a:r>
            <a:endParaRPr lang="en-US" dirty="0"/>
          </a:p>
        </p:txBody>
      </p:sp>
      <p:pic>
        <p:nvPicPr>
          <p:cNvPr id="10" name="Picture 9">
            <a:extLst>
              <a:ext uri="{FF2B5EF4-FFF2-40B4-BE49-F238E27FC236}">
                <a16:creationId xmlns:a16="http://schemas.microsoft.com/office/drawing/2014/main" id="{F40CD074-CF3E-D5D9-5E02-EDE8B73A60EB}"/>
              </a:ext>
            </a:extLst>
          </p:cNvPr>
          <p:cNvPicPr>
            <a:picLocks noChangeAspect="1"/>
          </p:cNvPicPr>
          <p:nvPr/>
        </p:nvPicPr>
        <p:blipFill>
          <a:blip r:embed="rId4"/>
          <a:stretch>
            <a:fillRect/>
          </a:stretch>
        </p:blipFill>
        <p:spPr>
          <a:xfrm>
            <a:off x="2756169" y="2205362"/>
            <a:ext cx="9469171" cy="504895"/>
          </a:xfrm>
          <a:prstGeom prst="rect">
            <a:avLst/>
          </a:prstGeom>
        </p:spPr>
      </p:pic>
      <p:sp>
        <p:nvSpPr>
          <p:cNvPr id="11" name="Content Placeholder 2">
            <a:extLst>
              <a:ext uri="{FF2B5EF4-FFF2-40B4-BE49-F238E27FC236}">
                <a16:creationId xmlns:a16="http://schemas.microsoft.com/office/drawing/2014/main" id="{0966A0BD-2FE9-E842-9535-E463C62EFDE1}"/>
              </a:ext>
            </a:extLst>
          </p:cNvPr>
          <p:cNvSpPr txBox="1">
            <a:spLocks/>
          </p:cNvSpPr>
          <p:nvPr/>
        </p:nvSpPr>
        <p:spPr>
          <a:xfrm>
            <a:off x="-132943" y="1738115"/>
            <a:ext cx="2889112" cy="1690885"/>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sr-Latn-RS" dirty="0"/>
              <a:t>Ako imamo više transakcija (30+) to je nije dobro</a:t>
            </a:r>
            <a:endParaRPr lang="en-US" dirty="0"/>
          </a:p>
        </p:txBody>
      </p:sp>
      <p:sp>
        <p:nvSpPr>
          <p:cNvPr id="12" name="Content Placeholder 2">
            <a:extLst>
              <a:ext uri="{FF2B5EF4-FFF2-40B4-BE49-F238E27FC236}">
                <a16:creationId xmlns:a16="http://schemas.microsoft.com/office/drawing/2014/main" id="{FB8BCD95-32A7-9719-0C38-3995CC423F0B}"/>
              </a:ext>
            </a:extLst>
          </p:cNvPr>
          <p:cNvSpPr txBox="1">
            <a:spLocks/>
          </p:cNvSpPr>
          <p:nvPr/>
        </p:nvSpPr>
        <p:spPr>
          <a:xfrm>
            <a:off x="-132943" y="2995378"/>
            <a:ext cx="2889112" cy="1690885"/>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endParaRPr lang="en-US" dirty="0"/>
          </a:p>
        </p:txBody>
      </p:sp>
      <p:sp>
        <p:nvSpPr>
          <p:cNvPr id="13" name="Content Placeholder 2">
            <a:extLst>
              <a:ext uri="{FF2B5EF4-FFF2-40B4-BE49-F238E27FC236}">
                <a16:creationId xmlns:a16="http://schemas.microsoft.com/office/drawing/2014/main" id="{C796EF1D-7FEF-60D5-85D6-A12F5825D10A}"/>
              </a:ext>
            </a:extLst>
          </p:cNvPr>
          <p:cNvSpPr txBox="1">
            <a:spLocks/>
          </p:cNvSpPr>
          <p:nvPr/>
        </p:nvSpPr>
        <p:spPr>
          <a:xfrm>
            <a:off x="-132943" y="2945907"/>
            <a:ext cx="2889112" cy="1690885"/>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sr-Latn-RS" dirty="0"/>
              <a:t>Organizovano izvršavanje od više lica je isto otežavajuća okolnost</a:t>
            </a:r>
            <a:endParaRPr lang="en-US" dirty="0"/>
          </a:p>
        </p:txBody>
      </p:sp>
      <p:pic>
        <p:nvPicPr>
          <p:cNvPr id="15" name="Picture 14">
            <a:extLst>
              <a:ext uri="{FF2B5EF4-FFF2-40B4-BE49-F238E27FC236}">
                <a16:creationId xmlns:a16="http://schemas.microsoft.com/office/drawing/2014/main" id="{0DD34D3D-DEC8-70D1-EEF0-A4EA8B7641A7}"/>
              </a:ext>
            </a:extLst>
          </p:cNvPr>
          <p:cNvPicPr>
            <a:picLocks noChangeAspect="1"/>
          </p:cNvPicPr>
          <p:nvPr/>
        </p:nvPicPr>
        <p:blipFill>
          <a:blip r:embed="rId5"/>
          <a:stretch>
            <a:fillRect/>
          </a:stretch>
        </p:blipFill>
        <p:spPr>
          <a:xfrm>
            <a:off x="2643395" y="3255985"/>
            <a:ext cx="9440592" cy="485843"/>
          </a:xfrm>
          <a:prstGeom prst="rect">
            <a:avLst/>
          </a:prstGeom>
        </p:spPr>
      </p:pic>
      <p:pic>
        <p:nvPicPr>
          <p:cNvPr id="17" name="Picture 16">
            <a:extLst>
              <a:ext uri="{FF2B5EF4-FFF2-40B4-BE49-F238E27FC236}">
                <a16:creationId xmlns:a16="http://schemas.microsoft.com/office/drawing/2014/main" id="{052C519C-CEC0-30EB-8544-224554D965F3}"/>
              </a:ext>
            </a:extLst>
          </p:cNvPr>
          <p:cNvPicPr>
            <a:picLocks noChangeAspect="1"/>
          </p:cNvPicPr>
          <p:nvPr/>
        </p:nvPicPr>
        <p:blipFill>
          <a:blip r:embed="rId6"/>
          <a:stretch>
            <a:fillRect/>
          </a:stretch>
        </p:blipFill>
        <p:spPr>
          <a:xfrm>
            <a:off x="2623022" y="4946870"/>
            <a:ext cx="9516803" cy="514422"/>
          </a:xfrm>
          <a:prstGeom prst="rect">
            <a:avLst/>
          </a:prstGeom>
        </p:spPr>
      </p:pic>
      <p:sp>
        <p:nvSpPr>
          <p:cNvPr id="18" name="Content Placeholder 2">
            <a:extLst>
              <a:ext uri="{FF2B5EF4-FFF2-40B4-BE49-F238E27FC236}">
                <a16:creationId xmlns:a16="http://schemas.microsoft.com/office/drawing/2014/main" id="{05CE1137-1597-7A7D-AC5B-48A7100A5C22}"/>
              </a:ext>
            </a:extLst>
          </p:cNvPr>
          <p:cNvSpPr txBox="1">
            <a:spLocks/>
          </p:cNvSpPr>
          <p:nvPr/>
        </p:nvSpPr>
        <p:spPr>
          <a:xfrm>
            <a:off x="-132943" y="4893119"/>
            <a:ext cx="2889112" cy="1690885"/>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sr-Latn-RS" dirty="0"/>
              <a:t>Što više svedoka to gore</a:t>
            </a:r>
            <a:endParaRPr lang="en-US" dirty="0"/>
          </a:p>
        </p:txBody>
      </p:sp>
    </p:spTree>
    <p:extLst>
      <p:ext uri="{BB962C8B-B14F-4D97-AF65-F5344CB8AC3E}">
        <p14:creationId xmlns:p14="http://schemas.microsoft.com/office/powerpoint/2010/main" val="13635850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62373F-56BD-4854-2EB6-04F361FC2F4E}"/>
            </a:ext>
          </a:extLst>
        </p:cNvPr>
        <p:cNvGrpSpPr/>
        <p:nvPr/>
      </p:nvGrpSpPr>
      <p:grpSpPr>
        <a:xfrm>
          <a:off x="0" y="0"/>
          <a:ext cx="0" cy="0"/>
          <a:chOff x="0" y="0"/>
          <a:chExt cx="0" cy="0"/>
        </a:xfrm>
      </p:grpSpPr>
      <p:sp>
        <p:nvSpPr>
          <p:cNvPr id="8" name="Content Placeholder 2">
            <a:extLst>
              <a:ext uri="{FF2B5EF4-FFF2-40B4-BE49-F238E27FC236}">
                <a16:creationId xmlns:a16="http://schemas.microsoft.com/office/drawing/2014/main" id="{2C391596-711B-4028-012D-2B64347FD0EB}"/>
              </a:ext>
            </a:extLst>
          </p:cNvPr>
          <p:cNvSpPr>
            <a:spLocks noGrp="1"/>
          </p:cNvSpPr>
          <p:nvPr>
            <p:ph idx="1"/>
          </p:nvPr>
        </p:nvSpPr>
        <p:spPr>
          <a:xfrm>
            <a:off x="-257354" y="876088"/>
            <a:ext cx="3339830" cy="1690885"/>
          </a:xfrm>
        </p:spPr>
        <p:txBody>
          <a:bodyPr/>
          <a:lstStyle/>
          <a:p>
            <a:r>
              <a:rPr lang="sr-Latn-RS" dirty="0"/>
              <a:t>Količina dokaznog materijala utiče na ishod, što više dokaza to gore</a:t>
            </a:r>
            <a:endParaRPr lang="en-US" dirty="0"/>
          </a:p>
        </p:txBody>
      </p:sp>
      <p:sp>
        <p:nvSpPr>
          <p:cNvPr id="11" name="Content Placeholder 2">
            <a:extLst>
              <a:ext uri="{FF2B5EF4-FFF2-40B4-BE49-F238E27FC236}">
                <a16:creationId xmlns:a16="http://schemas.microsoft.com/office/drawing/2014/main" id="{F3588B39-B086-BF99-BAA8-BEBE233CE316}"/>
              </a:ext>
            </a:extLst>
          </p:cNvPr>
          <p:cNvSpPr txBox="1">
            <a:spLocks/>
          </p:cNvSpPr>
          <p:nvPr/>
        </p:nvSpPr>
        <p:spPr>
          <a:xfrm>
            <a:off x="-257354" y="2629417"/>
            <a:ext cx="2889112" cy="1690885"/>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sr-Latn-RS" dirty="0"/>
              <a:t>Ako neko prizna krvicu to je olakšavajuća okolnost</a:t>
            </a:r>
            <a:endParaRPr lang="en-US" dirty="0"/>
          </a:p>
        </p:txBody>
      </p:sp>
      <p:sp>
        <p:nvSpPr>
          <p:cNvPr id="12" name="Content Placeholder 2">
            <a:extLst>
              <a:ext uri="{FF2B5EF4-FFF2-40B4-BE49-F238E27FC236}">
                <a16:creationId xmlns:a16="http://schemas.microsoft.com/office/drawing/2014/main" id="{7740206F-A55E-5A8C-66DC-FADBB0885002}"/>
              </a:ext>
            </a:extLst>
          </p:cNvPr>
          <p:cNvSpPr txBox="1">
            <a:spLocks/>
          </p:cNvSpPr>
          <p:nvPr/>
        </p:nvSpPr>
        <p:spPr>
          <a:xfrm>
            <a:off x="-132943" y="2995378"/>
            <a:ext cx="2889112" cy="1690885"/>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endParaRPr lang="en-US" dirty="0"/>
          </a:p>
        </p:txBody>
      </p:sp>
      <p:sp>
        <p:nvSpPr>
          <p:cNvPr id="13" name="Content Placeholder 2">
            <a:extLst>
              <a:ext uri="{FF2B5EF4-FFF2-40B4-BE49-F238E27FC236}">
                <a16:creationId xmlns:a16="http://schemas.microsoft.com/office/drawing/2014/main" id="{AC78CA6B-97CF-7293-28D0-3F976882D74A}"/>
              </a:ext>
            </a:extLst>
          </p:cNvPr>
          <p:cNvSpPr txBox="1">
            <a:spLocks/>
          </p:cNvSpPr>
          <p:nvPr/>
        </p:nvSpPr>
        <p:spPr>
          <a:xfrm>
            <a:off x="-191307" y="4445189"/>
            <a:ext cx="2889112" cy="1690885"/>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sr-Latn-RS" dirty="0"/>
              <a:t>Pokušaj krivičnog dela se blaže kažnjava nego uspešno krivićno delo</a:t>
            </a:r>
            <a:endParaRPr lang="en-US" dirty="0"/>
          </a:p>
        </p:txBody>
      </p:sp>
      <p:pic>
        <p:nvPicPr>
          <p:cNvPr id="3" name="Picture 2">
            <a:extLst>
              <a:ext uri="{FF2B5EF4-FFF2-40B4-BE49-F238E27FC236}">
                <a16:creationId xmlns:a16="http://schemas.microsoft.com/office/drawing/2014/main" id="{081978E3-DFD6-978E-C1D0-A35E8E67D8D2}"/>
              </a:ext>
            </a:extLst>
          </p:cNvPr>
          <p:cNvPicPr>
            <a:picLocks noChangeAspect="1"/>
          </p:cNvPicPr>
          <p:nvPr/>
        </p:nvPicPr>
        <p:blipFill>
          <a:blip r:embed="rId2"/>
          <a:stretch>
            <a:fillRect/>
          </a:stretch>
        </p:blipFill>
        <p:spPr>
          <a:xfrm>
            <a:off x="3101075" y="1213019"/>
            <a:ext cx="9011908" cy="514422"/>
          </a:xfrm>
          <a:prstGeom prst="rect">
            <a:avLst/>
          </a:prstGeom>
        </p:spPr>
      </p:pic>
      <p:pic>
        <p:nvPicPr>
          <p:cNvPr id="6" name="Picture 5">
            <a:extLst>
              <a:ext uri="{FF2B5EF4-FFF2-40B4-BE49-F238E27FC236}">
                <a16:creationId xmlns:a16="http://schemas.microsoft.com/office/drawing/2014/main" id="{8C8AECEE-A492-2DDD-C5E7-98249ADA68AF}"/>
              </a:ext>
            </a:extLst>
          </p:cNvPr>
          <p:cNvPicPr>
            <a:picLocks noChangeAspect="1"/>
          </p:cNvPicPr>
          <p:nvPr/>
        </p:nvPicPr>
        <p:blipFill>
          <a:blip r:embed="rId3"/>
          <a:stretch>
            <a:fillRect/>
          </a:stretch>
        </p:blipFill>
        <p:spPr>
          <a:xfrm>
            <a:off x="2332249" y="2932934"/>
            <a:ext cx="9859751" cy="285790"/>
          </a:xfrm>
          <a:prstGeom prst="rect">
            <a:avLst/>
          </a:prstGeom>
        </p:spPr>
      </p:pic>
      <p:pic>
        <p:nvPicPr>
          <p:cNvPr id="14" name="Picture 13">
            <a:extLst>
              <a:ext uri="{FF2B5EF4-FFF2-40B4-BE49-F238E27FC236}">
                <a16:creationId xmlns:a16="http://schemas.microsoft.com/office/drawing/2014/main" id="{D3570424-1819-C94D-A9EB-A9DF04AD0D43}"/>
              </a:ext>
            </a:extLst>
          </p:cNvPr>
          <p:cNvPicPr>
            <a:picLocks noChangeAspect="1"/>
          </p:cNvPicPr>
          <p:nvPr/>
        </p:nvPicPr>
        <p:blipFill>
          <a:blip r:embed="rId4"/>
          <a:stretch>
            <a:fillRect/>
          </a:stretch>
        </p:blipFill>
        <p:spPr>
          <a:xfrm>
            <a:off x="2272285" y="5240245"/>
            <a:ext cx="9840698" cy="257211"/>
          </a:xfrm>
          <a:prstGeom prst="rect">
            <a:avLst/>
          </a:prstGeom>
        </p:spPr>
      </p:pic>
    </p:spTree>
    <p:extLst>
      <p:ext uri="{BB962C8B-B14F-4D97-AF65-F5344CB8AC3E}">
        <p14:creationId xmlns:p14="http://schemas.microsoft.com/office/powerpoint/2010/main" val="14982921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8BF47-9FB7-8157-3269-97A3287C0E01}"/>
              </a:ext>
            </a:extLst>
          </p:cNvPr>
          <p:cNvSpPr>
            <a:spLocks noGrp="1"/>
          </p:cNvSpPr>
          <p:nvPr>
            <p:ph type="title"/>
          </p:nvPr>
        </p:nvSpPr>
        <p:spPr>
          <a:xfrm>
            <a:off x="919119" y="249676"/>
            <a:ext cx="10353762" cy="970450"/>
          </a:xfrm>
        </p:spPr>
        <p:txBody>
          <a:bodyPr/>
          <a:lstStyle/>
          <a:p>
            <a:r>
              <a:rPr lang="sr-Latn-RS" dirty="0"/>
              <a:t>Rasudjivanje po sličnosti</a:t>
            </a:r>
            <a:endParaRPr lang="en-US" dirty="0"/>
          </a:p>
        </p:txBody>
      </p:sp>
      <p:pic>
        <p:nvPicPr>
          <p:cNvPr id="15" name="Picture 14">
            <a:extLst>
              <a:ext uri="{FF2B5EF4-FFF2-40B4-BE49-F238E27FC236}">
                <a16:creationId xmlns:a16="http://schemas.microsoft.com/office/drawing/2014/main" id="{316ADC50-396E-ED3D-C497-956C1513343B}"/>
              </a:ext>
            </a:extLst>
          </p:cNvPr>
          <p:cNvPicPr>
            <a:picLocks noChangeAspect="1"/>
          </p:cNvPicPr>
          <p:nvPr/>
        </p:nvPicPr>
        <p:blipFill>
          <a:blip r:embed="rId2"/>
          <a:stretch>
            <a:fillRect/>
          </a:stretch>
        </p:blipFill>
        <p:spPr>
          <a:xfrm>
            <a:off x="0" y="1282284"/>
            <a:ext cx="12192000" cy="5575716"/>
          </a:xfrm>
          <a:prstGeom prst="rect">
            <a:avLst/>
          </a:prstGeom>
        </p:spPr>
      </p:pic>
      <p:pic>
        <p:nvPicPr>
          <p:cNvPr id="17" name="Picture 16">
            <a:extLst>
              <a:ext uri="{FF2B5EF4-FFF2-40B4-BE49-F238E27FC236}">
                <a16:creationId xmlns:a16="http://schemas.microsoft.com/office/drawing/2014/main" id="{88E8A4BA-DCE2-F246-59A2-E655267B3663}"/>
              </a:ext>
            </a:extLst>
          </p:cNvPr>
          <p:cNvPicPr>
            <a:picLocks noChangeAspect="1"/>
          </p:cNvPicPr>
          <p:nvPr/>
        </p:nvPicPr>
        <p:blipFill>
          <a:blip r:embed="rId3"/>
          <a:stretch>
            <a:fillRect/>
          </a:stretch>
        </p:blipFill>
        <p:spPr>
          <a:xfrm>
            <a:off x="0" y="472546"/>
            <a:ext cx="3048425" cy="809738"/>
          </a:xfrm>
          <a:prstGeom prst="rect">
            <a:avLst/>
          </a:prstGeom>
        </p:spPr>
      </p:pic>
    </p:spTree>
    <p:extLst>
      <p:ext uri="{BB962C8B-B14F-4D97-AF65-F5344CB8AC3E}">
        <p14:creationId xmlns:p14="http://schemas.microsoft.com/office/powerpoint/2010/main" val="31154402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C8A685-9B9A-99B0-0874-BA068AD53407}"/>
              </a:ext>
            </a:extLst>
          </p:cNvPr>
          <p:cNvSpPr>
            <a:spLocks noGrp="1"/>
          </p:cNvSpPr>
          <p:nvPr>
            <p:ph idx="1"/>
          </p:nvPr>
        </p:nvSpPr>
        <p:spPr>
          <a:xfrm>
            <a:off x="0" y="283029"/>
            <a:ext cx="10353762" cy="4058751"/>
          </a:xfrm>
        </p:spPr>
        <p:txBody>
          <a:bodyPr/>
          <a:lstStyle/>
          <a:p>
            <a:r>
              <a:rPr lang="sr-Latn-RS" dirty="0"/>
              <a:t>Top 3 slučaja su preko 94%, parametri koji se gledaju nisu svi istih težina, u nastavku prikaz koeficijenata vrednosti</a:t>
            </a:r>
            <a:endParaRPr lang="en-US" dirty="0"/>
          </a:p>
        </p:txBody>
      </p:sp>
      <p:pic>
        <p:nvPicPr>
          <p:cNvPr id="7" name="Picture 6">
            <a:extLst>
              <a:ext uri="{FF2B5EF4-FFF2-40B4-BE49-F238E27FC236}">
                <a16:creationId xmlns:a16="http://schemas.microsoft.com/office/drawing/2014/main" id="{9E481A19-07D5-A71B-C9F7-20B90ED27137}"/>
              </a:ext>
            </a:extLst>
          </p:cNvPr>
          <p:cNvPicPr>
            <a:picLocks noChangeAspect="1"/>
          </p:cNvPicPr>
          <p:nvPr/>
        </p:nvPicPr>
        <p:blipFill>
          <a:blip r:embed="rId2"/>
          <a:stretch>
            <a:fillRect/>
          </a:stretch>
        </p:blipFill>
        <p:spPr>
          <a:xfrm>
            <a:off x="0" y="1171090"/>
            <a:ext cx="12192000" cy="5488585"/>
          </a:xfrm>
          <a:prstGeom prst="rect">
            <a:avLst/>
          </a:prstGeom>
        </p:spPr>
      </p:pic>
    </p:spTree>
    <p:extLst>
      <p:ext uri="{BB962C8B-B14F-4D97-AF65-F5344CB8AC3E}">
        <p14:creationId xmlns:p14="http://schemas.microsoft.com/office/powerpoint/2010/main" val="1523718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2464D4-99CD-4747-73DC-4A8E5F7910B7}"/>
              </a:ext>
            </a:extLst>
          </p:cNvPr>
          <p:cNvSpPr>
            <a:spLocks noGrp="1"/>
          </p:cNvSpPr>
          <p:nvPr>
            <p:ph idx="1"/>
          </p:nvPr>
        </p:nvSpPr>
        <p:spPr>
          <a:xfrm>
            <a:off x="107004" y="469475"/>
            <a:ext cx="10353762" cy="4058751"/>
          </a:xfrm>
        </p:spPr>
        <p:txBody>
          <a:bodyPr/>
          <a:lstStyle/>
          <a:p>
            <a:r>
              <a:rPr lang="sr-Latn-RS" dirty="0"/>
              <a:t>Naša je odluka bila da  ubedljivo najveći doprinos dodamo ukupnom iznosu, ima smisla da neka sitna prevara od par desetina eura bi trebalo da se mnogo drugačije gleda nego neka velika kradja od nekoliko desetina hiljada eura, to deluje kao mnogo značajniji faktor nego zaposlenost ili bračni status ili obrazovanje, što i jeste, koeficijent je 10 puta veći s razlogom</a:t>
            </a:r>
            <a:endParaRPr lang="en-US" dirty="0"/>
          </a:p>
        </p:txBody>
      </p:sp>
      <p:pic>
        <p:nvPicPr>
          <p:cNvPr id="5" name="Picture 4">
            <a:extLst>
              <a:ext uri="{FF2B5EF4-FFF2-40B4-BE49-F238E27FC236}">
                <a16:creationId xmlns:a16="http://schemas.microsoft.com/office/drawing/2014/main" id="{B426BEFF-A34B-3B75-C487-4090E8A2A32B}"/>
              </a:ext>
            </a:extLst>
          </p:cNvPr>
          <p:cNvPicPr>
            <a:picLocks noChangeAspect="1"/>
          </p:cNvPicPr>
          <p:nvPr/>
        </p:nvPicPr>
        <p:blipFill>
          <a:blip r:embed="rId2"/>
          <a:stretch>
            <a:fillRect/>
          </a:stretch>
        </p:blipFill>
        <p:spPr>
          <a:xfrm>
            <a:off x="0" y="2257137"/>
            <a:ext cx="12192000" cy="3977974"/>
          </a:xfrm>
          <a:prstGeom prst="rect">
            <a:avLst/>
          </a:prstGeom>
        </p:spPr>
      </p:pic>
    </p:spTree>
    <p:extLst>
      <p:ext uri="{BB962C8B-B14F-4D97-AF65-F5344CB8AC3E}">
        <p14:creationId xmlns:p14="http://schemas.microsoft.com/office/powerpoint/2010/main" val="10091546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9763232-97BC-0AED-3391-9BAD7DCEBEAE}"/>
              </a:ext>
            </a:extLst>
          </p:cNvPr>
          <p:cNvPicPr>
            <a:picLocks noChangeAspect="1"/>
          </p:cNvPicPr>
          <p:nvPr/>
        </p:nvPicPr>
        <p:blipFill>
          <a:blip r:embed="rId2"/>
          <a:stretch>
            <a:fillRect/>
          </a:stretch>
        </p:blipFill>
        <p:spPr>
          <a:xfrm>
            <a:off x="0" y="-542122"/>
            <a:ext cx="12192000" cy="2154547"/>
          </a:xfrm>
          <a:prstGeom prst="rect">
            <a:avLst/>
          </a:prstGeom>
        </p:spPr>
      </p:pic>
      <p:pic>
        <p:nvPicPr>
          <p:cNvPr id="7" name="Picture 6">
            <a:extLst>
              <a:ext uri="{FF2B5EF4-FFF2-40B4-BE49-F238E27FC236}">
                <a16:creationId xmlns:a16="http://schemas.microsoft.com/office/drawing/2014/main" id="{4BDA183A-68A5-F53A-DAE1-BD1841650B2F}"/>
              </a:ext>
            </a:extLst>
          </p:cNvPr>
          <p:cNvPicPr>
            <a:picLocks noChangeAspect="1"/>
          </p:cNvPicPr>
          <p:nvPr/>
        </p:nvPicPr>
        <p:blipFill>
          <a:blip r:embed="rId3"/>
          <a:stretch>
            <a:fillRect/>
          </a:stretch>
        </p:blipFill>
        <p:spPr>
          <a:xfrm>
            <a:off x="0" y="1414911"/>
            <a:ext cx="12192000" cy="2049220"/>
          </a:xfrm>
          <a:prstGeom prst="rect">
            <a:avLst/>
          </a:prstGeom>
        </p:spPr>
      </p:pic>
      <p:pic>
        <p:nvPicPr>
          <p:cNvPr id="11" name="Picture 10">
            <a:extLst>
              <a:ext uri="{FF2B5EF4-FFF2-40B4-BE49-F238E27FC236}">
                <a16:creationId xmlns:a16="http://schemas.microsoft.com/office/drawing/2014/main" id="{FB68FFE5-FDDC-C81E-408E-820ABAF0107B}"/>
              </a:ext>
            </a:extLst>
          </p:cNvPr>
          <p:cNvPicPr>
            <a:picLocks noChangeAspect="1"/>
          </p:cNvPicPr>
          <p:nvPr/>
        </p:nvPicPr>
        <p:blipFill>
          <a:blip r:embed="rId4"/>
          <a:stretch>
            <a:fillRect/>
          </a:stretch>
        </p:blipFill>
        <p:spPr>
          <a:xfrm>
            <a:off x="0" y="3464131"/>
            <a:ext cx="12192000" cy="1762699"/>
          </a:xfrm>
          <a:prstGeom prst="rect">
            <a:avLst/>
          </a:prstGeom>
        </p:spPr>
      </p:pic>
      <p:pic>
        <p:nvPicPr>
          <p:cNvPr id="13" name="Picture 12">
            <a:extLst>
              <a:ext uri="{FF2B5EF4-FFF2-40B4-BE49-F238E27FC236}">
                <a16:creationId xmlns:a16="http://schemas.microsoft.com/office/drawing/2014/main" id="{EDEBA6F3-B63E-670D-437C-A5575ABC4492}"/>
              </a:ext>
            </a:extLst>
          </p:cNvPr>
          <p:cNvPicPr>
            <a:picLocks noChangeAspect="1"/>
          </p:cNvPicPr>
          <p:nvPr/>
        </p:nvPicPr>
        <p:blipFill>
          <a:blip r:embed="rId5"/>
          <a:stretch>
            <a:fillRect/>
          </a:stretch>
        </p:blipFill>
        <p:spPr>
          <a:xfrm>
            <a:off x="0" y="5089634"/>
            <a:ext cx="12192000" cy="1702017"/>
          </a:xfrm>
          <a:prstGeom prst="rect">
            <a:avLst/>
          </a:prstGeom>
        </p:spPr>
      </p:pic>
    </p:spTree>
    <p:extLst>
      <p:ext uri="{BB962C8B-B14F-4D97-AF65-F5344CB8AC3E}">
        <p14:creationId xmlns:p14="http://schemas.microsoft.com/office/powerpoint/2010/main" val="5785312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525B29E-AC45-B52F-FB7D-D3FC4FFF79E6}"/>
              </a:ext>
            </a:extLst>
          </p:cNvPr>
          <p:cNvPicPr>
            <a:picLocks noChangeAspect="1"/>
          </p:cNvPicPr>
          <p:nvPr/>
        </p:nvPicPr>
        <p:blipFill>
          <a:blip r:embed="rId2"/>
          <a:stretch>
            <a:fillRect/>
          </a:stretch>
        </p:blipFill>
        <p:spPr>
          <a:xfrm>
            <a:off x="0" y="-313464"/>
            <a:ext cx="12192000" cy="2192496"/>
          </a:xfrm>
          <a:prstGeom prst="rect">
            <a:avLst/>
          </a:prstGeom>
        </p:spPr>
      </p:pic>
      <p:pic>
        <p:nvPicPr>
          <p:cNvPr id="7" name="Picture 6">
            <a:extLst>
              <a:ext uri="{FF2B5EF4-FFF2-40B4-BE49-F238E27FC236}">
                <a16:creationId xmlns:a16="http://schemas.microsoft.com/office/drawing/2014/main" id="{669EDC31-BC73-BC70-87CA-AAA7AEF0C0EC}"/>
              </a:ext>
            </a:extLst>
          </p:cNvPr>
          <p:cNvPicPr>
            <a:picLocks noChangeAspect="1"/>
          </p:cNvPicPr>
          <p:nvPr/>
        </p:nvPicPr>
        <p:blipFill>
          <a:blip r:embed="rId3"/>
          <a:stretch>
            <a:fillRect/>
          </a:stretch>
        </p:blipFill>
        <p:spPr>
          <a:xfrm>
            <a:off x="0" y="1658225"/>
            <a:ext cx="12192000" cy="2095500"/>
          </a:xfrm>
          <a:prstGeom prst="rect">
            <a:avLst/>
          </a:prstGeom>
        </p:spPr>
      </p:pic>
      <p:pic>
        <p:nvPicPr>
          <p:cNvPr id="9" name="Picture 8">
            <a:extLst>
              <a:ext uri="{FF2B5EF4-FFF2-40B4-BE49-F238E27FC236}">
                <a16:creationId xmlns:a16="http://schemas.microsoft.com/office/drawing/2014/main" id="{F33AC13F-5787-D311-7AD1-85EAB1F960C9}"/>
              </a:ext>
            </a:extLst>
          </p:cNvPr>
          <p:cNvPicPr>
            <a:picLocks noChangeAspect="1"/>
          </p:cNvPicPr>
          <p:nvPr/>
        </p:nvPicPr>
        <p:blipFill>
          <a:blip r:embed="rId4"/>
          <a:stretch>
            <a:fillRect/>
          </a:stretch>
        </p:blipFill>
        <p:spPr>
          <a:xfrm>
            <a:off x="0" y="3429000"/>
            <a:ext cx="12192000" cy="1664910"/>
          </a:xfrm>
          <a:prstGeom prst="rect">
            <a:avLst/>
          </a:prstGeom>
        </p:spPr>
      </p:pic>
      <p:pic>
        <p:nvPicPr>
          <p:cNvPr id="11" name="Picture 10">
            <a:extLst>
              <a:ext uri="{FF2B5EF4-FFF2-40B4-BE49-F238E27FC236}">
                <a16:creationId xmlns:a16="http://schemas.microsoft.com/office/drawing/2014/main" id="{2ECFBFF6-2DCB-FCB4-05DE-526F55F9BA2E}"/>
              </a:ext>
            </a:extLst>
          </p:cNvPr>
          <p:cNvPicPr>
            <a:picLocks noChangeAspect="1"/>
          </p:cNvPicPr>
          <p:nvPr/>
        </p:nvPicPr>
        <p:blipFill>
          <a:blip r:embed="rId5"/>
          <a:stretch>
            <a:fillRect/>
          </a:stretch>
        </p:blipFill>
        <p:spPr>
          <a:xfrm>
            <a:off x="0" y="5093910"/>
            <a:ext cx="12192000" cy="1653886"/>
          </a:xfrm>
          <a:prstGeom prst="rect">
            <a:avLst/>
          </a:prstGeom>
        </p:spPr>
      </p:pic>
    </p:spTree>
    <p:extLst>
      <p:ext uri="{BB962C8B-B14F-4D97-AF65-F5344CB8AC3E}">
        <p14:creationId xmlns:p14="http://schemas.microsoft.com/office/powerpoint/2010/main" val="38974753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58592-61D1-45D7-D4A3-CC24D9D44021}"/>
              </a:ext>
            </a:extLst>
          </p:cNvPr>
          <p:cNvSpPr>
            <a:spLocks noGrp="1"/>
          </p:cNvSpPr>
          <p:nvPr>
            <p:ph type="title"/>
          </p:nvPr>
        </p:nvSpPr>
        <p:spPr>
          <a:xfrm>
            <a:off x="913795" y="96350"/>
            <a:ext cx="10353762" cy="970450"/>
          </a:xfrm>
        </p:spPr>
        <p:txBody>
          <a:bodyPr/>
          <a:lstStyle/>
          <a:p>
            <a:r>
              <a:rPr lang="en-US" dirty="0" err="1"/>
              <a:t>Korisnikov</a:t>
            </a:r>
            <a:r>
              <a:rPr lang="en-US" dirty="0"/>
              <a:t> </a:t>
            </a:r>
            <a:r>
              <a:rPr lang="en-US" dirty="0" err="1"/>
              <a:t>slučaj</a:t>
            </a:r>
            <a:endParaRPr lang="en-US" dirty="0"/>
          </a:p>
        </p:txBody>
      </p:sp>
      <p:pic>
        <p:nvPicPr>
          <p:cNvPr id="6" name="Picture 5">
            <a:extLst>
              <a:ext uri="{FF2B5EF4-FFF2-40B4-BE49-F238E27FC236}">
                <a16:creationId xmlns:a16="http://schemas.microsoft.com/office/drawing/2014/main" id="{83030F64-2DF5-4011-981B-8505BE977674}"/>
              </a:ext>
            </a:extLst>
          </p:cNvPr>
          <p:cNvPicPr>
            <a:picLocks noChangeAspect="1"/>
          </p:cNvPicPr>
          <p:nvPr/>
        </p:nvPicPr>
        <p:blipFill>
          <a:blip r:embed="rId2"/>
          <a:stretch>
            <a:fillRect/>
          </a:stretch>
        </p:blipFill>
        <p:spPr>
          <a:xfrm>
            <a:off x="0" y="1066800"/>
            <a:ext cx="12187190" cy="4778188"/>
          </a:xfrm>
          <a:prstGeom prst="rect">
            <a:avLst/>
          </a:prstGeom>
        </p:spPr>
      </p:pic>
    </p:spTree>
    <p:extLst>
      <p:ext uri="{BB962C8B-B14F-4D97-AF65-F5344CB8AC3E}">
        <p14:creationId xmlns:p14="http://schemas.microsoft.com/office/powerpoint/2010/main" val="23132008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6C28AF-FA86-49BD-968D-01DA8C597344}"/>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65A6E96B-2FD5-414E-A26A-2E02A3F513DA}"/>
              </a:ext>
            </a:extLst>
          </p:cNvPr>
          <p:cNvPicPr>
            <a:picLocks noChangeAspect="1"/>
          </p:cNvPicPr>
          <p:nvPr/>
        </p:nvPicPr>
        <p:blipFill>
          <a:blip r:embed="rId2"/>
          <a:stretch>
            <a:fillRect/>
          </a:stretch>
        </p:blipFill>
        <p:spPr>
          <a:xfrm>
            <a:off x="29807" y="1066800"/>
            <a:ext cx="12132386" cy="5443300"/>
          </a:xfrm>
          <a:prstGeom prst="rect">
            <a:avLst/>
          </a:prstGeom>
        </p:spPr>
      </p:pic>
    </p:spTree>
    <p:extLst>
      <p:ext uri="{BB962C8B-B14F-4D97-AF65-F5344CB8AC3E}">
        <p14:creationId xmlns:p14="http://schemas.microsoft.com/office/powerpoint/2010/main" val="5091922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4AD3607-D232-4B51-8112-44397355EAB0}"/>
              </a:ext>
            </a:extLst>
          </p:cNvPr>
          <p:cNvPicPr>
            <a:picLocks noChangeAspect="1"/>
          </p:cNvPicPr>
          <p:nvPr/>
        </p:nvPicPr>
        <p:blipFill>
          <a:blip r:embed="rId2"/>
          <a:stretch>
            <a:fillRect/>
          </a:stretch>
        </p:blipFill>
        <p:spPr>
          <a:xfrm>
            <a:off x="-21267" y="878541"/>
            <a:ext cx="12213267" cy="5369335"/>
          </a:xfrm>
          <a:prstGeom prst="rect">
            <a:avLst/>
          </a:prstGeom>
        </p:spPr>
      </p:pic>
    </p:spTree>
    <p:extLst>
      <p:ext uri="{BB962C8B-B14F-4D97-AF65-F5344CB8AC3E}">
        <p14:creationId xmlns:p14="http://schemas.microsoft.com/office/powerpoint/2010/main" val="39035039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2C16F95-9D88-46ED-AC58-25A1A71F73CA}"/>
              </a:ext>
            </a:extLst>
          </p:cNvPr>
          <p:cNvPicPr>
            <a:picLocks noChangeAspect="1"/>
          </p:cNvPicPr>
          <p:nvPr/>
        </p:nvPicPr>
        <p:blipFill>
          <a:blip r:embed="rId2"/>
          <a:stretch>
            <a:fillRect/>
          </a:stretch>
        </p:blipFill>
        <p:spPr>
          <a:xfrm>
            <a:off x="0" y="459407"/>
            <a:ext cx="12093062" cy="5269040"/>
          </a:xfrm>
          <a:prstGeom prst="rect">
            <a:avLst/>
          </a:prstGeom>
        </p:spPr>
      </p:pic>
    </p:spTree>
    <p:extLst>
      <p:ext uri="{BB962C8B-B14F-4D97-AF65-F5344CB8AC3E}">
        <p14:creationId xmlns:p14="http://schemas.microsoft.com/office/powerpoint/2010/main" val="39648095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F8346893-2CF7-4317-897A-50D55FD206DA}"/>
              </a:ext>
            </a:extLst>
          </p:cNvPr>
          <p:cNvSpPr txBox="1">
            <a:spLocks/>
          </p:cNvSpPr>
          <p:nvPr/>
        </p:nvSpPr>
        <p:spPr>
          <a:xfrm>
            <a:off x="80682" y="71717"/>
            <a:ext cx="12192000" cy="1488141"/>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en-US" dirty="0" err="1"/>
              <a:t>Vidimo</a:t>
            </a:r>
            <a:r>
              <a:rPr lang="en-US" dirty="0"/>
              <a:t> da </a:t>
            </a:r>
            <a:r>
              <a:rPr lang="en-US" dirty="0" err="1"/>
              <a:t>rasudjivanje</a:t>
            </a:r>
            <a:r>
              <a:rPr lang="en-US" dirty="0"/>
              <a:t> po </a:t>
            </a:r>
            <a:r>
              <a:rPr lang="en-US" dirty="0" err="1"/>
              <a:t>pravilima</a:t>
            </a:r>
            <a:r>
              <a:rPr lang="en-US" dirty="0"/>
              <a:t> </a:t>
            </a:r>
            <a:r>
              <a:rPr lang="en-US" dirty="0" err="1"/>
              <a:t>daje</a:t>
            </a:r>
            <a:r>
              <a:rPr lang="en-US" dirty="0"/>
              <a:t> </a:t>
            </a:r>
            <a:r>
              <a:rPr lang="en-US" dirty="0" err="1"/>
              <a:t>standardni</a:t>
            </a:r>
            <a:r>
              <a:rPr lang="en-US" dirty="0"/>
              <a:t> </a:t>
            </a:r>
            <a:r>
              <a:rPr lang="en-US" dirty="0" err="1"/>
              <a:t>opseg</a:t>
            </a:r>
            <a:r>
              <a:rPr lang="en-US" dirty="0"/>
              <a:t> </a:t>
            </a:r>
            <a:r>
              <a:rPr lang="en-US" dirty="0" err="1"/>
              <a:t>minimalne</a:t>
            </a:r>
            <a:r>
              <a:rPr lang="en-US" dirty="0"/>
              <a:t> </a:t>
            </a:r>
            <a:r>
              <a:rPr lang="en-US" dirty="0" err="1"/>
              <a:t>kazne</a:t>
            </a:r>
            <a:r>
              <a:rPr lang="en-US" dirty="0"/>
              <a:t> </a:t>
            </a:r>
            <a:r>
              <a:rPr lang="en-US" dirty="0" err="1"/>
              <a:t>kao</a:t>
            </a:r>
            <a:r>
              <a:rPr lang="en-US" dirty="0"/>
              <a:t> </a:t>
            </a:r>
            <a:r>
              <a:rPr lang="en-US" dirty="0" err="1"/>
              <a:t>što</a:t>
            </a:r>
            <a:r>
              <a:rPr lang="en-US" dirty="0"/>
              <a:t> je </a:t>
            </a:r>
            <a:r>
              <a:rPr lang="en-US" dirty="0" err="1"/>
              <a:t>propisano</a:t>
            </a:r>
            <a:endParaRPr lang="en-US" dirty="0"/>
          </a:p>
        </p:txBody>
      </p:sp>
      <p:pic>
        <p:nvPicPr>
          <p:cNvPr id="8" name="Picture 7">
            <a:extLst>
              <a:ext uri="{FF2B5EF4-FFF2-40B4-BE49-F238E27FC236}">
                <a16:creationId xmlns:a16="http://schemas.microsoft.com/office/drawing/2014/main" id="{4AD275EB-D30B-457F-B84B-BD1BC7D39CF7}"/>
              </a:ext>
            </a:extLst>
          </p:cNvPr>
          <p:cNvPicPr>
            <a:picLocks noChangeAspect="1"/>
          </p:cNvPicPr>
          <p:nvPr/>
        </p:nvPicPr>
        <p:blipFill>
          <a:blip r:embed="rId2"/>
          <a:stretch>
            <a:fillRect/>
          </a:stretch>
        </p:blipFill>
        <p:spPr>
          <a:xfrm>
            <a:off x="6366941" y="1083541"/>
            <a:ext cx="5744377" cy="981212"/>
          </a:xfrm>
          <a:prstGeom prst="rect">
            <a:avLst/>
          </a:prstGeom>
        </p:spPr>
      </p:pic>
      <p:pic>
        <p:nvPicPr>
          <p:cNvPr id="10" name="Picture 9">
            <a:extLst>
              <a:ext uri="{FF2B5EF4-FFF2-40B4-BE49-F238E27FC236}">
                <a16:creationId xmlns:a16="http://schemas.microsoft.com/office/drawing/2014/main" id="{96C2D31C-6BB3-43A8-818B-613CBB062772}"/>
              </a:ext>
            </a:extLst>
          </p:cNvPr>
          <p:cNvPicPr>
            <a:picLocks noChangeAspect="1"/>
          </p:cNvPicPr>
          <p:nvPr/>
        </p:nvPicPr>
        <p:blipFill>
          <a:blip r:embed="rId3"/>
          <a:stretch>
            <a:fillRect/>
          </a:stretch>
        </p:blipFill>
        <p:spPr>
          <a:xfrm>
            <a:off x="2125618" y="2268794"/>
            <a:ext cx="10002646" cy="4553585"/>
          </a:xfrm>
          <a:prstGeom prst="rect">
            <a:avLst/>
          </a:prstGeom>
        </p:spPr>
      </p:pic>
      <p:pic>
        <p:nvPicPr>
          <p:cNvPr id="12" name="Picture 11">
            <a:extLst>
              <a:ext uri="{FF2B5EF4-FFF2-40B4-BE49-F238E27FC236}">
                <a16:creationId xmlns:a16="http://schemas.microsoft.com/office/drawing/2014/main" id="{40EAA9CF-DA19-48BD-A9B7-54D4AECB72D9}"/>
              </a:ext>
            </a:extLst>
          </p:cNvPr>
          <p:cNvPicPr>
            <a:picLocks noChangeAspect="1"/>
          </p:cNvPicPr>
          <p:nvPr/>
        </p:nvPicPr>
        <p:blipFill>
          <a:blip r:embed="rId4"/>
          <a:stretch>
            <a:fillRect/>
          </a:stretch>
        </p:blipFill>
        <p:spPr>
          <a:xfrm>
            <a:off x="2125618" y="1763899"/>
            <a:ext cx="2191056" cy="504895"/>
          </a:xfrm>
          <a:prstGeom prst="rect">
            <a:avLst/>
          </a:prstGeom>
        </p:spPr>
      </p:pic>
      <p:pic>
        <p:nvPicPr>
          <p:cNvPr id="14" name="Picture 13">
            <a:extLst>
              <a:ext uri="{FF2B5EF4-FFF2-40B4-BE49-F238E27FC236}">
                <a16:creationId xmlns:a16="http://schemas.microsoft.com/office/drawing/2014/main" id="{379840EB-17F1-4DA1-9CB2-87248254E1CC}"/>
              </a:ext>
            </a:extLst>
          </p:cNvPr>
          <p:cNvPicPr>
            <a:picLocks noChangeAspect="1"/>
          </p:cNvPicPr>
          <p:nvPr/>
        </p:nvPicPr>
        <p:blipFill>
          <a:blip r:embed="rId5"/>
          <a:stretch>
            <a:fillRect/>
          </a:stretch>
        </p:blipFill>
        <p:spPr>
          <a:xfrm>
            <a:off x="6366941" y="650868"/>
            <a:ext cx="1962424" cy="457264"/>
          </a:xfrm>
          <a:prstGeom prst="rect">
            <a:avLst/>
          </a:prstGeom>
        </p:spPr>
      </p:pic>
      <p:sp>
        <p:nvSpPr>
          <p:cNvPr id="15" name="Content Placeholder 2">
            <a:extLst>
              <a:ext uri="{FF2B5EF4-FFF2-40B4-BE49-F238E27FC236}">
                <a16:creationId xmlns:a16="http://schemas.microsoft.com/office/drawing/2014/main" id="{DD1E5489-EC81-4D9C-BA24-A162211829B5}"/>
              </a:ext>
            </a:extLst>
          </p:cNvPr>
          <p:cNvSpPr txBox="1">
            <a:spLocks/>
          </p:cNvSpPr>
          <p:nvPr/>
        </p:nvSpPr>
        <p:spPr>
          <a:xfrm>
            <a:off x="-53788" y="576612"/>
            <a:ext cx="5253317" cy="1488141"/>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en-US" dirty="0" err="1"/>
              <a:t>Rasudjivanje</a:t>
            </a:r>
            <a:r>
              <a:rPr lang="en-US" dirty="0"/>
              <a:t> po </a:t>
            </a:r>
            <a:r>
              <a:rPr lang="en-US" dirty="0" err="1"/>
              <a:t>slučajevima</a:t>
            </a:r>
            <a:r>
              <a:rPr lang="en-US" dirty="0"/>
              <a:t> </a:t>
            </a:r>
            <a:r>
              <a:rPr lang="en-US" dirty="0" err="1"/>
              <a:t>daje</a:t>
            </a:r>
            <a:r>
              <a:rPr lang="en-US" dirty="0"/>
              <a:t> </a:t>
            </a:r>
            <a:r>
              <a:rPr lang="en-US" dirty="0" err="1"/>
              <a:t>nešto</a:t>
            </a:r>
            <a:r>
              <a:rPr lang="en-US" dirty="0"/>
              <a:t> </a:t>
            </a:r>
            <a:r>
              <a:rPr lang="en-US" dirty="0" err="1"/>
              <a:t>blažu</a:t>
            </a:r>
            <a:r>
              <a:rPr lang="en-US" dirty="0"/>
              <a:t> </a:t>
            </a:r>
            <a:r>
              <a:rPr lang="en-US" dirty="0" err="1"/>
              <a:t>kaznu</a:t>
            </a:r>
            <a:r>
              <a:rPr lang="en-US" dirty="0"/>
              <a:t>, </a:t>
            </a:r>
            <a:r>
              <a:rPr lang="en-US" dirty="0" err="1"/>
              <a:t>vidimo</a:t>
            </a:r>
            <a:r>
              <a:rPr lang="en-US" dirty="0"/>
              <a:t> da </a:t>
            </a:r>
            <a:r>
              <a:rPr lang="en-US" dirty="0" err="1"/>
              <a:t>slićni</a:t>
            </a:r>
            <a:r>
              <a:rPr lang="en-US" dirty="0"/>
              <a:t> </a:t>
            </a:r>
            <a:r>
              <a:rPr lang="en-US" dirty="0" err="1"/>
              <a:t>slučajevi</a:t>
            </a:r>
            <a:r>
              <a:rPr lang="en-US" dirty="0"/>
              <a:t> </a:t>
            </a:r>
            <a:r>
              <a:rPr lang="en-US" dirty="0" err="1"/>
              <a:t>imaju</a:t>
            </a:r>
            <a:r>
              <a:rPr lang="en-US" dirty="0"/>
              <a:t> </a:t>
            </a:r>
            <a:r>
              <a:rPr lang="en-US" dirty="0" err="1"/>
              <a:t>manje</a:t>
            </a:r>
            <a:r>
              <a:rPr lang="en-US" dirty="0"/>
              <a:t> </a:t>
            </a:r>
            <a:r>
              <a:rPr lang="en-US" dirty="0" err="1"/>
              <a:t>kazne</a:t>
            </a:r>
            <a:r>
              <a:rPr lang="en-US" dirty="0"/>
              <a:t>.</a:t>
            </a:r>
          </a:p>
        </p:txBody>
      </p:sp>
    </p:spTree>
    <p:extLst>
      <p:ext uri="{BB962C8B-B14F-4D97-AF65-F5344CB8AC3E}">
        <p14:creationId xmlns:p14="http://schemas.microsoft.com/office/powerpoint/2010/main" val="226626554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A77AB4-3E98-DAC8-65B3-4F1D4460B5F4}"/>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32A2D7C9-3C30-7F64-171C-59B389B2F8F6}"/>
              </a:ext>
            </a:extLst>
          </p:cNvPr>
          <p:cNvPicPr>
            <a:picLocks noChangeAspect="1"/>
          </p:cNvPicPr>
          <p:nvPr/>
        </p:nvPicPr>
        <p:blipFill>
          <a:blip r:embed="rId2"/>
          <a:stretch>
            <a:fillRect/>
          </a:stretch>
        </p:blipFill>
        <p:spPr>
          <a:xfrm>
            <a:off x="0" y="1390932"/>
            <a:ext cx="12192000" cy="5438811"/>
          </a:xfrm>
          <a:prstGeom prst="rect">
            <a:avLst/>
          </a:prstGeom>
        </p:spPr>
      </p:pic>
      <p:sp>
        <p:nvSpPr>
          <p:cNvPr id="6" name="Content Placeholder 2">
            <a:extLst>
              <a:ext uri="{FF2B5EF4-FFF2-40B4-BE49-F238E27FC236}">
                <a16:creationId xmlns:a16="http://schemas.microsoft.com/office/drawing/2014/main" id="{AEEEC4BF-19B1-2F19-F8DB-CB1B1B6195A3}"/>
              </a:ext>
            </a:extLst>
          </p:cNvPr>
          <p:cNvSpPr txBox="1">
            <a:spLocks/>
          </p:cNvSpPr>
          <p:nvPr/>
        </p:nvSpPr>
        <p:spPr>
          <a:xfrm>
            <a:off x="80682" y="71717"/>
            <a:ext cx="12192000" cy="1488141"/>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en-US" dirty="0"/>
              <a:t>Markov chain model</a:t>
            </a:r>
          </a:p>
        </p:txBody>
      </p:sp>
    </p:spTree>
    <p:extLst>
      <p:ext uri="{BB962C8B-B14F-4D97-AF65-F5344CB8AC3E}">
        <p14:creationId xmlns:p14="http://schemas.microsoft.com/office/powerpoint/2010/main" val="139319408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0190FC6-1C14-F92C-407F-B0906A869CBC}"/>
              </a:ext>
            </a:extLst>
          </p:cNvPr>
          <p:cNvPicPr>
            <a:picLocks noChangeAspect="1"/>
          </p:cNvPicPr>
          <p:nvPr/>
        </p:nvPicPr>
        <p:blipFill>
          <a:blip r:embed="rId2"/>
          <a:stretch>
            <a:fillRect/>
          </a:stretch>
        </p:blipFill>
        <p:spPr>
          <a:xfrm>
            <a:off x="551146" y="0"/>
            <a:ext cx="11089708" cy="6858000"/>
          </a:xfrm>
          <a:prstGeom prst="rect">
            <a:avLst/>
          </a:prstGeom>
        </p:spPr>
      </p:pic>
    </p:spTree>
    <p:extLst>
      <p:ext uri="{BB962C8B-B14F-4D97-AF65-F5344CB8AC3E}">
        <p14:creationId xmlns:p14="http://schemas.microsoft.com/office/powerpoint/2010/main" val="187779540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0A1658-D5C7-4A59-808B-44262C07B475}"/>
              </a:ext>
            </a:extLst>
          </p:cNvPr>
          <p:cNvSpPr>
            <a:spLocks noGrp="1"/>
          </p:cNvSpPr>
          <p:nvPr>
            <p:ph idx="1"/>
          </p:nvPr>
        </p:nvSpPr>
        <p:spPr>
          <a:xfrm>
            <a:off x="0" y="29155"/>
            <a:ext cx="11206264" cy="4058751"/>
          </a:xfrm>
        </p:spPr>
        <p:txBody>
          <a:bodyPr/>
          <a:lstStyle/>
          <a:p>
            <a:r>
              <a:rPr lang="en-US" dirty="0" err="1"/>
              <a:t>Mogucnost</a:t>
            </a:r>
            <a:r>
              <a:rPr lang="en-US" dirty="0"/>
              <a:t> ismene </a:t>
            </a:r>
            <a:r>
              <a:rPr lang="en-US" dirty="0" err="1"/>
              <a:t>kazne</a:t>
            </a:r>
            <a:r>
              <a:rPr lang="en-US" dirty="0"/>
              <a:t> za novo </a:t>
            </a:r>
            <a:r>
              <a:rPr lang="en-US" dirty="0" err="1"/>
              <a:t>dodati</a:t>
            </a:r>
            <a:r>
              <a:rPr lang="en-US" dirty="0"/>
              <a:t> </a:t>
            </a:r>
            <a:r>
              <a:rPr lang="en-US" dirty="0" err="1"/>
              <a:t>slucaj</a:t>
            </a:r>
            <a:r>
              <a:rPr lang="en-US" dirty="0"/>
              <a:t>, </a:t>
            </a:r>
            <a:r>
              <a:rPr lang="en-US" dirty="0" err="1"/>
              <a:t>trebala</a:t>
            </a:r>
            <a:r>
              <a:rPr lang="en-US" dirty="0"/>
              <a:t> je da </a:t>
            </a:r>
            <a:r>
              <a:rPr lang="en-US" dirty="0" err="1"/>
              <a:t>bude</a:t>
            </a:r>
            <a:r>
              <a:rPr lang="en-US" dirty="0"/>
              <a:t> 6, a mi </a:t>
            </a:r>
            <a:r>
              <a:rPr lang="en-US" dirty="0" err="1"/>
              <a:t>smo</a:t>
            </a:r>
            <a:r>
              <a:rPr lang="en-US" dirty="0"/>
              <a:t> </a:t>
            </a:r>
            <a:r>
              <a:rPr lang="en-US" dirty="0" err="1"/>
              <a:t>stavili</a:t>
            </a:r>
            <a:r>
              <a:rPr lang="en-US" dirty="0"/>
              <a:t> 4 </a:t>
            </a:r>
            <a:r>
              <a:rPr lang="en-US" dirty="0" err="1"/>
              <a:t>meseca</a:t>
            </a:r>
            <a:endParaRPr lang="en-US" dirty="0"/>
          </a:p>
        </p:txBody>
      </p:sp>
      <p:pic>
        <p:nvPicPr>
          <p:cNvPr id="4" name="Picture 3">
            <a:extLst>
              <a:ext uri="{FF2B5EF4-FFF2-40B4-BE49-F238E27FC236}">
                <a16:creationId xmlns:a16="http://schemas.microsoft.com/office/drawing/2014/main" id="{E2376E04-817F-24AE-0411-4CFC647E42AB}"/>
              </a:ext>
            </a:extLst>
          </p:cNvPr>
          <p:cNvPicPr>
            <a:picLocks noChangeAspect="1"/>
          </p:cNvPicPr>
          <p:nvPr/>
        </p:nvPicPr>
        <p:blipFill>
          <a:blip r:embed="rId2"/>
          <a:stretch>
            <a:fillRect/>
          </a:stretch>
        </p:blipFill>
        <p:spPr>
          <a:xfrm>
            <a:off x="0" y="578118"/>
            <a:ext cx="12192000" cy="1893112"/>
          </a:xfrm>
          <a:prstGeom prst="rect">
            <a:avLst/>
          </a:prstGeom>
        </p:spPr>
      </p:pic>
      <p:pic>
        <p:nvPicPr>
          <p:cNvPr id="7" name="Picture 6">
            <a:extLst>
              <a:ext uri="{FF2B5EF4-FFF2-40B4-BE49-F238E27FC236}">
                <a16:creationId xmlns:a16="http://schemas.microsoft.com/office/drawing/2014/main" id="{8F3B676A-11E3-CDC4-F3A9-06D8B729A760}"/>
              </a:ext>
            </a:extLst>
          </p:cNvPr>
          <p:cNvPicPr>
            <a:picLocks noChangeAspect="1"/>
          </p:cNvPicPr>
          <p:nvPr/>
        </p:nvPicPr>
        <p:blipFill>
          <a:blip r:embed="rId3"/>
          <a:stretch>
            <a:fillRect/>
          </a:stretch>
        </p:blipFill>
        <p:spPr>
          <a:xfrm>
            <a:off x="0" y="2471230"/>
            <a:ext cx="12192000" cy="2563232"/>
          </a:xfrm>
          <a:prstGeom prst="rect">
            <a:avLst/>
          </a:prstGeom>
        </p:spPr>
      </p:pic>
      <p:pic>
        <p:nvPicPr>
          <p:cNvPr id="11" name="Picture 10">
            <a:extLst>
              <a:ext uri="{FF2B5EF4-FFF2-40B4-BE49-F238E27FC236}">
                <a16:creationId xmlns:a16="http://schemas.microsoft.com/office/drawing/2014/main" id="{93580831-4FEE-BE62-18BD-C9A0862C792C}"/>
              </a:ext>
            </a:extLst>
          </p:cNvPr>
          <p:cNvPicPr>
            <a:picLocks noChangeAspect="1"/>
          </p:cNvPicPr>
          <p:nvPr/>
        </p:nvPicPr>
        <p:blipFill>
          <a:blip r:embed="rId4"/>
          <a:stretch>
            <a:fillRect/>
          </a:stretch>
        </p:blipFill>
        <p:spPr>
          <a:xfrm>
            <a:off x="0" y="4851299"/>
            <a:ext cx="12192000" cy="1977546"/>
          </a:xfrm>
          <a:prstGeom prst="rect">
            <a:avLst/>
          </a:prstGeom>
        </p:spPr>
      </p:pic>
    </p:spTree>
    <p:extLst>
      <p:ext uri="{BB962C8B-B14F-4D97-AF65-F5344CB8AC3E}">
        <p14:creationId xmlns:p14="http://schemas.microsoft.com/office/powerpoint/2010/main" val="34772630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ADA7B0-A91F-40A5-8FFA-D60ABB385274}"/>
              </a:ext>
            </a:extLst>
          </p:cNvPr>
          <p:cNvSpPr>
            <a:spLocks noGrp="1"/>
          </p:cNvSpPr>
          <p:nvPr>
            <p:ph idx="1"/>
          </p:nvPr>
        </p:nvSpPr>
        <p:spPr>
          <a:xfrm>
            <a:off x="8360" y="1"/>
            <a:ext cx="12309146" cy="1013012"/>
          </a:xfrm>
        </p:spPr>
        <p:txBody>
          <a:bodyPr/>
          <a:lstStyle/>
          <a:p>
            <a:r>
              <a:rPr lang="sr-Latn-RS" dirty="0"/>
              <a:t>Za novo dodate slučajeve je omogućeno i njihovo brisanje</a:t>
            </a:r>
            <a:endParaRPr lang="en-US" dirty="0"/>
          </a:p>
        </p:txBody>
      </p:sp>
      <p:pic>
        <p:nvPicPr>
          <p:cNvPr id="4" name="Picture 3">
            <a:extLst>
              <a:ext uri="{FF2B5EF4-FFF2-40B4-BE49-F238E27FC236}">
                <a16:creationId xmlns:a16="http://schemas.microsoft.com/office/drawing/2014/main" id="{ED2E6975-8E43-423C-A4D1-9D986EE78E60}"/>
              </a:ext>
            </a:extLst>
          </p:cNvPr>
          <p:cNvPicPr>
            <a:picLocks noChangeAspect="1"/>
          </p:cNvPicPr>
          <p:nvPr/>
        </p:nvPicPr>
        <p:blipFill>
          <a:blip r:embed="rId2"/>
          <a:stretch>
            <a:fillRect/>
          </a:stretch>
        </p:blipFill>
        <p:spPr>
          <a:xfrm>
            <a:off x="0" y="1167854"/>
            <a:ext cx="12192000" cy="5417237"/>
          </a:xfrm>
          <a:prstGeom prst="rect">
            <a:avLst/>
          </a:prstGeom>
        </p:spPr>
      </p:pic>
    </p:spTree>
    <p:extLst>
      <p:ext uri="{BB962C8B-B14F-4D97-AF65-F5344CB8AC3E}">
        <p14:creationId xmlns:p14="http://schemas.microsoft.com/office/powerpoint/2010/main" val="274015257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B9095A-B0F6-4166-B7E0-DA3F3E8CC84E}"/>
              </a:ext>
            </a:extLst>
          </p:cNvPr>
          <p:cNvSpPr>
            <a:spLocks noGrp="1"/>
          </p:cNvSpPr>
          <p:nvPr>
            <p:ph idx="1"/>
          </p:nvPr>
        </p:nvSpPr>
        <p:spPr>
          <a:xfrm>
            <a:off x="0" y="0"/>
            <a:ext cx="10353762" cy="4058751"/>
          </a:xfrm>
        </p:spPr>
        <p:txBody>
          <a:bodyPr/>
          <a:lstStyle/>
          <a:p>
            <a:r>
              <a:rPr lang="sr-Latn-RS" dirty="0"/>
              <a:t>Novi slučaj je vidljiv u bazi slučajeva</a:t>
            </a:r>
            <a:endParaRPr lang="en-US" dirty="0"/>
          </a:p>
        </p:txBody>
      </p:sp>
      <p:pic>
        <p:nvPicPr>
          <p:cNvPr id="7" name="Picture 6">
            <a:extLst>
              <a:ext uri="{FF2B5EF4-FFF2-40B4-BE49-F238E27FC236}">
                <a16:creationId xmlns:a16="http://schemas.microsoft.com/office/drawing/2014/main" id="{9049AB11-4C93-1AB8-37EA-DA6488B82BD0}"/>
              </a:ext>
            </a:extLst>
          </p:cNvPr>
          <p:cNvPicPr>
            <a:picLocks noChangeAspect="1"/>
          </p:cNvPicPr>
          <p:nvPr/>
        </p:nvPicPr>
        <p:blipFill>
          <a:blip r:embed="rId2"/>
          <a:stretch>
            <a:fillRect/>
          </a:stretch>
        </p:blipFill>
        <p:spPr>
          <a:xfrm>
            <a:off x="0" y="853042"/>
            <a:ext cx="12192000" cy="5151915"/>
          </a:xfrm>
          <a:prstGeom prst="rect">
            <a:avLst/>
          </a:prstGeom>
        </p:spPr>
      </p:pic>
      <p:pic>
        <p:nvPicPr>
          <p:cNvPr id="9" name="Picture 8">
            <a:extLst>
              <a:ext uri="{FF2B5EF4-FFF2-40B4-BE49-F238E27FC236}">
                <a16:creationId xmlns:a16="http://schemas.microsoft.com/office/drawing/2014/main" id="{E010092F-6E5C-3EBF-806C-0CE5A0E28799}"/>
              </a:ext>
            </a:extLst>
          </p:cNvPr>
          <p:cNvPicPr>
            <a:picLocks noChangeAspect="1"/>
          </p:cNvPicPr>
          <p:nvPr/>
        </p:nvPicPr>
        <p:blipFill>
          <a:blip r:embed="rId2"/>
          <a:stretch>
            <a:fillRect/>
          </a:stretch>
        </p:blipFill>
        <p:spPr>
          <a:xfrm>
            <a:off x="0" y="853042"/>
            <a:ext cx="12192000" cy="5151915"/>
          </a:xfrm>
          <a:prstGeom prst="rect">
            <a:avLst/>
          </a:prstGeom>
        </p:spPr>
      </p:pic>
    </p:spTree>
    <p:extLst>
      <p:ext uri="{BB962C8B-B14F-4D97-AF65-F5344CB8AC3E}">
        <p14:creationId xmlns:p14="http://schemas.microsoft.com/office/powerpoint/2010/main" val="60533590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C11F81-32BE-4063-83DA-BF57A2BD76AE}"/>
              </a:ext>
            </a:extLst>
          </p:cNvPr>
          <p:cNvSpPr>
            <a:spLocks noGrp="1"/>
          </p:cNvSpPr>
          <p:nvPr>
            <p:ph idx="1"/>
          </p:nvPr>
        </p:nvSpPr>
        <p:spPr>
          <a:xfrm>
            <a:off x="0" y="0"/>
            <a:ext cx="10353762" cy="4058751"/>
          </a:xfrm>
        </p:spPr>
        <p:txBody>
          <a:bodyPr/>
          <a:lstStyle/>
          <a:p>
            <a:r>
              <a:rPr lang="sr-Latn-RS" dirty="0"/>
              <a:t>Može normalno da se pozove rasudjivanje po pravilima nad ovim slučajem</a:t>
            </a:r>
            <a:endParaRPr lang="en-US" dirty="0"/>
          </a:p>
        </p:txBody>
      </p:sp>
      <p:pic>
        <p:nvPicPr>
          <p:cNvPr id="4" name="Picture 3">
            <a:extLst>
              <a:ext uri="{FF2B5EF4-FFF2-40B4-BE49-F238E27FC236}">
                <a16:creationId xmlns:a16="http://schemas.microsoft.com/office/drawing/2014/main" id="{DAEAF56A-619E-E4AD-0C99-93A5C6866E36}"/>
              </a:ext>
            </a:extLst>
          </p:cNvPr>
          <p:cNvPicPr>
            <a:picLocks noChangeAspect="1"/>
          </p:cNvPicPr>
          <p:nvPr/>
        </p:nvPicPr>
        <p:blipFill>
          <a:blip r:embed="rId2"/>
          <a:stretch>
            <a:fillRect/>
          </a:stretch>
        </p:blipFill>
        <p:spPr>
          <a:xfrm>
            <a:off x="0" y="660436"/>
            <a:ext cx="12192000" cy="5537128"/>
          </a:xfrm>
          <a:prstGeom prst="rect">
            <a:avLst/>
          </a:prstGeom>
        </p:spPr>
      </p:pic>
    </p:spTree>
    <p:extLst>
      <p:ext uri="{BB962C8B-B14F-4D97-AF65-F5344CB8AC3E}">
        <p14:creationId xmlns:p14="http://schemas.microsoft.com/office/powerpoint/2010/main" val="80178858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035D06-C3F2-5F45-6E35-F4B3ED60133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82DEB81-B684-E3AB-F26C-8CD19241F0C8}"/>
              </a:ext>
            </a:extLst>
          </p:cNvPr>
          <p:cNvSpPr>
            <a:spLocks noGrp="1"/>
          </p:cNvSpPr>
          <p:nvPr>
            <p:ph idx="1"/>
          </p:nvPr>
        </p:nvSpPr>
        <p:spPr>
          <a:xfrm>
            <a:off x="0" y="0"/>
            <a:ext cx="10353762" cy="4058751"/>
          </a:xfrm>
        </p:spPr>
        <p:txBody>
          <a:bodyPr/>
          <a:lstStyle/>
          <a:p>
            <a:r>
              <a:rPr lang="sr-Latn-RS" dirty="0"/>
              <a:t>Može normalno da se pozove rasudjivanje po sličnosti nad ovim slučajem</a:t>
            </a:r>
            <a:endParaRPr lang="en-US" dirty="0"/>
          </a:p>
          <a:p>
            <a:endParaRPr lang="en-US" dirty="0"/>
          </a:p>
        </p:txBody>
      </p:sp>
      <p:pic>
        <p:nvPicPr>
          <p:cNvPr id="5" name="Picture 4">
            <a:extLst>
              <a:ext uri="{FF2B5EF4-FFF2-40B4-BE49-F238E27FC236}">
                <a16:creationId xmlns:a16="http://schemas.microsoft.com/office/drawing/2014/main" id="{FC8B870A-2DD2-3AAF-5B88-B10CE393EFF9}"/>
              </a:ext>
            </a:extLst>
          </p:cNvPr>
          <p:cNvPicPr>
            <a:picLocks noChangeAspect="1"/>
          </p:cNvPicPr>
          <p:nvPr/>
        </p:nvPicPr>
        <p:blipFill>
          <a:blip r:embed="rId2"/>
          <a:stretch>
            <a:fillRect/>
          </a:stretch>
        </p:blipFill>
        <p:spPr>
          <a:xfrm>
            <a:off x="28893" y="759246"/>
            <a:ext cx="12192000" cy="5767524"/>
          </a:xfrm>
          <a:prstGeom prst="rect">
            <a:avLst/>
          </a:prstGeom>
        </p:spPr>
      </p:pic>
    </p:spTree>
    <p:extLst>
      <p:ext uri="{BB962C8B-B14F-4D97-AF65-F5344CB8AC3E}">
        <p14:creationId xmlns:p14="http://schemas.microsoft.com/office/powerpoint/2010/main" val="57342845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TM04033929[[fn=Slate]]</Template>
  <TotalTime>905</TotalTime>
  <Words>1435</Words>
  <Application>Microsoft Office PowerPoint</Application>
  <PresentationFormat>Widescreen</PresentationFormat>
  <Paragraphs>109</Paragraphs>
  <Slides>51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51</vt:i4>
      </vt:variant>
    </vt:vector>
  </HeadingPairs>
  <TitlesOfParts>
    <vt:vector size="56" baseType="lpstr">
      <vt:lpstr>Aptos</vt:lpstr>
      <vt:lpstr>Arial</vt:lpstr>
      <vt:lpstr>Calisto MT</vt:lpstr>
      <vt:lpstr>Wingdings 2</vt:lpstr>
      <vt:lpstr>Slate</vt:lpstr>
      <vt:lpstr>Tim 8</vt:lpstr>
      <vt:lpstr>Falsifikovanje novca  Član 258</vt:lpstr>
      <vt:lpstr> Falsifikovanje i zloupotreba kreditnih kartica i kartica za bezgotovinsko plaćanje Član 260</vt:lpstr>
      <vt:lpstr>Glava 23 u Akoma Ntoso formatu</vt:lpstr>
      <vt:lpstr>Uzeto je 127 presuda sa sajta</vt:lpstr>
      <vt:lpstr>PowerPoint Presentation</vt:lpstr>
      <vt:lpstr>Skripte za case fajlove</vt:lpstr>
      <vt:lpstr>Skripte za case fajlove</vt:lpstr>
      <vt:lpstr>PowerPoint Presentation</vt:lpstr>
      <vt:lpstr>PowerPoint Presentation</vt:lpstr>
      <vt:lpstr>PowerPoint Presentation</vt:lpstr>
      <vt:lpstr>PowerPoint Presentation</vt:lpstr>
      <vt:lpstr>PowerPoint Presentation</vt:lpstr>
      <vt:lpstr>UI aplikacije</vt:lpstr>
      <vt:lpstr>Mogućnost navigacije do traženog člana </vt:lpstr>
      <vt:lpstr>PowerPoint Presentation</vt:lpstr>
      <vt:lpstr>PowerPoint Presentation</vt:lpstr>
      <vt:lpstr>Prikazivanje u Legal Rule ML formatu</vt:lpstr>
      <vt:lpstr>PowerPoint Presentation</vt:lpstr>
      <vt:lpstr>Rasudjivanje po pravilima</vt:lpstr>
      <vt:lpstr>PowerPoint Presentation</vt:lpstr>
      <vt:lpstr>PowerPoint Presentation</vt:lpstr>
      <vt:lpstr>PowerPoint Presentation</vt:lpstr>
      <vt:lpstr>PowerPoint Presentation</vt:lpstr>
      <vt:lpstr>Rezonovanje po praivlima</vt:lpstr>
      <vt:lpstr>PowerPoint Presentation</vt:lpstr>
      <vt:lpstr>PowerPoint Presentation</vt:lpstr>
      <vt:lpstr>PowerPoint Presentation</vt:lpstr>
      <vt:lpstr>PowerPoint Presentation</vt:lpstr>
      <vt:lpstr>PowerPoint Presentation</vt:lpstr>
      <vt:lpstr>Rasudjivanje po sličnosti</vt:lpstr>
      <vt:lpstr>PowerPoint Presentation</vt:lpstr>
      <vt:lpstr>PowerPoint Presentation</vt:lpstr>
      <vt:lpstr>PowerPoint Presentation</vt:lpstr>
      <vt:lpstr>Rasudjivanje po sličnosti</vt:lpstr>
      <vt:lpstr>PowerPoint Presentation</vt:lpstr>
      <vt:lpstr>PowerPoint Presentation</vt:lpstr>
      <vt:lpstr>PowerPoint Presentation</vt:lpstr>
      <vt:lpstr>PowerPoint Presentation</vt:lpstr>
      <vt:lpstr>Korisnikov slučaj</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Tim 8</dc:title>
  <dc:creator>Uros Petraskovic</dc:creator>
  <cp:lastModifiedBy>Uros Petraskovic</cp:lastModifiedBy>
  <cp:revision>7</cp:revision>
  <dcterms:created xsi:type="dcterms:W3CDTF">2026-03-26T22:30:49Z</dcterms:created>
  <dcterms:modified xsi:type="dcterms:W3CDTF">2026-03-31T00:53:31Z</dcterms:modified>
</cp:coreProperties>
</file>